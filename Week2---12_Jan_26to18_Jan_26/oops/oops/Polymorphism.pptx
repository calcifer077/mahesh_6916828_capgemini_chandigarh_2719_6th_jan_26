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6" r:id="rId11"/>
    <p:sldId id="267" r:id="rId12"/>
    <p:sldId id="270" r:id="rId13"/>
    <p:sldId id="271" r:id="rId14"/>
    <p:sldId id="264" r:id="rId15"/>
    <p:sldId id="268" r:id="rId16"/>
    <p:sldId id="269" r:id="rId17"/>
    <p:sldId id="272" r:id="rId18"/>
    <p:sldId id="273" r:id="rId19"/>
    <p:sldId id="274" r:id="rId20"/>
    <p:sldId id="27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4A7E46C-B607-4B50-9869-E203D6154623}" type="datetimeFigureOut">
              <a:rPr lang="en-US" smtClean="0"/>
              <a:pPr/>
              <a:t>11/8/2011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6D53A4-0CEF-4DC1-B666-6E667319963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A7E46C-B607-4B50-9869-E203D6154623}" type="datetimeFigureOut">
              <a:rPr lang="en-US" smtClean="0"/>
              <a:pPr/>
              <a:t>11/8/2011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6D53A4-0CEF-4DC1-B666-6E667319963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4A7E46C-B607-4B50-9869-E203D6154623}" type="datetimeFigureOut">
              <a:rPr lang="en-US" smtClean="0"/>
              <a:pPr/>
              <a:t>11/8/2011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6D53A4-0CEF-4DC1-B666-6E667319963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4A7E46C-B607-4B50-9869-E203D6154623}" type="datetimeFigureOut">
              <a:rPr lang="en-US" smtClean="0"/>
              <a:pPr/>
              <a:t>11/8/2011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6D53A4-0CEF-4DC1-B666-6E667319963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4A7E46C-B607-4B50-9869-E203D6154623}" type="datetimeFigureOut">
              <a:rPr lang="en-US" smtClean="0"/>
              <a:pPr/>
              <a:t>11/8/2011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D6D53A4-0CEF-4DC1-B666-6E667319963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4A7E46C-B607-4B50-9869-E203D6154623}" type="datetimeFigureOut">
              <a:rPr lang="en-US" smtClean="0"/>
              <a:pPr/>
              <a:t>11/8/2011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6D53A4-0CEF-4DC1-B666-6E667319963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A7E46C-B607-4B50-9869-E203D6154623}" type="datetimeFigureOut">
              <a:rPr lang="en-US" smtClean="0"/>
              <a:pPr/>
              <a:t>11/8/2011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D6D53A4-0CEF-4DC1-B666-6E667319963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4A7E46C-B607-4B50-9869-E203D6154623}" type="datetimeFigureOut">
              <a:rPr lang="en-US" smtClean="0"/>
              <a:pPr/>
              <a:t>11/8/2011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6D53A4-0CEF-4DC1-B666-6E667319963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4A7E46C-B607-4B50-9869-E203D6154623}" type="datetimeFigureOut">
              <a:rPr lang="en-US" smtClean="0"/>
              <a:pPr/>
              <a:t>11/8/2011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6D53A4-0CEF-4DC1-B666-6E667319963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A7E46C-B607-4B50-9869-E203D6154623}" type="datetimeFigureOut">
              <a:rPr lang="en-US" smtClean="0"/>
              <a:pPr/>
              <a:t>11/8/2011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6D53A4-0CEF-4DC1-B666-6E667319963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A7E46C-B607-4B50-9869-E203D6154623}" type="datetimeFigureOut">
              <a:rPr lang="en-US" smtClean="0"/>
              <a:pPr/>
              <a:t>11/8/2011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6D53A4-0CEF-4DC1-B666-6E667319963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A7E46C-B607-4B50-9869-E203D6154623}" type="datetimeFigureOut">
              <a:rPr lang="en-US" smtClean="0"/>
              <a:pPr/>
              <a:t>11/8/2011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6D53A4-0CEF-4DC1-B666-6E667319963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classoverloadDemo.docx"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classoverride.docx"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classLoadconstructor.docx" TargetMode="External"/><Relationship Id="rId2" Type="http://schemas.openxmlformats.org/officeDocument/2006/relationships/hyperlink" Target="classoperatorOverloading.docx"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Polymorphism </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polymorphism</a:t>
            </a:r>
            <a:endParaRPr lang="en-US" dirty="0"/>
          </a:p>
        </p:txBody>
      </p:sp>
      <p:sp>
        <p:nvSpPr>
          <p:cNvPr id="3" name="Content Placeholder 2"/>
          <p:cNvSpPr>
            <a:spLocks noGrp="1"/>
          </p:cNvSpPr>
          <p:nvPr>
            <p:ph idx="1"/>
          </p:nvPr>
        </p:nvSpPr>
        <p:spPr>
          <a:xfrm>
            <a:off x="457200" y="838200"/>
            <a:ext cx="8229600" cy="5287963"/>
          </a:xfrm>
        </p:spPr>
        <p:txBody>
          <a:bodyPr/>
          <a:lstStyle/>
          <a:p>
            <a:r>
              <a:rPr lang="en-US" dirty="0" smtClean="0"/>
              <a:t>Entity behavior in different way depending upon the input they receive that is whenever the input changes the output the behavior of the entity also changes.</a:t>
            </a:r>
          </a:p>
          <a:p>
            <a:r>
              <a:rPr lang="en-US" dirty="0" smtClean="0"/>
              <a:t>Polymorphism can be implement with help of 2 approaches.</a:t>
            </a:r>
          </a:p>
          <a:p>
            <a:pPr>
              <a:buNone/>
            </a:pPr>
            <a:r>
              <a:rPr lang="en-US" dirty="0" smtClean="0"/>
              <a:t>(</a:t>
            </a:r>
            <a:r>
              <a:rPr lang="en-US" dirty="0" err="1" smtClean="0"/>
              <a:t>i</a:t>
            </a:r>
            <a:r>
              <a:rPr lang="en-US" dirty="0" smtClean="0"/>
              <a:t>)Overloading (ii) overriding</a:t>
            </a:r>
          </a:p>
          <a:p>
            <a:pPr>
              <a:buNone/>
            </a:pPr>
            <a:r>
              <a:rPr lang="en-US" dirty="0" smtClean="0"/>
              <a:t> </a:t>
            </a:r>
          </a:p>
          <a:p>
            <a:pPr>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411162"/>
          </a:xfrm>
        </p:spPr>
        <p:txBody>
          <a:bodyPr>
            <a:normAutofit fontScale="90000"/>
          </a:bodyPr>
          <a:lstStyle/>
          <a:p>
            <a:r>
              <a:rPr lang="en-US" dirty="0" smtClean="0"/>
              <a:t>Overloading has 3 option</a:t>
            </a:r>
            <a:endParaRPr lang="en-US" dirty="0"/>
          </a:p>
        </p:txBody>
      </p:sp>
      <p:sp>
        <p:nvSpPr>
          <p:cNvPr id="3" name="Content Placeholder 2"/>
          <p:cNvSpPr>
            <a:spLocks noGrp="1"/>
          </p:cNvSpPr>
          <p:nvPr>
            <p:ph idx="1"/>
          </p:nvPr>
        </p:nvSpPr>
        <p:spPr>
          <a:xfrm>
            <a:off x="457200" y="609600"/>
            <a:ext cx="8229600" cy="5516563"/>
          </a:xfrm>
        </p:spPr>
        <p:txBody>
          <a:bodyPr>
            <a:normAutofit fontScale="92500" lnSpcReduction="10000"/>
          </a:bodyPr>
          <a:lstStyle/>
          <a:p>
            <a:r>
              <a:rPr lang="en-US" dirty="0" smtClean="0"/>
              <a:t>Method overloading</a:t>
            </a:r>
          </a:p>
          <a:p>
            <a:r>
              <a:rPr lang="en-US" dirty="0" smtClean="0"/>
              <a:t>Operation overloading</a:t>
            </a:r>
          </a:p>
          <a:p>
            <a:r>
              <a:rPr lang="en-US" dirty="0" smtClean="0"/>
              <a:t>Constructor overloading.</a:t>
            </a:r>
          </a:p>
          <a:p>
            <a:pPr>
              <a:buNone/>
            </a:pPr>
            <a:r>
              <a:rPr lang="en-US" b="1" dirty="0" smtClean="0"/>
              <a:t>Function/method Signature</a:t>
            </a:r>
            <a:r>
              <a:rPr lang="en-US" dirty="0" smtClean="0"/>
              <a:t>:-</a:t>
            </a:r>
          </a:p>
          <a:p>
            <a:r>
              <a:rPr lang="en-US" dirty="0" smtClean="0"/>
              <a:t>The signature of a method must be unique in the class in which the method is declared.</a:t>
            </a:r>
          </a:p>
          <a:p>
            <a:r>
              <a:rPr lang="en-US" dirty="0" smtClean="0"/>
              <a:t>The signature of a method consist of the name of the method, modifiers, types of its parameters, the number of parameters.</a:t>
            </a:r>
          </a:p>
          <a:p>
            <a:r>
              <a:rPr lang="en-US" dirty="0" smtClean="0"/>
              <a:t>The signature of a method does not include the return types</a:t>
            </a:r>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smtClean="0"/>
              <a:t>Function overloading</a:t>
            </a:r>
            <a:endParaRPr lang="en-US" dirty="0"/>
          </a:p>
        </p:txBody>
      </p:sp>
      <p:sp>
        <p:nvSpPr>
          <p:cNvPr id="3" name="Content Placeholder 2"/>
          <p:cNvSpPr>
            <a:spLocks noGrp="1"/>
          </p:cNvSpPr>
          <p:nvPr>
            <p:ph idx="1"/>
          </p:nvPr>
        </p:nvSpPr>
        <p:spPr>
          <a:xfrm>
            <a:off x="457200" y="762000"/>
            <a:ext cx="8229600" cy="5364163"/>
          </a:xfrm>
        </p:spPr>
        <p:txBody>
          <a:bodyPr/>
          <a:lstStyle/>
          <a:p>
            <a:r>
              <a:rPr lang="en-US" dirty="0" smtClean="0"/>
              <a:t>A function overloading can be compared with person overloading.</a:t>
            </a:r>
          </a:p>
          <a:p>
            <a:r>
              <a:rPr lang="en-US" dirty="0" smtClean="0"/>
              <a:t>If a person has already some work to do and we are assigning additional work to the person then person will be overloaded.</a:t>
            </a:r>
          </a:p>
          <a:p>
            <a:r>
              <a:rPr lang="en-US" dirty="0" smtClean="0"/>
              <a:t>In the same way ,a function will have already some work to do and if we assign a different work to the same function , the we say function is  overloaded.</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r>
              <a:rPr lang="en-US" dirty="0" smtClean="0"/>
              <a:t>A function will be overloading in two situations:-</a:t>
            </a:r>
          </a:p>
          <a:p>
            <a:pPr marL="571500" indent="-571500">
              <a:buAutoNum type="romanLcParenBoth"/>
            </a:pPr>
            <a:r>
              <a:rPr lang="en-US" dirty="0" smtClean="0"/>
              <a:t>When data types of  the argument are changed.</a:t>
            </a:r>
          </a:p>
          <a:p>
            <a:pPr marL="571500" indent="-571500">
              <a:buAutoNum type="romanLcParenBoth"/>
            </a:pPr>
            <a:r>
              <a:rPr lang="en-US" dirty="0" smtClean="0"/>
              <a:t>When number of argument are changed</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noAutofit/>
          </a:bodyPr>
          <a:lstStyle/>
          <a:p>
            <a:r>
              <a:rPr lang="en-US" sz="3200" dirty="0" smtClean="0"/>
              <a:t>When data types of  the argument are changed.</a:t>
            </a:r>
            <a:endParaRPr lang="en-US" sz="3200" dirty="0"/>
          </a:p>
        </p:txBody>
      </p:sp>
      <p:sp>
        <p:nvSpPr>
          <p:cNvPr id="3" name="Content Placeholder 2"/>
          <p:cNvSpPr>
            <a:spLocks noGrp="1"/>
          </p:cNvSpPr>
          <p:nvPr>
            <p:ph idx="1"/>
          </p:nvPr>
        </p:nvSpPr>
        <p:spPr>
          <a:xfrm>
            <a:off x="457200" y="838200"/>
            <a:ext cx="8229600" cy="5287963"/>
          </a:xfrm>
        </p:spPr>
        <p:txBody>
          <a:bodyPr/>
          <a:lstStyle/>
          <a:p>
            <a:pPr>
              <a:buNone/>
            </a:pPr>
            <a:r>
              <a:rPr lang="en-US" dirty="0" smtClean="0"/>
              <a:t>Add(</a:t>
            </a:r>
            <a:r>
              <a:rPr lang="en-US" dirty="0" err="1" smtClean="0"/>
              <a:t>int</a:t>
            </a:r>
            <a:r>
              <a:rPr lang="en-US" dirty="0" smtClean="0"/>
              <a:t> a, </a:t>
            </a:r>
            <a:r>
              <a:rPr lang="en-US" dirty="0" err="1" smtClean="0"/>
              <a:t>int</a:t>
            </a:r>
            <a:r>
              <a:rPr lang="en-US" dirty="0" smtClean="0"/>
              <a:t> b)</a:t>
            </a:r>
          </a:p>
          <a:p>
            <a:pPr>
              <a:buNone/>
            </a:pPr>
            <a:r>
              <a:rPr lang="en-US" dirty="0" smtClean="0"/>
              <a:t>{</a:t>
            </a:r>
          </a:p>
          <a:p>
            <a:pPr>
              <a:buNone/>
            </a:pPr>
            <a:r>
              <a:rPr lang="en-US" dirty="0" smtClean="0"/>
              <a:t>}</a:t>
            </a:r>
          </a:p>
          <a:p>
            <a:pPr>
              <a:buNone/>
            </a:pPr>
            <a:r>
              <a:rPr lang="en-US" dirty="0" smtClean="0"/>
              <a:t>Add (float a, </a:t>
            </a:r>
            <a:r>
              <a:rPr lang="en-US" dirty="0" err="1" smtClean="0"/>
              <a:t>int</a:t>
            </a:r>
            <a:r>
              <a:rPr lang="en-US" dirty="0" smtClean="0"/>
              <a:t> b)</a:t>
            </a:r>
          </a:p>
          <a:p>
            <a:pPr>
              <a:buNone/>
            </a:pPr>
            <a:r>
              <a:rPr lang="en-US" dirty="0" smtClean="0"/>
              <a:t>{</a:t>
            </a:r>
          </a:p>
          <a:p>
            <a:pPr>
              <a:buNone/>
            </a:pPr>
            <a:r>
              <a:rPr lang="en-US"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3600" dirty="0" smtClean="0"/>
              <a:t>When number of argument are changed</a:t>
            </a:r>
            <a:endParaRPr lang="en-US" sz="3600" dirty="0"/>
          </a:p>
        </p:txBody>
      </p:sp>
      <p:sp>
        <p:nvSpPr>
          <p:cNvPr id="3" name="Content Placeholder 2"/>
          <p:cNvSpPr>
            <a:spLocks noGrp="1"/>
          </p:cNvSpPr>
          <p:nvPr>
            <p:ph idx="1"/>
          </p:nvPr>
        </p:nvSpPr>
        <p:spPr>
          <a:xfrm>
            <a:off x="457200" y="838200"/>
            <a:ext cx="8229600" cy="5287963"/>
          </a:xfrm>
        </p:spPr>
        <p:txBody>
          <a:bodyPr/>
          <a:lstStyle/>
          <a:p>
            <a:pPr>
              <a:buNone/>
            </a:pPr>
            <a:r>
              <a:rPr lang="en-US" dirty="0" smtClean="0"/>
              <a:t>Add (</a:t>
            </a:r>
            <a:r>
              <a:rPr lang="en-US" dirty="0" err="1" smtClean="0"/>
              <a:t>int</a:t>
            </a:r>
            <a:r>
              <a:rPr lang="en-US" dirty="0" smtClean="0"/>
              <a:t> a, </a:t>
            </a:r>
            <a:r>
              <a:rPr lang="en-US" dirty="0" err="1" smtClean="0"/>
              <a:t>int</a:t>
            </a:r>
            <a:r>
              <a:rPr lang="en-US" dirty="0" smtClean="0"/>
              <a:t> b)</a:t>
            </a:r>
          </a:p>
          <a:p>
            <a:pPr>
              <a:buNone/>
            </a:pPr>
            <a:r>
              <a:rPr lang="en-US" dirty="0" smtClean="0"/>
              <a:t>{</a:t>
            </a:r>
          </a:p>
          <a:p>
            <a:pPr>
              <a:buNone/>
            </a:pPr>
            <a:r>
              <a:rPr lang="en-US" dirty="0" smtClean="0"/>
              <a:t>}</a:t>
            </a:r>
          </a:p>
          <a:p>
            <a:pPr>
              <a:buNone/>
            </a:pPr>
            <a:r>
              <a:rPr lang="en-US" dirty="0" smtClean="0"/>
              <a:t>Add (</a:t>
            </a:r>
            <a:r>
              <a:rPr lang="en-US" dirty="0" err="1" smtClean="0"/>
              <a:t>int</a:t>
            </a:r>
            <a:r>
              <a:rPr lang="en-US" dirty="0" smtClean="0"/>
              <a:t> a, </a:t>
            </a:r>
            <a:r>
              <a:rPr lang="en-US" dirty="0" err="1" smtClean="0"/>
              <a:t>int</a:t>
            </a:r>
            <a:r>
              <a:rPr lang="en-US" dirty="0" smtClean="0"/>
              <a:t> b, </a:t>
            </a:r>
            <a:r>
              <a:rPr lang="en-US" dirty="0" err="1" smtClean="0"/>
              <a:t>int</a:t>
            </a:r>
            <a:r>
              <a:rPr lang="en-US" dirty="0" smtClean="0"/>
              <a:t> c)</a:t>
            </a:r>
          </a:p>
          <a:p>
            <a:pPr>
              <a:buNone/>
            </a:pPr>
            <a:r>
              <a:rPr lang="en-US" dirty="0" smtClean="0"/>
              <a:t>{</a:t>
            </a:r>
          </a:p>
          <a:p>
            <a:pPr>
              <a:buNone/>
            </a:pPr>
            <a:r>
              <a:rPr lang="en-US"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Definition</a:t>
            </a:r>
            <a:endParaRPr lang="en-US" dirty="0"/>
          </a:p>
        </p:txBody>
      </p:sp>
      <p:sp>
        <p:nvSpPr>
          <p:cNvPr id="3" name="Content Placeholder 2"/>
          <p:cNvSpPr>
            <a:spLocks noGrp="1"/>
          </p:cNvSpPr>
          <p:nvPr>
            <p:ph idx="1"/>
          </p:nvPr>
        </p:nvSpPr>
        <p:spPr>
          <a:xfrm>
            <a:off x="457200" y="762000"/>
            <a:ext cx="8229600" cy="5364163"/>
          </a:xfrm>
        </p:spPr>
        <p:txBody>
          <a:bodyPr>
            <a:normAutofit lnSpcReduction="10000"/>
          </a:bodyPr>
          <a:lstStyle/>
          <a:p>
            <a:r>
              <a:rPr lang="en-US" dirty="0" smtClean="0"/>
              <a:t>Providing new implementation to a function with different signature is known as function overloading.</a:t>
            </a:r>
          </a:p>
          <a:p>
            <a:r>
              <a:rPr lang="en-US" dirty="0" smtClean="0"/>
              <a:t>In general function overloading is implemented with in the same class.</a:t>
            </a:r>
          </a:p>
          <a:p>
            <a:pPr>
              <a:buNone/>
            </a:pPr>
            <a:r>
              <a:rPr lang="en-US" dirty="0" smtClean="0"/>
              <a:t>Public void show();</a:t>
            </a:r>
          </a:p>
          <a:p>
            <a:pPr>
              <a:buNone/>
            </a:pPr>
            <a:r>
              <a:rPr lang="en-US" dirty="0" smtClean="0"/>
              <a:t>Public void show(</a:t>
            </a:r>
            <a:r>
              <a:rPr lang="en-US" dirty="0" err="1" smtClean="0"/>
              <a:t>int</a:t>
            </a:r>
            <a:r>
              <a:rPr lang="en-US" dirty="0" smtClean="0"/>
              <a:t> x);</a:t>
            </a:r>
          </a:p>
          <a:p>
            <a:pPr>
              <a:buNone/>
            </a:pPr>
            <a:r>
              <a:rPr lang="en-US" dirty="0" smtClean="0"/>
              <a:t>Public void show(string s);</a:t>
            </a:r>
          </a:p>
          <a:p>
            <a:pPr>
              <a:buNone/>
            </a:pPr>
            <a:r>
              <a:rPr lang="en-US" dirty="0" smtClean="0"/>
              <a:t>Public void show(</a:t>
            </a:r>
            <a:r>
              <a:rPr lang="en-US" dirty="0" err="1" smtClean="0"/>
              <a:t>int</a:t>
            </a:r>
            <a:r>
              <a:rPr lang="en-US" dirty="0" smtClean="0"/>
              <a:t> x, string s);</a:t>
            </a:r>
          </a:p>
          <a:p>
            <a:pPr>
              <a:buNone/>
            </a:pPr>
            <a:r>
              <a:rPr lang="en-US" dirty="0" smtClean="0"/>
              <a:t>Public void show(string s, </a:t>
            </a:r>
            <a:r>
              <a:rPr lang="en-US" dirty="0" err="1" smtClean="0"/>
              <a:t>int</a:t>
            </a:r>
            <a:r>
              <a:rPr lang="en-US" dirty="0" smtClean="0"/>
              <a:t> x); </a:t>
            </a:r>
            <a:r>
              <a:rPr lang="en-US" dirty="0" smtClean="0">
                <a:hlinkClick r:id="rId2" action="ppaction://hlinkfile"/>
              </a:rPr>
              <a:t>ex</a:t>
            </a:r>
            <a:r>
              <a:rPr lang="en-US" dirty="0" smtClean="0"/>
              <a:t> </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smtClean="0"/>
              <a:t>Case study</a:t>
            </a:r>
            <a:endParaRPr lang="en-US" dirty="0"/>
          </a:p>
        </p:txBody>
      </p:sp>
      <p:sp>
        <p:nvSpPr>
          <p:cNvPr id="3" name="Content Placeholder 2"/>
          <p:cNvSpPr>
            <a:spLocks noGrp="1"/>
          </p:cNvSpPr>
          <p:nvPr>
            <p:ph idx="1"/>
          </p:nvPr>
        </p:nvSpPr>
        <p:spPr>
          <a:xfrm>
            <a:off x="457200" y="762000"/>
            <a:ext cx="8229600" cy="5364163"/>
          </a:xfrm>
        </p:spPr>
        <p:txBody>
          <a:bodyPr>
            <a:normAutofit lnSpcReduction="10000"/>
          </a:bodyPr>
          <a:lstStyle/>
          <a:p>
            <a:r>
              <a:rPr lang="en-US" dirty="0" smtClean="0"/>
              <a:t>Let us consider a company asked to computerize Employee details, then we design a class </a:t>
            </a:r>
            <a:r>
              <a:rPr lang="en-US" dirty="0" err="1" smtClean="0"/>
              <a:t>i.e</a:t>
            </a:r>
            <a:r>
              <a:rPr lang="en-US" dirty="0" smtClean="0"/>
              <a:t>, </a:t>
            </a:r>
            <a:r>
              <a:rPr lang="en-US" dirty="0" err="1" smtClean="0"/>
              <a:t>ClsEmployee</a:t>
            </a:r>
            <a:r>
              <a:rPr lang="en-US" dirty="0" smtClean="0"/>
              <a:t> like..</a:t>
            </a:r>
          </a:p>
          <a:p>
            <a:r>
              <a:rPr lang="en-US" dirty="0" smtClean="0"/>
              <a:t>During the period of time ,company has expanded and </a:t>
            </a:r>
            <a:r>
              <a:rPr lang="en-US" dirty="0" err="1" smtClean="0"/>
              <a:t>no.of</a:t>
            </a:r>
            <a:r>
              <a:rPr lang="en-US" dirty="0" smtClean="0"/>
              <a:t> employees in the company are expanded to large, then company decided to categories the employees as managers and non-managers.</a:t>
            </a:r>
          </a:p>
          <a:p>
            <a:r>
              <a:rPr lang="en-US" dirty="0" smtClean="0"/>
              <a:t>Further decided no to accept </a:t>
            </a:r>
            <a:r>
              <a:rPr lang="en-US" dirty="0" err="1" smtClean="0"/>
              <a:t>Eaddress</a:t>
            </a:r>
            <a:r>
              <a:rPr lang="en-US" dirty="0" smtClean="0"/>
              <a:t> and </a:t>
            </a:r>
            <a:r>
              <a:rPr lang="en-US" dirty="0" err="1" smtClean="0"/>
              <a:t>Eage</a:t>
            </a:r>
            <a:r>
              <a:rPr lang="en-US" dirty="0" smtClean="0"/>
              <a:t> for managers and to provide additionally car Allowance and Bonus.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smtClean="0"/>
              <a:t>Case study(cont..)</a:t>
            </a:r>
            <a:endParaRPr lang="en-US" dirty="0"/>
          </a:p>
        </p:txBody>
      </p:sp>
      <p:sp>
        <p:nvSpPr>
          <p:cNvPr id="3" name="Content Placeholder 2"/>
          <p:cNvSpPr>
            <a:spLocks noGrp="1"/>
          </p:cNvSpPr>
          <p:nvPr>
            <p:ph idx="1"/>
          </p:nvPr>
        </p:nvSpPr>
        <p:spPr>
          <a:xfrm>
            <a:off x="457200" y="685800"/>
            <a:ext cx="8229600" cy="5440363"/>
          </a:xfrm>
        </p:spPr>
        <p:txBody>
          <a:bodyPr>
            <a:normAutofit fontScale="92500"/>
          </a:bodyPr>
          <a:lstStyle/>
          <a:p>
            <a:r>
              <a:rPr lang="en-US" dirty="0" smtClean="0"/>
              <a:t>For non-managers we can use </a:t>
            </a:r>
            <a:r>
              <a:rPr lang="en-US" dirty="0" err="1" smtClean="0"/>
              <a:t>ClsEmployee</a:t>
            </a:r>
            <a:r>
              <a:rPr lang="en-US" dirty="0" smtClean="0"/>
              <a:t> class as it is, but can not be used for managers.</a:t>
            </a:r>
          </a:p>
          <a:p>
            <a:r>
              <a:rPr lang="en-US" dirty="0" smtClean="0"/>
              <a:t>So, we will derive a new class from </a:t>
            </a:r>
            <a:r>
              <a:rPr lang="en-US" dirty="0" err="1" smtClean="0"/>
              <a:t>Clsemployee</a:t>
            </a:r>
            <a:r>
              <a:rPr lang="en-US" dirty="0" smtClean="0"/>
              <a:t>, as </a:t>
            </a:r>
            <a:r>
              <a:rPr lang="en-US" dirty="0" err="1" smtClean="0"/>
              <a:t>ClsManager</a:t>
            </a:r>
            <a:r>
              <a:rPr lang="en-US" dirty="0" smtClean="0"/>
              <a:t> and provide new functionality for </a:t>
            </a:r>
            <a:r>
              <a:rPr lang="en-US" dirty="0" err="1" smtClean="0"/>
              <a:t>GetEmpData</a:t>
            </a:r>
            <a:r>
              <a:rPr lang="en-US" dirty="0" smtClean="0"/>
              <a:t>() and </a:t>
            </a:r>
            <a:r>
              <a:rPr lang="en-US" dirty="0" err="1" smtClean="0"/>
              <a:t>DisplayEmpData</a:t>
            </a:r>
            <a:r>
              <a:rPr lang="en-US" dirty="0" smtClean="0"/>
              <a:t>() functions.</a:t>
            </a:r>
          </a:p>
          <a:p>
            <a:r>
              <a:rPr lang="en-US" dirty="0" smtClean="0"/>
              <a:t>As we are providing new functionality for base class functions in derived class and base class functions are not useful now so base class functions are known as virtual functions and derived class are know as overriding functions.</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r>
              <a:rPr lang="en-US" dirty="0" smtClean="0"/>
              <a:t>To make any function as virtual use virtual keyword.</a:t>
            </a:r>
          </a:p>
          <a:p>
            <a:r>
              <a:rPr lang="en-US" dirty="0" smtClean="0"/>
              <a:t>To override any virtual function in derived class use override keyword. </a:t>
            </a:r>
            <a:r>
              <a:rPr lang="en-US" dirty="0" smtClean="0">
                <a:hlinkClick r:id="rId2" action="ppaction://hlinkfile"/>
              </a:rPr>
              <a:t>Ex</a:t>
            </a:r>
            <a:endParaRPr lang="en-US" dirty="0" smtClean="0"/>
          </a:p>
          <a:p>
            <a:pPr>
              <a:buNone/>
            </a:pPr>
            <a:endParaRPr lang="en-US" dirty="0"/>
          </a:p>
        </p:txBody>
      </p:sp>
      <p:sp>
        <p:nvSpPr>
          <p:cNvPr id="4" name="Rectangle 3"/>
          <p:cNvSpPr/>
          <p:nvPr/>
        </p:nvSpPr>
        <p:spPr>
          <a:xfrm>
            <a:off x="5181600" y="2438400"/>
            <a:ext cx="35814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smtClean="0"/>
              <a:t>ClsEmployee</a:t>
            </a:r>
            <a:endParaRPr lang="en-US" dirty="0"/>
          </a:p>
        </p:txBody>
      </p:sp>
      <p:sp>
        <p:nvSpPr>
          <p:cNvPr id="5" name="Rectangle 4"/>
          <p:cNvSpPr/>
          <p:nvPr/>
        </p:nvSpPr>
        <p:spPr>
          <a:xfrm>
            <a:off x="5181600" y="2819400"/>
            <a:ext cx="35814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Protected </a:t>
            </a:r>
            <a:r>
              <a:rPr lang="en-US" dirty="0" err="1" smtClean="0"/>
              <a:t>int</a:t>
            </a:r>
            <a:r>
              <a:rPr lang="en-US" dirty="0" smtClean="0"/>
              <a:t> </a:t>
            </a:r>
            <a:r>
              <a:rPr lang="en-US" dirty="0" err="1" smtClean="0"/>
              <a:t>EmpId</a:t>
            </a:r>
            <a:endParaRPr lang="en-US" dirty="0" smtClean="0"/>
          </a:p>
          <a:p>
            <a:r>
              <a:rPr lang="en-US" dirty="0" smtClean="0"/>
              <a:t>Protected string </a:t>
            </a:r>
            <a:r>
              <a:rPr lang="en-US" dirty="0" err="1" smtClean="0"/>
              <a:t>Ename</a:t>
            </a:r>
            <a:endParaRPr lang="en-US" dirty="0" smtClean="0"/>
          </a:p>
          <a:p>
            <a:r>
              <a:rPr lang="en-US" dirty="0" smtClean="0"/>
              <a:t>String </a:t>
            </a:r>
            <a:r>
              <a:rPr lang="en-US" dirty="0" err="1" smtClean="0"/>
              <a:t>Eaddress</a:t>
            </a:r>
            <a:endParaRPr lang="en-US" dirty="0" smtClean="0"/>
          </a:p>
          <a:p>
            <a:r>
              <a:rPr lang="en-US" dirty="0" err="1" smtClean="0"/>
              <a:t>Int</a:t>
            </a:r>
            <a:r>
              <a:rPr lang="en-US" dirty="0" smtClean="0"/>
              <a:t> Age</a:t>
            </a:r>
            <a:endParaRPr lang="en-US" dirty="0"/>
          </a:p>
        </p:txBody>
      </p:sp>
      <p:sp>
        <p:nvSpPr>
          <p:cNvPr id="6" name="Rectangle 5"/>
          <p:cNvSpPr/>
          <p:nvPr/>
        </p:nvSpPr>
        <p:spPr>
          <a:xfrm>
            <a:off x="5181600" y="3962400"/>
            <a:ext cx="3581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Public virtual void </a:t>
            </a:r>
            <a:r>
              <a:rPr lang="en-US" dirty="0" err="1" smtClean="0"/>
              <a:t>GetEmpData</a:t>
            </a:r>
            <a:r>
              <a:rPr lang="en-US" dirty="0" smtClean="0"/>
              <a:t>()</a:t>
            </a:r>
          </a:p>
          <a:p>
            <a:r>
              <a:rPr lang="en-US" dirty="0" smtClean="0"/>
              <a:t>Public virtual void </a:t>
            </a:r>
            <a:r>
              <a:rPr lang="en-US" dirty="0" err="1" smtClean="0"/>
              <a:t>DisplayEmpData</a:t>
            </a:r>
            <a:r>
              <a:rPr lang="en-US" dirty="0" smtClean="0"/>
              <a:t>()</a:t>
            </a:r>
            <a:endParaRPr lang="en-US" dirty="0"/>
          </a:p>
        </p:txBody>
      </p:sp>
      <p:sp>
        <p:nvSpPr>
          <p:cNvPr id="7" name="Rectangle 6"/>
          <p:cNvSpPr/>
          <p:nvPr/>
        </p:nvSpPr>
        <p:spPr>
          <a:xfrm>
            <a:off x="5105400" y="4800600"/>
            <a:ext cx="3733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smtClean="0"/>
              <a:t>ClsManager</a:t>
            </a:r>
            <a:endParaRPr lang="en-US" dirty="0"/>
          </a:p>
        </p:txBody>
      </p:sp>
      <p:sp>
        <p:nvSpPr>
          <p:cNvPr id="8" name="Rectangle 7"/>
          <p:cNvSpPr/>
          <p:nvPr/>
        </p:nvSpPr>
        <p:spPr>
          <a:xfrm>
            <a:off x="5105400" y="5181600"/>
            <a:ext cx="3733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Double Bonus</a:t>
            </a:r>
          </a:p>
          <a:p>
            <a:r>
              <a:rPr lang="en-US" dirty="0" smtClean="0"/>
              <a:t>Double CA</a:t>
            </a:r>
          </a:p>
          <a:p>
            <a:endParaRPr lang="en-US" dirty="0"/>
          </a:p>
        </p:txBody>
      </p:sp>
      <p:sp>
        <p:nvSpPr>
          <p:cNvPr id="9" name="Rectangle 8"/>
          <p:cNvSpPr/>
          <p:nvPr/>
        </p:nvSpPr>
        <p:spPr>
          <a:xfrm>
            <a:off x="5105400" y="6019800"/>
            <a:ext cx="3733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Public override void </a:t>
            </a:r>
            <a:r>
              <a:rPr lang="en-US" dirty="0" err="1" smtClean="0"/>
              <a:t>GetEmpData</a:t>
            </a:r>
            <a:r>
              <a:rPr lang="en-US" dirty="0" smtClean="0"/>
              <a:t>()</a:t>
            </a:r>
          </a:p>
          <a:p>
            <a:r>
              <a:rPr lang="en-US" dirty="0" smtClean="0"/>
              <a:t>Public override void </a:t>
            </a:r>
            <a:r>
              <a:rPr lang="en-US" dirty="0" err="1" smtClean="0"/>
              <a:t>DisplayEmpData</a:t>
            </a:r>
            <a:r>
              <a:rPr lang="en-US" dirty="0" smtClean="0"/>
              <a:t>()</a:t>
            </a:r>
            <a:endParaRPr lang="en-US" dirty="0"/>
          </a:p>
        </p:txBody>
      </p:sp>
      <p:cxnSp>
        <p:nvCxnSpPr>
          <p:cNvPr id="11" name="Straight Arrow Connector 10"/>
          <p:cNvCxnSpPr>
            <a:stCxn id="7" idx="0"/>
            <a:endCxn id="6" idx="2"/>
          </p:cNvCxnSpPr>
          <p:nvPr/>
        </p:nvCxnSpPr>
        <p:spPr>
          <a:xfrm rot="5400000" flipH="1" flipV="1">
            <a:off x="6819900" y="4648200"/>
            <a:ext cx="30480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914400" y="2819400"/>
            <a:ext cx="3581400" cy="320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In the above ex:- using base keyword also from child/derive class we can invoke parent class virtual method but using this and base keyword is not allow for static block.</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r>
              <a:rPr lang="en-US" dirty="0" smtClean="0"/>
              <a:t>Overriding of virtual functions is not compulsory, optional only.</a:t>
            </a:r>
          </a:p>
          <a:p>
            <a:r>
              <a:rPr lang="en-US" dirty="0" smtClean="0"/>
              <a:t>If base class virtual function is not overridden with the derived class then base class virtual function is called.</a:t>
            </a:r>
          </a:p>
          <a:p>
            <a:r>
              <a:rPr lang="en-US" dirty="0" smtClean="0"/>
              <a:t>We can instantiate/create an object to a class which contains one (or) more virtual functions.</a:t>
            </a:r>
          </a:p>
          <a:p>
            <a:r>
              <a:rPr lang="en-US" dirty="0" smtClean="0"/>
              <a:t>Creating a new class from a class which contains virtual function is not compulsory, optional.</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sz="2400" dirty="0" smtClean="0"/>
              <a:t>Differences between overloading and overriding methods</a:t>
            </a:r>
            <a:endParaRPr lang="en-US" sz="2400" dirty="0"/>
          </a:p>
        </p:txBody>
      </p:sp>
      <p:graphicFrame>
        <p:nvGraphicFramePr>
          <p:cNvPr id="4" name="Content Placeholder 3"/>
          <p:cNvGraphicFramePr>
            <a:graphicFrameLocks noGrp="1"/>
          </p:cNvGraphicFramePr>
          <p:nvPr>
            <p:ph idx="1"/>
          </p:nvPr>
        </p:nvGraphicFramePr>
        <p:xfrm>
          <a:off x="457200" y="685800"/>
          <a:ext cx="8229600" cy="4399280"/>
        </p:xfrm>
        <a:graphic>
          <a:graphicData uri="http://schemas.openxmlformats.org/drawingml/2006/table">
            <a:tbl>
              <a:tblPr firstRow="1" bandRow="1">
                <a:tableStyleId>{5C22544A-7EE6-4342-B048-85BDC9FD1C3A}</a:tableStyleId>
              </a:tblPr>
              <a:tblGrid>
                <a:gridCol w="914400"/>
                <a:gridCol w="3581400"/>
                <a:gridCol w="3733800"/>
              </a:tblGrid>
              <a:tr h="370840">
                <a:tc>
                  <a:txBody>
                    <a:bodyPr/>
                    <a:lstStyle/>
                    <a:p>
                      <a:r>
                        <a:rPr lang="en-US" dirty="0" err="1" smtClean="0"/>
                        <a:t>Srno</a:t>
                      </a:r>
                      <a:endParaRPr lang="en-US" dirty="0"/>
                    </a:p>
                  </a:txBody>
                  <a:tcPr/>
                </a:tc>
                <a:tc>
                  <a:txBody>
                    <a:bodyPr/>
                    <a:lstStyle/>
                    <a:p>
                      <a:r>
                        <a:rPr lang="en-US" dirty="0" smtClean="0"/>
                        <a:t>Function Overloading</a:t>
                      </a:r>
                      <a:endParaRPr lang="en-US" dirty="0"/>
                    </a:p>
                  </a:txBody>
                  <a:tcPr/>
                </a:tc>
                <a:tc>
                  <a:txBody>
                    <a:bodyPr/>
                    <a:lstStyle/>
                    <a:p>
                      <a:r>
                        <a:rPr lang="en-US" dirty="0" smtClean="0"/>
                        <a:t>Function overriding</a:t>
                      </a:r>
                      <a:endParaRPr lang="en-US" dirty="0"/>
                    </a:p>
                  </a:txBody>
                  <a:tcPr/>
                </a:tc>
              </a:tr>
              <a:tr h="370840">
                <a:tc>
                  <a:txBody>
                    <a:bodyPr/>
                    <a:lstStyle/>
                    <a:p>
                      <a:r>
                        <a:rPr lang="en-US" dirty="0" smtClean="0"/>
                        <a:t>1</a:t>
                      </a:r>
                      <a:endParaRPr lang="en-US" dirty="0"/>
                    </a:p>
                  </a:txBody>
                  <a:tcPr/>
                </a:tc>
                <a:tc>
                  <a:txBody>
                    <a:bodyPr/>
                    <a:lstStyle/>
                    <a:p>
                      <a:r>
                        <a:rPr lang="en-US" dirty="0" smtClean="0"/>
                        <a:t>Providing new implementation to a function with same Name</a:t>
                      </a:r>
                      <a:r>
                        <a:rPr lang="en-US" baseline="0" dirty="0" smtClean="0"/>
                        <a:t> and different signature is known as function overloading</a:t>
                      </a:r>
                      <a:endParaRPr lang="en-US" dirty="0"/>
                    </a:p>
                  </a:txBody>
                  <a:tcPr/>
                </a:tc>
                <a:tc>
                  <a:txBody>
                    <a:bodyPr/>
                    <a:lstStyle/>
                    <a:p>
                      <a:r>
                        <a:rPr lang="en-US" dirty="0" smtClean="0"/>
                        <a:t>Providing new implementation to a</a:t>
                      </a:r>
                      <a:r>
                        <a:rPr lang="en-US" baseline="0" dirty="0" smtClean="0"/>
                        <a:t> function with same name and same signature is know as function overriding.</a:t>
                      </a:r>
                      <a:endParaRPr lang="en-US" dirty="0"/>
                    </a:p>
                  </a:txBody>
                  <a:tcPr/>
                </a:tc>
              </a:tr>
              <a:tr h="370840">
                <a:tc>
                  <a:txBody>
                    <a:bodyPr/>
                    <a:lstStyle/>
                    <a:p>
                      <a:r>
                        <a:rPr lang="en-US" dirty="0" smtClean="0"/>
                        <a:t>2</a:t>
                      </a:r>
                      <a:endParaRPr lang="en-US" dirty="0"/>
                    </a:p>
                  </a:txBody>
                  <a:tcPr/>
                </a:tc>
                <a:tc>
                  <a:txBody>
                    <a:bodyPr/>
                    <a:lstStyle/>
                    <a:p>
                      <a:r>
                        <a:rPr lang="en-US" dirty="0" smtClean="0"/>
                        <a:t>Function</a:t>
                      </a:r>
                      <a:r>
                        <a:rPr lang="en-US" baseline="0" dirty="0" smtClean="0"/>
                        <a:t> overloading will be done in the same class</a:t>
                      </a:r>
                      <a:endParaRPr lang="en-US" dirty="0"/>
                    </a:p>
                  </a:txBody>
                  <a:tcPr/>
                </a:tc>
                <a:tc>
                  <a:txBody>
                    <a:bodyPr/>
                    <a:lstStyle/>
                    <a:p>
                      <a:r>
                        <a:rPr lang="en-US" dirty="0" smtClean="0"/>
                        <a:t>Function overriding will be done in the base and derived classes</a:t>
                      </a:r>
                      <a:endParaRPr lang="en-US" dirty="0"/>
                    </a:p>
                  </a:txBody>
                  <a:tcPr/>
                </a:tc>
              </a:tr>
              <a:tr h="370840">
                <a:tc>
                  <a:txBody>
                    <a:bodyPr/>
                    <a:lstStyle/>
                    <a:p>
                      <a:r>
                        <a:rPr lang="en-US" dirty="0" smtClean="0"/>
                        <a:t>3</a:t>
                      </a:r>
                      <a:endParaRPr lang="en-US" dirty="0"/>
                    </a:p>
                  </a:txBody>
                  <a:tcPr/>
                </a:tc>
                <a:tc>
                  <a:txBody>
                    <a:bodyPr/>
                    <a:lstStyle/>
                    <a:p>
                      <a:r>
                        <a:rPr lang="en-US" dirty="0" smtClean="0"/>
                        <a:t>This is code refinement technique</a:t>
                      </a:r>
                      <a:endParaRPr lang="en-US" dirty="0"/>
                    </a:p>
                  </a:txBody>
                  <a:tcPr/>
                </a:tc>
                <a:tc>
                  <a:txBody>
                    <a:bodyPr/>
                    <a:lstStyle/>
                    <a:p>
                      <a:r>
                        <a:rPr lang="en-US" dirty="0" smtClean="0"/>
                        <a:t>This is code replacement technique</a:t>
                      </a:r>
                      <a:endParaRPr lang="en-US" dirty="0"/>
                    </a:p>
                  </a:txBody>
                  <a:tcPr/>
                </a:tc>
              </a:tr>
              <a:tr h="370840">
                <a:tc>
                  <a:txBody>
                    <a:bodyPr/>
                    <a:lstStyle/>
                    <a:p>
                      <a:r>
                        <a:rPr lang="en-US" dirty="0" smtClean="0"/>
                        <a:t>4</a:t>
                      </a:r>
                      <a:endParaRPr lang="en-US" dirty="0"/>
                    </a:p>
                  </a:txBody>
                  <a:tcPr/>
                </a:tc>
                <a:tc>
                  <a:txBody>
                    <a:bodyPr/>
                    <a:lstStyle/>
                    <a:p>
                      <a:r>
                        <a:rPr lang="en-US" dirty="0" smtClean="0"/>
                        <a:t>No separate keywords are used to implement function</a:t>
                      </a:r>
                      <a:r>
                        <a:rPr lang="en-US" baseline="0" dirty="0" smtClean="0"/>
                        <a:t> overloading</a:t>
                      </a:r>
                      <a:endParaRPr lang="en-US" dirty="0"/>
                    </a:p>
                  </a:txBody>
                  <a:tcPr/>
                </a:tc>
                <a:tc>
                  <a:txBody>
                    <a:bodyPr/>
                    <a:lstStyle/>
                    <a:p>
                      <a:r>
                        <a:rPr lang="en-US" dirty="0" smtClean="0"/>
                        <a:t>Use virtual keyword for base class function and override keyword in derived class</a:t>
                      </a:r>
                      <a:r>
                        <a:rPr lang="en-US" baseline="0" dirty="0" smtClean="0"/>
                        <a:t> function to implement function overriding</a:t>
                      </a:r>
                      <a:endParaRPr lang="en-US" dirty="0"/>
                    </a:p>
                  </a:txBody>
                  <a:tcPr/>
                </a:tc>
              </a:tr>
              <a:tr h="370840">
                <a:tc>
                  <a:txBody>
                    <a:bodyPr/>
                    <a:lstStyle/>
                    <a:p>
                      <a:r>
                        <a:rPr lang="en-US" dirty="0" smtClean="0"/>
                        <a:t>5</a:t>
                      </a:r>
                      <a:endParaRPr lang="en-US" dirty="0"/>
                    </a:p>
                  </a:txBody>
                  <a:tcPr/>
                </a:tc>
                <a:tc>
                  <a:txBody>
                    <a:bodyPr/>
                    <a:lstStyle/>
                    <a:p>
                      <a:r>
                        <a:rPr lang="en-US" dirty="0" smtClean="0"/>
                        <a:t>Used to implement static</a:t>
                      </a:r>
                      <a:r>
                        <a:rPr lang="en-US" baseline="0" dirty="0" smtClean="0"/>
                        <a:t> polymorphism</a:t>
                      </a:r>
                      <a:endParaRPr lang="en-US" dirty="0"/>
                    </a:p>
                  </a:txBody>
                  <a:tcPr/>
                </a:tc>
                <a:tc>
                  <a:txBody>
                    <a:bodyPr/>
                    <a:lstStyle/>
                    <a:p>
                      <a:r>
                        <a:rPr lang="en-US" dirty="0" smtClean="0"/>
                        <a:t>Used to implement dynamic</a:t>
                      </a:r>
                      <a:r>
                        <a:rPr lang="en-US" baseline="0" dirty="0" smtClean="0"/>
                        <a:t> polymorphism.</a:t>
                      </a:r>
                      <a:endParaRPr lang="en-US" dirty="0"/>
                    </a:p>
                  </a:txBody>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smtClean="0"/>
              <a:t>Method </a:t>
            </a:r>
            <a:r>
              <a:rPr lang="en-US" dirty="0" smtClean="0"/>
              <a:t>hiding</a:t>
            </a:r>
            <a:endParaRPr lang="en-US" dirty="0"/>
          </a:p>
        </p:txBody>
      </p:sp>
      <p:sp>
        <p:nvSpPr>
          <p:cNvPr id="3" name="Content Placeholder 2"/>
          <p:cNvSpPr>
            <a:spLocks noGrp="1"/>
          </p:cNvSpPr>
          <p:nvPr>
            <p:ph idx="1"/>
          </p:nvPr>
        </p:nvSpPr>
        <p:spPr>
          <a:xfrm>
            <a:off x="457200" y="838200"/>
            <a:ext cx="8229600" cy="5287963"/>
          </a:xfrm>
        </p:spPr>
        <p:txBody>
          <a:bodyPr/>
          <a:lstStyle/>
          <a:p>
            <a:r>
              <a:rPr lang="en-US" dirty="0" smtClean="0"/>
              <a:t>Parent /base class method can be re-implemented by child class in different ways.</a:t>
            </a:r>
          </a:p>
          <a:p>
            <a:pPr marL="571500" indent="-571500">
              <a:buAutoNum type="romanLcParenBoth"/>
            </a:pPr>
            <a:r>
              <a:rPr lang="en-US" dirty="0" smtClean="0"/>
              <a:t>Method overriding:- in this approach parent has give permission to child class to re-</a:t>
            </a:r>
            <a:r>
              <a:rPr lang="en-US" dirty="0" err="1" smtClean="0"/>
              <a:t>impliment</a:t>
            </a:r>
            <a:r>
              <a:rPr lang="en-US" dirty="0" smtClean="0"/>
              <a:t> the methods using override modifier.</a:t>
            </a:r>
          </a:p>
          <a:p>
            <a:pPr marL="571500" indent="-571500">
              <a:buAutoNum type="romanLcParenBoth"/>
            </a:pPr>
            <a:r>
              <a:rPr lang="en-US" dirty="0" smtClean="0"/>
              <a:t>Method hiding:-here parent </a:t>
            </a:r>
            <a:r>
              <a:rPr lang="en-US" dirty="0" err="1" smtClean="0"/>
              <a:t>does’t</a:t>
            </a:r>
            <a:r>
              <a:rPr lang="en-US" dirty="0" smtClean="0"/>
              <a:t> give the permission but still child can consume using the keyword </a:t>
            </a:r>
            <a:r>
              <a:rPr lang="en-US" b="1" dirty="0" smtClean="0"/>
              <a:t>new</a:t>
            </a:r>
            <a:r>
              <a:rPr lang="en-US" dirty="0" smtClean="0"/>
              <a:t> .that we called as method hiding.</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Rectangle 3"/>
          <p:cNvSpPr/>
          <p:nvPr/>
        </p:nvSpPr>
        <p:spPr>
          <a:xfrm>
            <a:off x="1371600" y="1828800"/>
            <a:ext cx="60960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Public void Test();</a:t>
            </a:r>
          </a:p>
          <a:p>
            <a:pPr algn="ctr"/>
            <a:r>
              <a:rPr lang="en-US" sz="2800" dirty="0" smtClean="0"/>
              <a:t>Public virtual void Test(</a:t>
            </a:r>
            <a:r>
              <a:rPr lang="en-US" sz="2800" dirty="0" err="1" smtClean="0"/>
              <a:t>int</a:t>
            </a:r>
            <a:r>
              <a:rPr lang="en-US" sz="2800" dirty="0" smtClean="0"/>
              <a:t> x);</a:t>
            </a:r>
            <a:endParaRPr lang="en-US" sz="2800" dirty="0"/>
          </a:p>
        </p:txBody>
      </p:sp>
      <p:sp>
        <p:nvSpPr>
          <p:cNvPr id="5" name="Rectangle 4"/>
          <p:cNvSpPr/>
          <p:nvPr/>
        </p:nvSpPr>
        <p:spPr>
          <a:xfrm>
            <a:off x="1447800" y="3352800"/>
            <a:ext cx="60960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Public new void Test();</a:t>
            </a:r>
          </a:p>
          <a:p>
            <a:pPr algn="ctr"/>
            <a:r>
              <a:rPr lang="en-US" sz="2800" dirty="0" smtClean="0"/>
              <a:t>Public override void Test(</a:t>
            </a:r>
            <a:r>
              <a:rPr lang="en-US" sz="2800" dirty="0" err="1" smtClean="0"/>
              <a:t>int</a:t>
            </a:r>
            <a:r>
              <a:rPr lang="en-US" sz="2800" dirty="0" smtClean="0"/>
              <a:t> x);</a:t>
            </a:r>
            <a:endParaRPr lang="en-US" sz="2800" dirty="0"/>
          </a:p>
        </p:txBody>
      </p:sp>
      <p:sp>
        <p:nvSpPr>
          <p:cNvPr id="6" name="Rounded Rectangular Callout 5"/>
          <p:cNvSpPr/>
          <p:nvPr/>
        </p:nvSpPr>
        <p:spPr>
          <a:xfrm>
            <a:off x="5943600" y="2819400"/>
            <a:ext cx="2895600" cy="685800"/>
          </a:xfrm>
          <a:prstGeom prst="wedgeRoundRectCallout">
            <a:avLst>
              <a:gd name="adj1" fmla="val -44153"/>
              <a:gd name="adj2" fmla="val 7480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This is hiding</a:t>
            </a:r>
            <a:endParaRPr lang="en-US" dirty="0"/>
          </a:p>
        </p:txBody>
      </p:sp>
      <p:sp>
        <p:nvSpPr>
          <p:cNvPr id="7" name="Rounded Rectangular Callout 6"/>
          <p:cNvSpPr/>
          <p:nvPr/>
        </p:nvSpPr>
        <p:spPr>
          <a:xfrm>
            <a:off x="6400800" y="4724400"/>
            <a:ext cx="2057400" cy="685800"/>
          </a:xfrm>
          <a:prstGeom prst="wedgeRoundRectCallout">
            <a:avLst>
              <a:gd name="adj1" fmla="val -58440"/>
              <a:gd name="adj2" fmla="val -12827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This is overriding</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Operator overloading</a:t>
            </a:r>
            <a:endParaRPr lang="en-US" dirty="0"/>
          </a:p>
        </p:txBody>
      </p:sp>
      <p:sp>
        <p:nvSpPr>
          <p:cNvPr id="3" name="Content Placeholder 2"/>
          <p:cNvSpPr>
            <a:spLocks noGrp="1"/>
          </p:cNvSpPr>
          <p:nvPr>
            <p:ph idx="1"/>
          </p:nvPr>
        </p:nvSpPr>
        <p:spPr>
          <a:xfrm>
            <a:off x="457200" y="685800"/>
            <a:ext cx="8229600" cy="5440363"/>
          </a:xfrm>
        </p:spPr>
        <p:txBody>
          <a:bodyPr>
            <a:normAutofit lnSpcReduction="10000"/>
          </a:bodyPr>
          <a:lstStyle/>
          <a:p>
            <a:r>
              <a:rPr lang="en-US" dirty="0" smtClean="0"/>
              <a:t>It at all an operator can be defined to perform multiple action we can call it as operator overloading.</a:t>
            </a:r>
          </a:p>
          <a:p>
            <a:r>
              <a:rPr lang="en-US" dirty="0" smtClean="0"/>
              <a:t>Ex:- ‘+’ is an overloaded operator which can be used for adding of numeric values as well as concatenating non numeric values.</a:t>
            </a:r>
          </a:p>
          <a:p>
            <a:r>
              <a:rPr lang="en-US" dirty="0" smtClean="0"/>
              <a:t>To overcome an operator we need to defined an operator method as follows</a:t>
            </a:r>
          </a:p>
          <a:p>
            <a:pPr>
              <a:buNone/>
            </a:pPr>
            <a:r>
              <a:rPr lang="en-US" sz="2400" dirty="0" smtClean="0"/>
              <a:t>[&lt;modifiers&gt;]static &lt;type&gt; operator&lt;opt&gt;([</a:t>
            </a:r>
            <a:r>
              <a:rPr lang="en-US" sz="2400" dirty="0" err="1" smtClean="0"/>
              <a:t>param</a:t>
            </a:r>
            <a:r>
              <a:rPr lang="en-US" sz="2400" dirty="0" smtClean="0"/>
              <a:t> </a:t>
            </a:r>
            <a:r>
              <a:rPr lang="en-US" sz="2400" dirty="0" err="1" smtClean="0"/>
              <a:t>def’s</a:t>
            </a:r>
            <a:r>
              <a:rPr lang="en-US" sz="2400" dirty="0" smtClean="0"/>
              <a:t>])</a:t>
            </a:r>
          </a:p>
          <a:p>
            <a:pPr>
              <a:buNone/>
            </a:pPr>
            <a:r>
              <a:rPr lang="en-US" sz="2400" dirty="0" smtClean="0"/>
              <a:t>{</a:t>
            </a:r>
          </a:p>
          <a:p>
            <a:pPr>
              <a:buNone/>
            </a:pPr>
            <a:r>
              <a:rPr lang="en-US" sz="2400" dirty="0" smtClean="0"/>
              <a:t>	</a:t>
            </a:r>
            <a:r>
              <a:rPr lang="en-US" sz="2400" dirty="0" smtClean="0"/>
              <a:t>statement</a:t>
            </a:r>
          </a:p>
          <a:p>
            <a:pPr>
              <a:buNone/>
            </a:pPr>
            <a:r>
              <a:rPr lang="en-US" sz="2400" dirty="0" smtClean="0"/>
              <a:t>}</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lnSpcReduction="10000"/>
          </a:bodyPr>
          <a:lstStyle/>
          <a:p>
            <a:r>
              <a:rPr lang="en-US" dirty="0" smtClean="0">
                <a:hlinkClick r:id="rId2" action="ppaction://hlinkfile"/>
              </a:rPr>
              <a:t>Operator</a:t>
            </a:r>
            <a:r>
              <a:rPr lang="en-US" dirty="0" smtClean="0"/>
              <a:t> method must always be </a:t>
            </a:r>
            <a:r>
              <a:rPr lang="en-US" b="1" dirty="0" smtClean="0"/>
              <a:t>static </a:t>
            </a:r>
            <a:r>
              <a:rPr lang="en-US" dirty="0" smtClean="0"/>
              <a:t>only</a:t>
            </a:r>
          </a:p>
          <a:p>
            <a:r>
              <a:rPr lang="en-US" b="1" u="sng" dirty="0" smtClean="0">
                <a:hlinkClick r:id="rId3" action="ppaction://hlinkfile"/>
              </a:rPr>
              <a:t>Constructor</a:t>
            </a:r>
            <a:r>
              <a:rPr lang="en-US" b="1" u="sng" dirty="0" smtClean="0"/>
              <a:t> overloading </a:t>
            </a:r>
            <a:r>
              <a:rPr lang="en-US" dirty="0" smtClean="0"/>
              <a:t>:-just like overloading we can also overload constructor in a class </a:t>
            </a:r>
            <a:r>
              <a:rPr lang="en-US" dirty="0" err="1" smtClean="0"/>
              <a:t>i.e</a:t>
            </a:r>
            <a:r>
              <a:rPr lang="en-US" dirty="0" smtClean="0"/>
              <a:t> we can define more then one constructor by changing the parameters with in the class.</a:t>
            </a:r>
          </a:p>
          <a:p>
            <a:r>
              <a:rPr lang="en-US" b="1" dirty="0" smtClean="0"/>
              <a:t>Note</a:t>
            </a:r>
            <a:r>
              <a:rPr lang="en-US" dirty="0" smtClean="0"/>
              <a:t>:- when a class contain multiple constructor in it we can create the </a:t>
            </a:r>
            <a:r>
              <a:rPr lang="en-US" dirty="0" err="1" smtClean="0"/>
              <a:t>obj</a:t>
            </a:r>
            <a:r>
              <a:rPr lang="en-US" dirty="0" smtClean="0"/>
              <a:t> of class by  using any of the constructor available.</a:t>
            </a:r>
          </a:p>
          <a:p>
            <a:r>
              <a:rPr lang="en-US" dirty="0" smtClean="0"/>
              <a:t>Constructor overloading allows us to initialize variable of a class either with default values as well as we can send out own value to the variable to initialize. </a:t>
            </a:r>
          </a:p>
          <a:p>
            <a:endParaRPr lang="en-US" b="1" u="sng"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Defining Extension Method</a:t>
            </a:r>
            <a:endParaRPr lang="en-US" dirty="0"/>
          </a:p>
        </p:txBody>
      </p:sp>
      <p:sp>
        <p:nvSpPr>
          <p:cNvPr id="3" name="Content Placeholder 2"/>
          <p:cNvSpPr>
            <a:spLocks noGrp="1"/>
          </p:cNvSpPr>
          <p:nvPr>
            <p:ph idx="1"/>
          </p:nvPr>
        </p:nvSpPr>
        <p:spPr>
          <a:xfrm>
            <a:off x="457200" y="838200"/>
            <a:ext cx="8229600" cy="5287963"/>
          </a:xfrm>
        </p:spPr>
        <p:txBody>
          <a:bodyPr/>
          <a:lstStyle/>
          <a:p>
            <a:r>
              <a:rPr lang="en-US" dirty="0" smtClean="0"/>
              <a:t>To define extension method follow the below guidelines</a:t>
            </a:r>
          </a:p>
          <a:p>
            <a:pPr marL="571500" indent="-571500">
              <a:buAutoNum type="romanLcParenBoth"/>
            </a:pPr>
            <a:r>
              <a:rPr lang="en-US" dirty="0" smtClean="0"/>
              <a:t>Extension method1 can be defined only in a static  class.</a:t>
            </a:r>
          </a:p>
          <a:p>
            <a:pPr marL="571500" indent="-571500">
              <a:buAutoNum type="romanLcParenBoth"/>
            </a:pPr>
            <a:r>
              <a:rPr lang="en-US" dirty="0" smtClean="0"/>
              <a:t>As the method are defined under a static class they need to be defined as static method but once they are bound with a class they will be changed into instance method.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lnSpcReduction="10000"/>
          </a:bodyPr>
          <a:lstStyle/>
          <a:p>
            <a:r>
              <a:rPr lang="en-US" dirty="0" smtClean="0"/>
              <a:t>The first parameter of extension method should be the name of the class to which the method belong, prefix with “this” keyword and this parameter will be taken into consideration while invoking the method because it is only tale the which class the method belongs</a:t>
            </a:r>
          </a:p>
          <a:p>
            <a:r>
              <a:rPr lang="en-US" dirty="0" smtClean="0"/>
              <a:t>If an extension method is defined with n parameter while calling the method we will fine n-1 parameter only because a we discussed above first parameter will not be taken into consideration.</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r>
              <a:rPr lang="en-US" dirty="0" smtClean="0"/>
              <a:t>One extension method can be bound only with a single class but if required under a static class we can defined any number of extension method binding with them </a:t>
            </a:r>
            <a:r>
              <a:rPr lang="en-US" smtClean="0"/>
              <a:t>different class.</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356</TotalTime>
  <Words>1181</Words>
  <Application>Microsoft Office PowerPoint</Application>
  <PresentationFormat>On-screen Show (4:3)</PresentationFormat>
  <Paragraphs>118</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Polymorphism </vt:lpstr>
      <vt:lpstr>polymorphism</vt:lpstr>
      <vt:lpstr>Overloading has 3 option</vt:lpstr>
      <vt:lpstr>Function overloading</vt:lpstr>
      <vt:lpstr>Slide 5</vt:lpstr>
      <vt:lpstr>When data types of  the argument are changed.</vt:lpstr>
      <vt:lpstr>When number of argument are changed</vt:lpstr>
      <vt:lpstr>Definition</vt:lpstr>
      <vt:lpstr>Case study</vt:lpstr>
      <vt:lpstr>Case study(cont..)</vt:lpstr>
      <vt:lpstr>Slide 11</vt:lpstr>
      <vt:lpstr>Slide 12</vt:lpstr>
      <vt:lpstr>Differences between overloading and overriding methods</vt:lpstr>
      <vt:lpstr>Method hiding</vt:lpstr>
      <vt:lpstr>Slide 15</vt:lpstr>
      <vt:lpstr>Operator overloading</vt:lpstr>
      <vt:lpstr>Slide 17</vt:lpstr>
      <vt:lpstr>Defining Extension Method</vt:lpstr>
      <vt:lpstr>Slide 19</vt:lpstr>
      <vt:lpstr>Slide 20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Polymorphism</dc:title>
  <dc:creator>krishna</dc:creator>
  <cp:lastModifiedBy>krishna</cp:lastModifiedBy>
  <cp:revision>37</cp:revision>
  <dcterms:created xsi:type="dcterms:W3CDTF">2011-11-08T00:52:38Z</dcterms:created>
  <dcterms:modified xsi:type="dcterms:W3CDTF">2011-11-08T22:47:16Z</dcterms:modified>
</cp:coreProperties>
</file>