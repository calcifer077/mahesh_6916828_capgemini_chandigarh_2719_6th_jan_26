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9" r:id="rId20"/>
    <p:sldId id="280" r:id="rId21"/>
    <p:sldId id="281" r:id="rId22"/>
    <p:sldId id="282" r:id="rId23"/>
    <p:sldId id="274" r:id="rId24"/>
    <p:sldId id="275" r:id="rId25"/>
    <p:sldId id="276" r:id="rId26"/>
    <p:sldId id="277" r:id="rId27"/>
    <p:sldId id="283" r:id="rId28"/>
    <p:sldId id="284" r:id="rId29"/>
    <p:sldId id="285" r:id="rId30"/>
    <p:sldId id="278" r:id="rId31"/>
    <p:sldId id="286" r:id="rId32"/>
    <p:sldId id="287" r:id="rId33"/>
    <p:sldId id="288" r:id="rId34"/>
    <p:sldId id="289" r:id="rId35"/>
    <p:sldId id="290" r:id="rId36"/>
    <p:sldId id="291" r:id="rId37"/>
    <p:sldId id="292" r:id="rId38"/>
    <p:sldId id="302" r:id="rId39"/>
    <p:sldId id="294" r:id="rId40"/>
    <p:sldId id="295" r:id="rId41"/>
    <p:sldId id="296" r:id="rId42"/>
    <p:sldId id="297" r:id="rId43"/>
    <p:sldId id="298" r:id="rId44"/>
    <p:sldId id="299" r:id="rId45"/>
    <p:sldId id="300" r:id="rId46"/>
    <p:sldId id="301" r:id="rId47"/>
    <p:sldId id="293"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4912EE7-3D27-456B-83DA-C61171183E33}" type="datetimeFigureOut">
              <a:rPr lang="en-US" smtClean="0"/>
              <a:pPr/>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F05551-FEDD-4F73-AB51-EA218EEE5BD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912EE7-3D27-456B-83DA-C61171183E33}" type="datetimeFigureOut">
              <a:rPr lang="en-US" smtClean="0"/>
              <a:pPr/>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F05551-FEDD-4F73-AB51-EA218EEE5BD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912EE7-3D27-456B-83DA-C61171183E33}" type="datetimeFigureOut">
              <a:rPr lang="en-US" smtClean="0"/>
              <a:pPr/>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F05551-FEDD-4F73-AB51-EA218EEE5BD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912EE7-3D27-456B-83DA-C61171183E33}" type="datetimeFigureOut">
              <a:rPr lang="en-US" smtClean="0"/>
              <a:pPr/>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F05551-FEDD-4F73-AB51-EA218EEE5BD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912EE7-3D27-456B-83DA-C61171183E33}" type="datetimeFigureOut">
              <a:rPr lang="en-US" smtClean="0"/>
              <a:pPr/>
              <a:t>9/25/2024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F05551-FEDD-4F73-AB51-EA218EEE5BD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912EE7-3D27-456B-83DA-C61171183E33}" type="datetimeFigureOut">
              <a:rPr lang="en-US" smtClean="0"/>
              <a:pPr/>
              <a:t>9/25/2024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F05551-FEDD-4F73-AB51-EA218EEE5BD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912EE7-3D27-456B-83DA-C61171183E33}" type="datetimeFigureOut">
              <a:rPr lang="en-US" smtClean="0"/>
              <a:pPr/>
              <a:t>9/25/2024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F05551-FEDD-4F73-AB51-EA218EEE5BD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912EE7-3D27-456B-83DA-C61171183E33}" type="datetimeFigureOut">
              <a:rPr lang="en-US" smtClean="0"/>
              <a:pPr/>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F05551-FEDD-4F73-AB51-EA218EEE5BD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912EE7-3D27-456B-83DA-C61171183E33}" type="datetimeFigureOut">
              <a:rPr lang="en-US" smtClean="0"/>
              <a:pPr/>
              <a:t>9/25/2024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F05551-FEDD-4F73-AB51-EA218EEE5BD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912EE7-3D27-456B-83DA-C61171183E33}" type="datetimeFigureOut">
              <a:rPr lang="en-US" smtClean="0"/>
              <a:pPr/>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F05551-FEDD-4F73-AB51-EA218EEE5BD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912EE7-3D27-456B-83DA-C61171183E33}" type="datetimeFigureOut">
              <a:rPr lang="en-US" smtClean="0"/>
              <a:pPr/>
              <a:t>9/25/2024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F05551-FEDD-4F73-AB51-EA218EEE5BD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912EE7-3D27-456B-83DA-C61171183E33}" type="datetimeFigureOut">
              <a:rPr lang="en-US" smtClean="0"/>
              <a:pPr/>
              <a:t>9/25/2024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F05551-FEDD-4F73-AB51-EA218EEE5BD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programtocreateaclassandtoconsume.docx"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classClsSalary.docx"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ParameterizedConstructor.docx" TargetMode="External"/><Relationship Id="rId2" Type="http://schemas.openxmlformats.org/officeDocument/2006/relationships/hyperlink" Target="classConstructionDemo.docx"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classClsEmployee1.docx"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classClsEmployee2.docx"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classClsEmployee3.docx"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classClsEmployee4.docx"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classClsEmployee44.docx"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classClsSample.docx"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classStaticVar.docx"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classstaticMethod.docx"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classstaticConst.docx"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 oriented programming Concepts</a:t>
            </a:r>
          </a:p>
        </p:txBody>
      </p:sp>
      <p:sp>
        <p:nvSpPr>
          <p:cNvPr id="3" name="Subtitle 2"/>
          <p:cNvSpPr>
            <a:spLocks noGrp="1"/>
          </p:cNvSpPr>
          <p:nvPr>
            <p:ph type="subTitle" idx="1"/>
          </p:nvPr>
        </p:nvSpPr>
        <p:spPr/>
        <p:txBody>
          <a:bodyPr/>
          <a:lstStyle/>
          <a:p>
            <a:r>
              <a:rPr lang="en-US" dirty="0"/>
              <a:t>oops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Class</a:t>
            </a:r>
          </a:p>
        </p:txBody>
      </p:sp>
      <p:sp>
        <p:nvSpPr>
          <p:cNvPr id="3" name="Content Placeholder 2"/>
          <p:cNvSpPr>
            <a:spLocks noGrp="1"/>
          </p:cNvSpPr>
          <p:nvPr>
            <p:ph idx="1"/>
          </p:nvPr>
        </p:nvSpPr>
        <p:spPr>
          <a:xfrm>
            <a:off x="457200" y="838200"/>
            <a:ext cx="8229600" cy="5287963"/>
          </a:xfrm>
        </p:spPr>
        <p:txBody>
          <a:bodyPr/>
          <a:lstStyle/>
          <a:p>
            <a:r>
              <a:rPr lang="en-US" dirty="0"/>
              <a:t>A class is a collection of things which process common similarities.</a:t>
            </a:r>
          </a:p>
          <a:p>
            <a:pPr>
              <a:buNone/>
            </a:pPr>
            <a:r>
              <a:rPr lang="en-US" dirty="0"/>
              <a:t>Ex:-Birds is  a class contain common similarities/features like.</a:t>
            </a:r>
          </a:p>
          <a:p>
            <a:r>
              <a:rPr lang="en-US" dirty="0"/>
              <a:t>Every birds has two legs</a:t>
            </a:r>
          </a:p>
          <a:p>
            <a:r>
              <a:rPr lang="en-US" dirty="0"/>
              <a:t>Every birds has two wings.</a:t>
            </a:r>
          </a:p>
          <a:p>
            <a:r>
              <a:rPr lang="en-US" dirty="0"/>
              <a:t>Every birds has some color.</a:t>
            </a:r>
          </a:p>
          <a:p>
            <a:r>
              <a:rPr lang="en-US" dirty="0"/>
              <a:t>Every birds can fly etc.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Class (cont..)</a:t>
            </a:r>
          </a:p>
        </p:txBody>
      </p:sp>
      <p:sp>
        <p:nvSpPr>
          <p:cNvPr id="3" name="Content Placeholder 2"/>
          <p:cNvSpPr>
            <a:spLocks noGrp="1"/>
          </p:cNvSpPr>
          <p:nvPr>
            <p:ph idx="1"/>
          </p:nvPr>
        </p:nvSpPr>
        <p:spPr>
          <a:xfrm>
            <a:off x="457200" y="838200"/>
            <a:ext cx="8229600" cy="5287963"/>
          </a:xfrm>
        </p:spPr>
        <p:txBody>
          <a:bodyPr/>
          <a:lstStyle/>
          <a:p>
            <a:r>
              <a:rPr lang="en-US" dirty="0"/>
              <a:t>Class is a collection of members and those members are :- data member(variables) and member functions(methods).</a:t>
            </a:r>
          </a:p>
          <a:p>
            <a:r>
              <a:rPr lang="en-US" dirty="0"/>
              <a:t>Class is container which contain related data and instruction.</a:t>
            </a:r>
          </a:p>
          <a:p>
            <a:r>
              <a:rPr lang="en-US" dirty="0"/>
              <a:t>Class is encapsulated with related information (data) and operation (instruction.)</a:t>
            </a:r>
          </a:p>
          <a:p>
            <a:r>
              <a:rPr lang="en-US" dirty="0"/>
              <a:t>Class is module/reusable modules.</a:t>
            </a:r>
          </a:p>
          <a:p>
            <a:r>
              <a:rPr lang="en-US" dirty="0"/>
              <a:t>Class is data type /abstract data types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Object</a:t>
            </a:r>
          </a:p>
        </p:txBody>
      </p:sp>
      <p:sp>
        <p:nvSpPr>
          <p:cNvPr id="3" name="Content Placeholder 2"/>
          <p:cNvSpPr>
            <a:spLocks noGrp="1"/>
          </p:cNvSpPr>
          <p:nvPr>
            <p:ph idx="1"/>
          </p:nvPr>
        </p:nvSpPr>
        <p:spPr>
          <a:xfrm>
            <a:off x="457200" y="990600"/>
            <a:ext cx="8229600" cy="5135563"/>
          </a:xfrm>
        </p:spPr>
        <p:txBody>
          <a:bodyPr/>
          <a:lstStyle/>
          <a:p>
            <a:r>
              <a:rPr lang="en-US" dirty="0"/>
              <a:t>An object is used to represent the class.</a:t>
            </a:r>
          </a:p>
          <a:p>
            <a:r>
              <a:rPr lang="en-US" dirty="0"/>
              <a:t>An object is defined as instance of a class. Ex:- parrot is an object for birds class.</a:t>
            </a:r>
          </a:p>
          <a:p>
            <a:r>
              <a:rPr lang="en-US" dirty="0"/>
              <a:t>We allocate data(memory) for class is object.</a:t>
            </a:r>
          </a:p>
          <a:p>
            <a:r>
              <a:rPr lang="en-US" dirty="0"/>
              <a:t>Copy of a class is know as the object.</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Features of object oriented programming</a:t>
            </a:r>
          </a:p>
        </p:txBody>
      </p:sp>
      <p:sp>
        <p:nvSpPr>
          <p:cNvPr id="3" name="Content Placeholder 2"/>
          <p:cNvSpPr>
            <a:spLocks noGrp="1"/>
          </p:cNvSpPr>
          <p:nvPr>
            <p:ph idx="1"/>
          </p:nvPr>
        </p:nvSpPr>
        <p:spPr/>
        <p:txBody>
          <a:bodyPr/>
          <a:lstStyle/>
          <a:p>
            <a:pPr>
              <a:buNone/>
            </a:pPr>
            <a:r>
              <a:rPr lang="en-US" dirty="0"/>
              <a:t>Any programming language to become as object oriented should follow (satisfy) the following feature a part from the class and Object.</a:t>
            </a:r>
          </a:p>
          <a:p>
            <a:r>
              <a:rPr lang="en-US" dirty="0"/>
              <a:t>Encapsulation</a:t>
            </a:r>
          </a:p>
          <a:p>
            <a:r>
              <a:rPr lang="en-US" dirty="0"/>
              <a:t>Polymorphism</a:t>
            </a:r>
          </a:p>
          <a:p>
            <a:r>
              <a:rPr lang="en-US" dirty="0"/>
              <a:t>Inheritance</a:t>
            </a:r>
          </a:p>
          <a:p>
            <a:r>
              <a:rPr lang="en-US" dirty="0"/>
              <a:t>Abstraction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Encapsulation</a:t>
            </a:r>
          </a:p>
        </p:txBody>
      </p:sp>
      <p:sp>
        <p:nvSpPr>
          <p:cNvPr id="3" name="Content Placeholder 2"/>
          <p:cNvSpPr>
            <a:spLocks noGrp="1"/>
          </p:cNvSpPr>
          <p:nvPr>
            <p:ph idx="1"/>
          </p:nvPr>
        </p:nvSpPr>
        <p:spPr>
          <a:xfrm>
            <a:off x="457200" y="914400"/>
            <a:ext cx="8229600" cy="5211763"/>
          </a:xfrm>
        </p:spPr>
        <p:txBody>
          <a:bodyPr>
            <a:normAutofit lnSpcReduction="10000"/>
          </a:bodyPr>
          <a:lstStyle/>
          <a:p>
            <a:r>
              <a:rPr lang="en-US" dirty="0"/>
              <a:t>Encapsulation is mechanism  that associated the code and data .it manipulates and keeps the safe from external interfaces and misuse .</a:t>
            </a:r>
          </a:p>
          <a:p>
            <a:r>
              <a:rPr lang="en-US" dirty="0"/>
              <a:t>Wrapping of data and code is called encapsulation.</a:t>
            </a:r>
          </a:p>
          <a:p>
            <a:r>
              <a:rPr lang="en-US" dirty="0"/>
              <a:t>It is a process of Binding the member variable of a class along with member function.</a:t>
            </a:r>
          </a:p>
          <a:p>
            <a:r>
              <a:rPr lang="en-US" dirty="0"/>
              <a:t>Encapsulation can be implemented with the help of object and also access modifiers like private, public and protected etc.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87362"/>
          </a:xfrm>
        </p:spPr>
        <p:txBody>
          <a:bodyPr>
            <a:normAutofit fontScale="90000"/>
          </a:bodyPr>
          <a:lstStyle/>
          <a:p>
            <a:r>
              <a:rPr lang="en-US" dirty="0"/>
              <a:t>polymorphism</a:t>
            </a:r>
          </a:p>
        </p:txBody>
      </p:sp>
      <p:sp>
        <p:nvSpPr>
          <p:cNvPr id="3" name="Content Placeholder 2"/>
          <p:cNvSpPr>
            <a:spLocks noGrp="1"/>
          </p:cNvSpPr>
          <p:nvPr>
            <p:ph idx="1"/>
          </p:nvPr>
        </p:nvSpPr>
        <p:spPr>
          <a:xfrm>
            <a:off x="457200" y="1066800"/>
            <a:ext cx="8229600" cy="5059363"/>
          </a:xfrm>
        </p:spPr>
        <p:txBody>
          <a:bodyPr/>
          <a:lstStyle/>
          <a:p>
            <a:r>
              <a:rPr lang="en-US" dirty="0"/>
              <a:t>It derived from the Greek word, where poly means many morph mean faces/behaviors.</a:t>
            </a:r>
          </a:p>
          <a:p>
            <a:r>
              <a:rPr lang="en-US" dirty="0"/>
              <a:t>Same function/operator will show different behaviors when passed different type of values or different number of values.</a:t>
            </a:r>
          </a:p>
          <a:p>
            <a:r>
              <a:rPr lang="en-US" dirty="0"/>
              <a:t>Changing the behaviors an output of an entity with the change in the input is know as polymorphism</a:t>
            </a: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types of polymorphism</a:t>
            </a:r>
          </a:p>
        </p:txBody>
      </p:sp>
      <p:sp>
        <p:nvSpPr>
          <p:cNvPr id="3" name="Content Placeholder 2"/>
          <p:cNvSpPr>
            <a:spLocks noGrp="1"/>
          </p:cNvSpPr>
          <p:nvPr>
            <p:ph idx="1"/>
          </p:nvPr>
        </p:nvSpPr>
        <p:spPr/>
        <p:txBody>
          <a:bodyPr/>
          <a:lstStyle/>
          <a:p>
            <a:r>
              <a:rPr lang="en-US" dirty="0"/>
              <a:t>Static polymorphism/compile time polymorphism/early binding.</a:t>
            </a:r>
          </a:p>
          <a:p>
            <a:r>
              <a:rPr lang="en-US" dirty="0"/>
              <a:t>Dynamic polymorphism/ run time polymorphism / late binding.</a:t>
            </a:r>
          </a:p>
          <a:p>
            <a:r>
              <a:rPr lang="en-US" dirty="0"/>
              <a:t>Static polymorphism is achieved using (</a:t>
            </a:r>
            <a:r>
              <a:rPr lang="en-US" dirty="0" err="1"/>
              <a:t>i</a:t>
            </a:r>
            <a:r>
              <a:rPr lang="en-US" dirty="0"/>
              <a:t>) function overloading (ii) operator overloading.</a:t>
            </a:r>
          </a:p>
          <a:p>
            <a:r>
              <a:rPr lang="en-US" dirty="0"/>
              <a:t>Dynamic polymorphisms achieved by using :-function overloading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Inheritance</a:t>
            </a:r>
          </a:p>
        </p:txBody>
      </p:sp>
      <p:sp>
        <p:nvSpPr>
          <p:cNvPr id="3" name="Content Placeholder 2"/>
          <p:cNvSpPr>
            <a:spLocks noGrp="1"/>
          </p:cNvSpPr>
          <p:nvPr>
            <p:ph idx="1"/>
          </p:nvPr>
        </p:nvSpPr>
        <p:spPr>
          <a:xfrm>
            <a:off x="457200" y="838200"/>
            <a:ext cx="8229600" cy="5287963"/>
          </a:xfrm>
        </p:spPr>
        <p:txBody>
          <a:bodyPr/>
          <a:lstStyle/>
          <a:p>
            <a:r>
              <a:rPr lang="en-US" dirty="0"/>
              <a:t>As per inheritance the member defined in a class can be consume from other class if we establish a parent child relation between the class. Which gives you reusability of code.</a:t>
            </a:r>
          </a:p>
          <a:p>
            <a:r>
              <a:rPr lang="en-US" dirty="0"/>
              <a:t>This is a process of creating a new class from already existing class.</a:t>
            </a:r>
          </a:p>
          <a:p>
            <a:r>
              <a:rPr lang="en-US" dirty="0"/>
              <a:t>In inheritance process existing class is know as Parent/Base class, newly created class is  know as Derived/Child class.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Inheritance (cont..)</a:t>
            </a:r>
          </a:p>
        </p:txBody>
      </p:sp>
      <p:sp>
        <p:nvSpPr>
          <p:cNvPr id="3" name="Content Placeholder 2"/>
          <p:cNvSpPr>
            <a:spLocks noGrp="1"/>
          </p:cNvSpPr>
          <p:nvPr>
            <p:ph idx="1"/>
          </p:nvPr>
        </p:nvSpPr>
        <p:spPr>
          <a:xfrm>
            <a:off x="457200" y="762000"/>
            <a:ext cx="8229600" cy="5364163"/>
          </a:xfrm>
        </p:spPr>
        <p:txBody>
          <a:bodyPr/>
          <a:lstStyle/>
          <a:p>
            <a:r>
              <a:rPr lang="en-US" dirty="0"/>
              <a:t>In inheritance process, child class will get all the features of parent/base class.</a:t>
            </a:r>
          </a:p>
          <a:p>
            <a:r>
              <a:rPr lang="en-US" dirty="0"/>
              <a:t>Main purpose of Inheritance is code re-usability and providing additional functionality / enhancement.</a:t>
            </a:r>
          </a:p>
          <a:p>
            <a:pPr>
              <a:buNone/>
            </a:pPr>
            <a:r>
              <a:rPr lang="en-US" dirty="0"/>
              <a:t>There are two type of inheritance:-</a:t>
            </a:r>
          </a:p>
          <a:p>
            <a:pPr marL="571500" indent="-571500">
              <a:buAutoNum type="romanLcParenBoth"/>
            </a:pPr>
            <a:r>
              <a:rPr lang="en-US" dirty="0"/>
              <a:t>Single inheritance</a:t>
            </a:r>
          </a:p>
          <a:p>
            <a:pPr marL="571500" indent="-571500">
              <a:buAutoNum type="romanLcParenBoth"/>
            </a:pPr>
            <a:r>
              <a:rPr lang="en-US" dirty="0"/>
              <a:t>Multiple inheritance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Abstraction</a:t>
            </a:r>
          </a:p>
        </p:txBody>
      </p:sp>
      <p:sp>
        <p:nvSpPr>
          <p:cNvPr id="3" name="Content Placeholder 2"/>
          <p:cNvSpPr>
            <a:spLocks noGrp="1"/>
          </p:cNvSpPr>
          <p:nvPr>
            <p:ph idx="1"/>
          </p:nvPr>
        </p:nvSpPr>
        <p:spPr>
          <a:xfrm>
            <a:off x="457200" y="838200"/>
            <a:ext cx="8229600" cy="5287963"/>
          </a:xfrm>
        </p:spPr>
        <p:txBody>
          <a:bodyPr/>
          <a:lstStyle/>
          <a:p>
            <a:r>
              <a:rPr lang="en-US" dirty="0"/>
              <a:t>It is all about hiding the complexity and providing a set of interface to consume the functionality.</a:t>
            </a:r>
          </a:p>
          <a:p>
            <a:r>
              <a:rPr lang="en-US" dirty="0"/>
              <a:t>It is a process Hiding the implementation but providing the service.</a:t>
            </a:r>
          </a:p>
          <a:p>
            <a:pPr marL="571500" indent="-571500">
              <a:buAutoNum type="romanLcParenBoth"/>
            </a:pPr>
            <a:r>
              <a:rPr lang="en-US" dirty="0"/>
              <a:t>Data abstraction</a:t>
            </a:r>
          </a:p>
          <a:p>
            <a:pPr marL="571500" indent="-571500">
              <a:buAutoNum type="romanLcParenBoth"/>
            </a:pPr>
            <a:r>
              <a:rPr lang="en-US" dirty="0"/>
              <a:t>Functional abstraction</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Class in </a:t>
            </a:r>
            <a:r>
              <a:rPr lang="en-US" dirty="0" err="1"/>
              <a:t>C#.net</a:t>
            </a:r>
            <a:endParaRPr lang="en-US" dirty="0"/>
          </a:p>
        </p:txBody>
      </p:sp>
      <p:sp>
        <p:nvSpPr>
          <p:cNvPr id="3" name="Content Placeholder 2"/>
          <p:cNvSpPr>
            <a:spLocks noGrp="1"/>
          </p:cNvSpPr>
          <p:nvPr>
            <p:ph idx="1"/>
          </p:nvPr>
        </p:nvSpPr>
        <p:spPr>
          <a:xfrm>
            <a:off x="457200" y="914400"/>
            <a:ext cx="8229600" cy="5211763"/>
          </a:xfrm>
        </p:spPr>
        <p:txBody>
          <a:bodyPr>
            <a:normAutofit fontScale="92500" lnSpcReduction="10000"/>
          </a:bodyPr>
          <a:lstStyle/>
          <a:p>
            <a:r>
              <a:rPr lang="en-US" dirty="0"/>
              <a:t>In c# </a:t>
            </a:r>
            <a:r>
              <a:rPr lang="en-US" dirty="0" err="1"/>
              <a:t>.net</a:t>
            </a:r>
            <a:r>
              <a:rPr lang="en-US" dirty="0"/>
              <a:t> a class is a user defined data type and is known as reference type.</a:t>
            </a:r>
          </a:p>
          <a:p>
            <a:r>
              <a:rPr lang="en-US" dirty="0"/>
              <a:t>A class can contain following members in </a:t>
            </a:r>
            <a:r>
              <a:rPr lang="en-US" dirty="0" err="1"/>
              <a:t>c#.net</a:t>
            </a:r>
            <a:r>
              <a:rPr lang="en-US" dirty="0"/>
              <a:t>.</a:t>
            </a:r>
          </a:p>
          <a:p>
            <a:pPr marL="571500" indent="-571500">
              <a:buAutoNum type="romanLcParenBoth"/>
            </a:pPr>
            <a:r>
              <a:rPr lang="en-US" dirty="0"/>
              <a:t>Data fields</a:t>
            </a:r>
          </a:p>
          <a:p>
            <a:pPr marL="571500" indent="-571500">
              <a:buAutoNum type="romanLcParenBoth"/>
            </a:pPr>
            <a:r>
              <a:rPr lang="en-US" dirty="0"/>
              <a:t>Functions</a:t>
            </a:r>
          </a:p>
          <a:p>
            <a:pPr marL="571500" indent="-571500">
              <a:buAutoNum type="romanLcParenBoth"/>
            </a:pPr>
            <a:r>
              <a:rPr lang="en-US" dirty="0"/>
              <a:t>Constructors</a:t>
            </a:r>
          </a:p>
          <a:p>
            <a:pPr marL="571500" indent="-571500">
              <a:buAutoNum type="romanLcParenBoth"/>
            </a:pPr>
            <a:r>
              <a:rPr lang="en-US" dirty="0"/>
              <a:t>Destructors</a:t>
            </a:r>
          </a:p>
          <a:p>
            <a:pPr marL="571500" indent="-571500">
              <a:buAutoNum type="romanLcParenBoth"/>
            </a:pPr>
            <a:r>
              <a:rPr lang="en-US" dirty="0"/>
              <a:t>Properties</a:t>
            </a:r>
          </a:p>
          <a:p>
            <a:pPr marL="571500" indent="-571500">
              <a:buAutoNum type="romanLcParenBoth"/>
            </a:pPr>
            <a:r>
              <a:rPr lang="en-US" dirty="0"/>
              <a:t>Indexers</a:t>
            </a:r>
          </a:p>
          <a:p>
            <a:pPr marL="571500" indent="-571500">
              <a:buAutoNum type="romanLcParenBoth"/>
            </a:pPr>
            <a:r>
              <a:rPr lang="en-US" dirty="0"/>
              <a:t>Events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Diagrammatic representation of class</a:t>
            </a:r>
          </a:p>
        </p:txBody>
      </p:sp>
      <p:graphicFrame>
        <p:nvGraphicFramePr>
          <p:cNvPr id="4" name="Content Placeholder 3"/>
          <p:cNvGraphicFramePr>
            <a:graphicFrameLocks noGrp="1"/>
          </p:cNvGraphicFramePr>
          <p:nvPr>
            <p:ph idx="1"/>
          </p:nvPr>
        </p:nvGraphicFramePr>
        <p:xfrm>
          <a:off x="838200" y="1828800"/>
          <a:ext cx="2209800" cy="111252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0000"/>
                    </a:ext>
                  </a:extLst>
                </a:gridCol>
              </a:tblGrid>
              <a:tr h="370840">
                <a:tc>
                  <a:txBody>
                    <a:bodyPr/>
                    <a:lstStyle/>
                    <a:p>
                      <a:r>
                        <a:rPr lang="en-US" dirty="0"/>
                        <a:t>Class Name</a:t>
                      </a:r>
                    </a:p>
                  </a:txBody>
                  <a:tcPr/>
                </a:tc>
                <a:extLst>
                  <a:ext uri="{0D108BD9-81ED-4DB2-BD59-A6C34878D82A}">
                    <a16:rowId xmlns:a16="http://schemas.microsoft.com/office/drawing/2014/main" val="10000"/>
                  </a:ext>
                </a:extLst>
              </a:tr>
              <a:tr h="370840">
                <a:tc>
                  <a:txBody>
                    <a:bodyPr/>
                    <a:lstStyle/>
                    <a:p>
                      <a:r>
                        <a:rPr lang="en-US" dirty="0"/>
                        <a:t>Attributes</a:t>
                      </a:r>
                    </a:p>
                  </a:txBody>
                  <a:tcPr/>
                </a:tc>
                <a:extLst>
                  <a:ext uri="{0D108BD9-81ED-4DB2-BD59-A6C34878D82A}">
                    <a16:rowId xmlns:a16="http://schemas.microsoft.com/office/drawing/2014/main" val="10001"/>
                  </a:ext>
                </a:extLst>
              </a:tr>
              <a:tr h="370840">
                <a:tc>
                  <a:txBody>
                    <a:bodyPr/>
                    <a:lstStyle/>
                    <a:p>
                      <a:r>
                        <a:rPr lang="en-US" dirty="0"/>
                        <a:t>Function</a:t>
                      </a:r>
                    </a:p>
                  </a:txBody>
                  <a:tcP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34271148"/>
              </p:ext>
            </p:extLst>
          </p:nvPr>
        </p:nvGraphicFramePr>
        <p:xfrm>
          <a:off x="5029200" y="1828800"/>
          <a:ext cx="3124200" cy="247396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20000"/>
                    </a:ext>
                  </a:extLst>
                </a:gridCol>
              </a:tblGrid>
              <a:tr h="370840">
                <a:tc>
                  <a:txBody>
                    <a:bodyPr/>
                    <a:lstStyle/>
                    <a:p>
                      <a:r>
                        <a:rPr lang="en-US" dirty="0"/>
                        <a:t>Class Name</a:t>
                      </a:r>
                    </a:p>
                  </a:txBody>
                  <a:tcPr/>
                </a:tc>
                <a:extLst>
                  <a:ext uri="{0D108BD9-81ED-4DB2-BD59-A6C34878D82A}">
                    <a16:rowId xmlns:a16="http://schemas.microsoft.com/office/drawing/2014/main" val="10000"/>
                  </a:ext>
                </a:extLst>
              </a:tr>
              <a:tr h="370840">
                <a:tc>
                  <a:txBody>
                    <a:bodyPr/>
                    <a:lstStyle/>
                    <a:p>
                      <a:r>
                        <a:rPr lang="en-US" dirty="0"/>
                        <a:t>Data fields</a:t>
                      </a:r>
                    </a:p>
                    <a:p>
                      <a:r>
                        <a:rPr lang="en-US" dirty="0"/>
                        <a:t>Properties</a:t>
                      </a:r>
                    </a:p>
                    <a:p>
                      <a:r>
                        <a:rPr lang="en-US" dirty="0"/>
                        <a:t>indexers</a:t>
                      </a:r>
                    </a:p>
                  </a:txBody>
                  <a:tcPr/>
                </a:tc>
                <a:extLst>
                  <a:ext uri="{0D108BD9-81ED-4DB2-BD59-A6C34878D82A}">
                    <a16:rowId xmlns:a16="http://schemas.microsoft.com/office/drawing/2014/main" val="10001"/>
                  </a:ext>
                </a:extLst>
              </a:tr>
              <a:tr h="370840">
                <a:tc>
                  <a:txBody>
                    <a:bodyPr/>
                    <a:lstStyle/>
                    <a:p>
                      <a:r>
                        <a:rPr lang="en-US" dirty="0"/>
                        <a:t>Constructors</a:t>
                      </a:r>
                    </a:p>
                    <a:p>
                      <a:r>
                        <a:rPr lang="en-US" dirty="0"/>
                        <a:t>Destructors</a:t>
                      </a:r>
                    </a:p>
                    <a:p>
                      <a:r>
                        <a:rPr lang="en-US" dirty="0"/>
                        <a:t>Functions</a:t>
                      </a:r>
                    </a:p>
                    <a:p>
                      <a:r>
                        <a:rPr lang="en-US" dirty="0"/>
                        <a:t>Events</a:t>
                      </a:r>
                    </a:p>
                  </a:txBody>
                  <a:tcPr/>
                </a:tc>
                <a:extLst>
                  <a:ext uri="{0D108BD9-81ED-4DB2-BD59-A6C34878D82A}">
                    <a16:rowId xmlns:a16="http://schemas.microsoft.com/office/drawing/2014/main" val="10002"/>
                  </a:ext>
                </a:extLst>
              </a:tr>
            </a:tbl>
          </a:graphicData>
        </a:graphic>
      </p:graphicFrame>
      <p:sp>
        <p:nvSpPr>
          <p:cNvPr id="6" name="Rectangle 5"/>
          <p:cNvSpPr/>
          <p:nvPr/>
        </p:nvSpPr>
        <p:spPr>
          <a:xfrm>
            <a:off x="914400" y="1219200"/>
            <a:ext cx="2667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General notation in UML</a:t>
            </a:r>
          </a:p>
        </p:txBody>
      </p:sp>
      <p:sp>
        <p:nvSpPr>
          <p:cNvPr id="7" name="Rectangle 6"/>
          <p:cNvSpPr/>
          <p:nvPr/>
        </p:nvSpPr>
        <p:spPr>
          <a:xfrm>
            <a:off x="4114800" y="1295400"/>
            <a:ext cx="39624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 C# </a:t>
            </a:r>
            <a:r>
              <a:rPr lang="en-US" dirty="0" err="1"/>
              <a:t>.net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Data fields</a:t>
            </a:r>
          </a:p>
        </p:txBody>
      </p:sp>
      <p:sp>
        <p:nvSpPr>
          <p:cNvPr id="3" name="Content Placeholder 2"/>
          <p:cNvSpPr>
            <a:spLocks noGrp="1"/>
          </p:cNvSpPr>
          <p:nvPr>
            <p:ph idx="1"/>
          </p:nvPr>
        </p:nvSpPr>
        <p:spPr>
          <a:xfrm>
            <a:off x="457200" y="838200"/>
            <a:ext cx="8229600" cy="5287963"/>
          </a:xfrm>
        </p:spPr>
        <p:txBody>
          <a:bodyPr/>
          <a:lstStyle/>
          <a:p>
            <a:r>
              <a:rPr lang="en-US" dirty="0"/>
              <a:t>It is used to store the data related to the class.</a:t>
            </a:r>
          </a:p>
          <a:p>
            <a:r>
              <a:rPr lang="en-US" dirty="0"/>
              <a:t>Except data fields no other member of a class can store the data.</a:t>
            </a:r>
          </a:p>
          <a:p>
            <a:r>
              <a:rPr lang="en-US" dirty="0"/>
              <a:t>To declare any data Field ,we use the following:- syntax</a:t>
            </a:r>
          </a:p>
          <a:p>
            <a:pPr>
              <a:buNone/>
            </a:pPr>
            <a:r>
              <a:rPr lang="en-US" dirty="0"/>
              <a:t>Access modifier </a:t>
            </a:r>
            <a:r>
              <a:rPr lang="en-US" dirty="0" err="1"/>
              <a:t>datatype</a:t>
            </a:r>
            <a:r>
              <a:rPr lang="en-US" dirty="0"/>
              <a:t> data field Name=[initializing value]</a:t>
            </a:r>
          </a:p>
          <a:p>
            <a:pPr>
              <a:buNone/>
            </a:pPr>
            <a:r>
              <a:rPr lang="en-US" dirty="0"/>
              <a:t>Ex:-public int Empid; string </a:t>
            </a:r>
            <a:r>
              <a:rPr lang="en-US" dirty="0" err="1"/>
              <a:t>Ename</a:t>
            </a:r>
            <a:r>
              <a:rPr lang="en-US" dirty="0"/>
              <a:t>; Double salary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Data fields (cont..)</a:t>
            </a:r>
          </a:p>
        </p:txBody>
      </p:sp>
      <p:sp>
        <p:nvSpPr>
          <p:cNvPr id="3" name="Content Placeholder 2"/>
          <p:cNvSpPr>
            <a:spLocks noGrp="1"/>
          </p:cNvSpPr>
          <p:nvPr>
            <p:ph idx="1"/>
          </p:nvPr>
        </p:nvSpPr>
        <p:spPr>
          <a:xfrm>
            <a:off x="457200" y="838200"/>
            <a:ext cx="8229600" cy="5287963"/>
          </a:xfrm>
        </p:spPr>
        <p:txBody>
          <a:bodyPr/>
          <a:lstStyle/>
          <a:p>
            <a:r>
              <a:rPr lang="en-US" dirty="0"/>
              <a:t>Access Modifiers:- These are used to define the scope of a class and its member </a:t>
            </a:r>
            <a:r>
              <a:rPr lang="en-US" dirty="0" err="1"/>
              <a:t>i.e</a:t>
            </a:r>
            <a:r>
              <a:rPr lang="en-US" dirty="0"/>
              <a:t> when can access it and when can’t .</a:t>
            </a:r>
          </a:p>
          <a:p>
            <a:r>
              <a:rPr lang="en-US" dirty="0"/>
              <a:t>C# support 5 access modifiers :-</a:t>
            </a:r>
          </a:p>
          <a:p>
            <a:pPr marL="571500" indent="-571500">
              <a:buAutoNum type="romanLcParenBoth"/>
            </a:pPr>
            <a:r>
              <a:rPr lang="en-US" dirty="0"/>
              <a:t>Private</a:t>
            </a:r>
          </a:p>
          <a:p>
            <a:pPr marL="571500" indent="-571500">
              <a:buAutoNum type="romanLcParenBoth"/>
            </a:pPr>
            <a:r>
              <a:rPr lang="en-US" dirty="0"/>
              <a:t>Internal </a:t>
            </a:r>
          </a:p>
          <a:p>
            <a:pPr marL="571500" indent="-571500">
              <a:buAutoNum type="romanLcParenBoth"/>
            </a:pPr>
            <a:r>
              <a:rPr lang="en-US" dirty="0"/>
              <a:t>Protected</a:t>
            </a:r>
          </a:p>
          <a:p>
            <a:pPr marL="571500" indent="-571500">
              <a:buAutoNum type="romanLcParenBoth"/>
            </a:pPr>
            <a:r>
              <a:rPr lang="en-US" dirty="0"/>
              <a:t>Public</a:t>
            </a:r>
          </a:p>
          <a:p>
            <a:pPr marL="571500" indent="-571500">
              <a:buAutoNum type="romanLcParenBoth"/>
            </a:pPr>
            <a:r>
              <a:rPr lang="en-US" dirty="0"/>
              <a:t>Protected internal</a:t>
            </a:r>
          </a:p>
        </p:txBody>
      </p:sp>
      <p:sp>
        <p:nvSpPr>
          <p:cNvPr id="4" name="Rectangle 3"/>
          <p:cNvSpPr/>
          <p:nvPr/>
        </p:nvSpPr>
        <p:spPr>
          <a:xfrm>
            <a:off x="4724400" y="3124200"/>
            <a:ext cx="3810000" cy="2590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Default  accessibility of a class is internal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Functions</a:t>
            </a:r>
          </a:p>
        </p:txBody>
      </p:sp>
      <p:sp>
        <p:nvSpPr>
          <p:cNvPr id="3" name="Content Placeholder 2"/>
          <p:cNvSpPr>
            <a:spLocks noGrp="1"/>
          </p:cNvSpPr>
          <p:nvPr>
            <p:ph idx="1"/>
          </p:nvPr>
        </p:nvSpPr>
        <p:spPr>
          <a:xfrm>
            <a:off x="457200" y="838200"/>
            <a:ext cx="8229600" cy="5287963"/>
          </a:xfrm>
        </p:spPr>
        <p:txBody>
          <a:bodyPr/>
          <a:lstStyle/>
          <a:p>
            <a:r>
              <a:rPr lang="en-US" dirty="0"/>
              <a:t>Any programming language will have methods</a:t>
            </a:r>
          </a:p>
          <a:p>
            <a:r>
              <a:rPr lang="en-US" dirty="0"/>
              <a:t>A method is a re-usable piece of code which can be called again and again and used to perform required tasks.</a:t>
            </a:r>
          </a:p>
          <a:p>
            <a:r>
              <a:rPr lang="en-US" dirty="0"/>
              <a:t>In any programming language a method can be of two types.</a:t>
            </a:r>
          </a:p>
          <a:p>
            <a:pPr marL="571500" indent="-571500">
              <a:buAutoNum type="romanLcParenBoth"/>
            </a:pPr>
            <a:r>
              <a:rPr lang="en-US" dirty="0"/>
              <a:t>Procedures (main)</a:t>
            </a:r>
          </a:p>
          <a:p>
            <a:pPr marL="571500" indent="-571500">
              <a:buAutoNum type="romanLcParenBoth"/>
            </a:pPr>
            <a:r>
              <a:rPr lang="en-US" dirty="0"/>
              <a:t>functions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Function (cont..)</a:t>
            </a:r>
          </a:p>
        </p:txBody>
      </p:sp>
      <p:sp>
        <p:nvSpPr>
          <p:cNvPr id="3" name="Content Placeholder 2"/>
          <p:cNvSpPr>
            <a:spLocks noGrp="1"/>
          </p:cNvSpPr>
          <p:nvPr>
            <p:ph idx="1"/>
          </p:nvPr>
        </p:nvSpPr>
        <p:spPr>
          <a:xfrm>
            <a:off x="457200" y="838200"/>
            <a:ext cx="8229600" cy="5287963"/>
          </a:xfrm>
        </p:spPr>
        <p:txBody>
          <a:bodyPr/>
          <a:lstStyle/>
          <a:p>
            <a:r>
              <a:rPr lang="en-US" dirty="0"/>
              <a:t>A procedures is a method which doesn't return any value to the calling place.</a:t>
            </a:r>
          </a:p>
          <a:p>
            <a:r>
              <a:rPr lang="en-US" dirty="0"/>
              <a:t>A function is a method which always will return some value to the calling place, mentioning </a:t>
            </a:r>
            <a:r>
              <a:rPr lang="en-US" b="1" dirty="0"/>
              <a:t>return type is compulsory</a:t>
            </a:r>
            <a:r>
              <a:rPr lang="en-US" dirty="0"/>
              <a:t>  if function </a:t>
            </a:r>
            <a:r>
              <a:rPr lang="en-US" b="1" dirty="0"/>
              <a:t>does not</a:t>
            </a:r>
            <a:r>
              <a:rPr lang="en-US" dirty="0"/>
              <a:t> return any value then mention return type as </a:t>
            </a:r>
            <a:r>
              <a:rPr lang="en-US" b="1" dirty="0"/>
              <a:t>void.</a:t>
            </a:r>
          </a:p>
          <a:p>
            <a:r>
              <a:rPr lang="en-US" b="1" dirty="0"/>
              <a:t>Note </a:t>
            </a:r>
            <a:r>
              <a:rPr lang="en-US" dirty="0"/>
              <a:t>:-c# </a:t>
            </a:r>
            <a:r>
              <a:rPr lang="en-US" dirty="0" err="1"/>
              <a:t>.net</a:t>
            </a:r>
            <a:r>
              <a:rPr lang="en-US" dirty="0"/>
              <a:t> will support only functions and doesn’t support procedures, where as vb.net will support both function and procedures.</a:t>
            </a:r>
            <a:endParaRPr lang="en-US"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US" dirty="0"/>
              <a:t>Program to create and to consume </a:t>
            </a:r>
            <a:r>
              <a:rPr lang="en-US" dirty="0">
                <a:hlinkClick r:id="rId2" action="ppaction://hlinkfile"/>
              </a:rPr>
              <a:t>ex</a:t>
            </a:r>
            <a:endParaRPr lang="en-US" dirty="0"/>
          </a:p>
          <a:p>
            <a:r>
              <a:rPr lang="en-US" dirty="0"/>
              <a:t>To  access any member of a class, with the help of object we use </a:t>
            </a:r>
            <a:r>
              <a:rPr lang="en-US" b="1" dirty="0"/>
              <a:t>. </a:t>
            </a:r>
            <a:r>
              <a:rPr lang="en-US" dirty="0"/>
              <a:t>(dot) operator known as Member Access operator like </a:t>
            </a:r>
            <a:r>
              <a:rPr lang="en-US" dirty="0" err="1"/>
              <a:t>Objectname.member</a:t>
            </a:r>
            <a:r>
              <a:rPr lang="en-US" dirty="0"/>
              <a:t> Name</a:t>
            </a:r>
          </a:p>
          <a:p>
            <a:r>
              <a:rPr lang="en-US" dirty="0"/>
              <a:t>when an object to a class is created, runtime will allot an memory for the members of a class and reference will be maintain from the object, this will be done by new Keyword/operator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If new keyword is not used, then memory will not be allotted to the data fields and no reference will be maintained from the object and raises an error as Null reference Errors.</a:t>
            </a:r>
          </a:p>
          <a:p>
            <a:r>
              <a:rPr lang="en-US" dirty="0"/>
              <a:t>this keyword: this is a keyword used to access the current class in the same class.</a:t>
            </a:r>
          </a:p>
          <a:p>
            <a:r>
              <a:rPr lang="en-US" dirty="0"/>
              <a:t>This is an object for the current class in the same class.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How Encapsulation is Implemented</a:t>
            </a:r>
          </a:p>
        </p:txBody>
      </p:sp>
      <p:sp>
        <p:nvSpPr>
          <p:cNvPr id="3" name="Content Placeholder 2"/>
          <p:cNvSpPr>
            <a:spLocks noGrp="1"/>
          </p:cNvSpPr>
          <p:nvPr>
            <p:ph idx="1"/>
          </p:nvPr>
        </p:nvSpPr>
        <p:spPr>
          <a:xfrm>
            <a:off x="457200" y="762000"/>
            <a:ext cx="8229600" cy="5364163"/>
          </a:xfrm>
        </p:spPr>
        <p:txBody>
          <a:bodyPr/>
          <a:lstStyle/>
          <a:p>
            <a:r>
              <a:rPr lang="en-US" dirty="0"/>
              <a:t>Encapsulation(ex:-class </a:t>
            </a:r>
            <a:r>
              <a:rPr lang="en-US" dirty="0">
                <a:hlinkClick r:id="rId2" action="ppaction://hlinkfile"/>
              </a:rPr>
              <a:t>salary</a:t>
            </a:r>
            <a:r>
              <a:rPr lang="en-US" dirty="0"/>
              <a:t>)</a:t>
            </a:r>
          </a:p>
          <a:p>
            <a:r>
              <a:rPr lang="en-US" dirty="0"/>
              <a:t>Start-&gt;program-&gt;visual studio 2010-&gt;file-&gt;new-&gt; project-&gt; select visual c#-&gt; console application-&gt;type application name ex:- (</a:t>
            </a:r>
            <a:r>
              <a:rPr lang="en-US" dirty="0" err="1"/>
              <a:t>ClsExample</a:t>
            </a:r>
            <a:r>
              <a:rPr lang="en-US" dirty="0"/>
              <a:t>)-&gt; select your own location where you want to save -&gt;ok</a:t>
            </a:r>
          </a:p>
          <a:p>
            <a:r>
              <a:rPr lang="en-US" dirty="0"/>
              <a:t>Rename the </a:t>
            </a:r>
            <a:r>
              <a:rPr lang="en-US" dirty="0" err="1"/>
              <a:t>program.cs</a:t>
            </a:r>
            <a:r>
              <a:rPr lang="en-US" dirty="0"/>
              <a:t> /class name:- Go to solution explorer-&gt;</a:t>
            </a:r>
            <a:r>
              <a:rPr lang="en-US" dirty="0" err="1"/>
              <a:t>program.cs</a:t>
            </a:r>
            <a:r>
              <a:rPr lang="en-US" dirty="0"/>
              <a:t>-&gt; right click on </a:t>
            </a:r>
            <a:r>
              <a:rPr lang="en-US" dirty="0" err="1"/>
              <a:t>program.cs</a:t>
            </a:r>
            <a:r>
              <a:rPr lang="en-US" dirty="0"/>
              <a:t>-&gt;rename -&gt;new name(ex:-</a:t>
            </a:r>
            <a:r>
              <a:rPr lang="en-US" dirty="0" err="1"/>
              <a:t>ClsSalary.cs</a:t>
            </a:r>
            <a:r>
              <a:rPr lang="en-US"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dirty="0"/>
              <a:t>Cont..</a:t>
            </a:r>
          </a:p>
        </p:txBody>
      </p:sp>
      <p:sp>
        <p:nvSpPr>
          <p:cNvPr id="3" name="Content Placeholder 2"/>
          <p:cNvSpPr>
            <a:spLocks noGrp="1"/>
          </p:cNvSpPr>
          <p:nvPr>
            <p:ph idx="1"/>
          </p:nvPr>
        </p:nvSpPr>
        <p:spPr>
          <a:xfrm>
            <a:off x="457200" y="762000"/>
            <a:ext cx="8229600" cy="5364163"/>
          </a:xfrm>
        </p:spPr>
        <p:txBody>
          <a:bodyPr/>
          <a:lstStyle/>
          <a:p>
            <a:r>
              <a:rPr lang="en-US" dirty="0"/>
              <a:t>In the above example when obj1.GetSalData() function is called obj1 reference will be copied on to this keyword / obj1 referenced data fields will be bound to </a:t>
            </a:r>
            <a:r>
              <a:rPr lang="en-US" dirty="0" err="1"/>
              <a:t>GetSalData</a:t>
            </a:r>
            <a:r>
              <a:rPr lang="en-US" dirty="0"/>
              <a:t>() function.</a:t>
            </a:r>
          </a:p>
          <a:p>
            <a:r>
              <a:rPr lang="en-US" dirty="0"/>
              <a:t>Similarly for </a:t>
            </a:r>
            <a:r>
              <a:rPr lang="en-US" dirty="0" err="1"/>
              <a:t>DisplaySalData</a:t>
            </a:r>
            <a:r>
              <a:rPr lang="en-US" dirty="0"/>
              <a:t>() function also i.e. when ever any function is called with any object of the class that object referenced data fields(member variables ) will be bound to the respective Member function, this feature we call as </a:t>
            </a:r>
            <a:r>
              <a:rPr lang="en-US" b="1" dirty="0"/>
              <a:t>Encapsulation</a:t>
            </a:r>
            <a:r>
              <a:rPr lang="en-US" dirty="0"/>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New keyword  doing 3 thins</a:t>
            </a:r>
          </a:p>
        </p:txBody>
      </p:sp>
      <p:sp>
        <p:nvSpPr>
          <p:cNvPr id="3" name="Content Placeholder 2"/>
          <p:cNvSpPr>
            <a:spLocks noGrp="1"/>
          </p:cNvSpPr>
          <p:nvPr>
            <p:ph idx="1"/>
          </p:nvPr>
        </p:nvSpPr>
        <p:spPr>
          <a:xfrm>
            <a:off x="457200" y="914400"/>
            <a:ext cx="8229600" cy="5211763"/>
          </a:xfrm>
        </p:spPr>
        <p:txBody>
          <a:bodyPr/>
          <a:lstStyle/>
          <a:p>
            <a:r>
              <a:rPr lang="en-US" dirty="0"/>
              <a:t>Read the classes:-where in this process it identify each and every member that is defined in the class.</a:t>
            </a:r>
          </a:p>
          <a:p>
            <a:r>
              <a:rPr lang="en-US" dirty="0"/>
              <a:t>Invokes the constructor</a:t>
            </a:r>
          </a:p>
          <a:p>
            <a:r>
              <a:rPr lang="en-US" dirty="0"/>
              <a:t>Allocate the memory required.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constructor</a:t>
            </a:r>
          </a:p>
        </p:txBody>
      </p:sp>
      <p:sp>
        <p:nvSpPr>
          <p:cNvPr id="3" name="Content Placeholder 2"/>
          <p:cNvSpPr>
            <a:spLocks noGrp="1"/>
          </p:cNvSpPr>
          <p:nvPr>
            <p:ph idx="1"/>
          </p:nvPr>
        </p:nvSpPr>
        <p:spPr>
          <a:xfrm>
            <a:off x="457200" y="838200"/>
            <a:ext cx="8229600" cy="5287963"/>
          </a:xfrm>
        </p:spPr>
        <p:txBody>
          <a:bodyPr/>
          <a:lstStyle/>
          <a:p>
            <a:r>
              <a:rPr lang="en-US" dirty="0"/>
              <a:t>A constructor is a member method of a class which is invoked automatically when an object to the class is created.</a:t>
            </a:r>
          </a:p>
          <a:p>
            <a:r>
              <a:rPr lang="en-US" dirty="0"/>
              <a:t>It’s a special method present in a class which represented for initializing the variable of your class.</a:t>
            </a:r>
          </a:p>
          <a:p>
            <a:r>
              <a:rPr lang="en-US" dirty="0"/>
              <a:t>A constructor  name should be same name as class name.</a:t>
            </a:r>
          </a:p>
          <a:p>
            <a:r>
              <a:rPr lang="en-US" dirty="0"/>
              <a:t>A constructor does not have any return type even void also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dirty="0"/>
              <a:t>Constructor (cont..)</a:t>
            </a:r>
          </a:p>
        </p:txBody>
      </p:sp>
      <p:sp>
        <p:nvSpPr>
          <p:cNvPr id="3" name="Content Placeholder 2"/>
          <p:cNvSpPr>
            <a:spLocks noGrp="1"/>
          </p:cNvSpPr>
          <p:nvPr>
            <p:ph idx="1"/>
          </p:nvPr>
        </p:nvSpPr>
        <p:spPr>
          <a:xfrm>
            <a:off x="457200" y="685800"/>
            <a:ext cx="8229600" cy="5440363"/>
          </a:xfrm>
        </p:spPr>
        <p:txBody>
          <a:bodyPr/>
          <a:lstStyle/>
          <a:p>
            <a:r>
              <a:rPr lang="en-US" dirty="0"/>
              <a:t>A constructor is used to keep something ready for the object when it is created.</a:t>
            </a:r>
          </a:p>
          <a:p>
            <a:r>
              <a:rPr lang="en-US" dirty="0"/>
              <a:t>A constructor is used to initialize require values in to the data fields of the class or to pass the required value in to the data fields or to make required valued is establishing connection to data case, keeping the file open to perform some operation </a:t>
            </a:r>
            <a:r>
              <a:rPr lang="en-US" dirty="0" err="1"/>
              <a:t>etc,when</a:t>
            </a:r>
            <a:r>
              <a:rPr lang="en-US" dirty="0"/>
              <a:t> an object is created</a:t>
            </a:r>
          </a:p>
          <a:p>
            <a:r>
              <a:rPr lang="en-US" dirty="0"/>
              <a:t>Class contain more then one constructor.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Constructor (cont..)</a:t>
            </a:r>
          </a:p>
        </p:txBody>
      </p:sp>
      <p:sp>
        <p:nvSpPr>
          <p:cNvPr id="3" name="Content Placeholder 2"/>
          <p:cNvSpPr>
            <a:spLocks noGrp="1"/>
          </p:cNvSpPr>
          <p:nvPr>
            <p:ph idx="1"/>
          </p:nvPr>
        </p:nvSpPr>
        <p:spPr>
          <a:xfrm>
            <a:off x="457200" y="838200"/>
            <a:ext cx="8229600" cy="5287963"/>
          </a:xfrm>
        </p:spPr>
        <p:txBody>
          <a:bodyPr/>
          <a:lstStyle/>
          <a:p>
            <a:r>
              <a:rPr lang="en-US" dirty="0"/>
              <a:t>A class can not execute if at all it doesn't contain a constructor in it. wherever the compiler compile a class  it verifies the programmer defined a constructor in a class or not. if not defined then the compiler  will be defined implicitly to met the class to execute.</a:t>
            </a:r>
          </a:p>
          <a:p>
            <a:r>
              <a:rPr lang="en-US" dirty="0"/>
              <a:t>Different types of constructor:-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Constructor (cont..)</a:t>
            </a:r>
          </a:p>
        </p:txBody>
      </p:sp>
      <p:sp>
        <p:nvSpPr>
          <p:cNvPr id="3" name="Content Placeholder 2"/>
          <p:cNvSpPr>
            <a:spLocks noGrp="1"/>
          </p:cNvSpPr>
          <p:nvPr>
            <p:ph idx="1"/>
          </p:nvPr>
        </p:nvSpPr>
        <p:spPr>
          <a:xfrm>
            <a:off x="457200" y="762000"/>
            <a:ext cx="8229600" cy="5364163"/>
          </a:xfrm>
        </p:spPr>
        <p:txBody>
          <a:bodyPr/>
          <a:lstStyle/>
          <a:p>
            <a:endParaRPr lang="en-US" dirty="0"/>
          </a:p>
        </p:txBody>
      </p:sp>
      <p:sp>
        <p:nvSpPr>
          <p:cNvPr id="4" name="Rectangle 3"/>
          <p:cNvSpPr/>
          <p:nvPr/>
        </p:nvSpPr>
        <p:spPr>
          <a:xfrm>
            <a:off x="3429000" y="838200"/>
            <a:ext cx="2209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Types of constructor</a:t>
            </a:r>
          </a:p>
        </p:txBody>
      </p:sp>
      <p:cxnSp>
        <p:nvCxnSpPr>
          <p:cNvPr id="10" name="Straight Arrow Connector 9"/>
          <p:cNvCxnSpPr>
            <a:stCxn id="4" idx="2"/>
          </p:cNvCxnSpPr>
          <p:nvPr/>
        </p:nvCxnSpPr>
        <p:spPr>
          <a:xfrm rot="16200000" flipH="1">
            <a:off x="4438650" y="1238250"/>
            <a:ext cx="228600" cy="3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657600" y="1295400"/>
            <a:ext cx="1828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a:off x="5372100" y="14097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3543300" y="14097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2286000" y="1524000"/>
            <a:ext cx="2667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Non Static  constructor</a:t>
            </a:r>
          </a:p>
        </p:txBody>
      </p:sp>
      <p:sp>
        <p:nvSpPr>
          <p:cNvPr id="18" name="Rectangle 17"/>
          <p:cNvSpPr/>
          <p:nvPr/>
        </p:nvSpPr>
        <p:spPr>
          <a:xfrm>
            <a:off x="5105400" y="1524000"/>
            <a:ext cx="22098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Static  const..</a:t>
            </a:r>
          </a:p>
        </p:txBody>
      </p:sp>
      <p:cxnSp>
        <p:nvCxnSpPr>
          <p:cNvPr id="20" name="Straight Arrow Connector 19"/>
          <p:cNvCxnSpPr>
            <a:stCxn id="17" idx="2"/>
          </p:cNvCxnSpPr>
          <p:nvPr/>
        </p:nvCxnSpPr>
        <p:spPr>
          <a:xfrm rot="16200000" flipH="1">
            <a:off x="3600450" y="1771650"/>
            <a:ext cx="304800" cy="266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066800" y="2057400"/>
            <a:ext cx="4572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a:off x="800100" y="22479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3239294" y="2323306"/>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5372894" y="2247106"/>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457200" y="2438400"/>
            <a:ext cx="15240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default const..</a:t>
            </a:r>
          </a:p>
        </p:txBody>
      </p:sp>
      <p:sp>
        <p:nvSpPr>
          <p:cNvPr id="37" name="Rectangle 36"/>
          <p:cNvSpPr/>
          <p:nvPr/>
        </p:nvSpPr>
        <p:spPr>
          <a:xfrm>
            <a:off x="2667000" y="2514600"/>
            <a:ext cx="15240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parameterized const..</a:t>
            </a:r>
          </a:p>
        </p:txBody>
      </p:sp>
      <p:sp>
        <p:nvSpPr>
          <p:cNvPr id="38" name="Rectangle 37"/>
          <p:cNvSpPr/>
          <p:nvPr/>
        </p:nvSpPr>
        <p:spPr>
          <a:xfrm>
            <a:off x="4419600" y="2590800"/>
            <a:ext cx="15240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copy const..</a:t>
            </a:r>
          </a:p>
        </p:txBody>
      </p:sp>
      <p:cxnSp>
        <p:nvCxnSpPr>
          <p:cNvPr id="41" name="Straight Arrow Connector 40"/>
          <p:cNvCxnSpPr/>
          <p:nvPr/>
        </p:nvCxnSpPr>
        <p:spPr>
          <a:xfrm rot="5400000">
            <a:off x="1028700" y="33909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533400" y="3962400"/>
            <a:ext cx="1524000" cy="1219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User defined </a:t>
            </a:r>
            <a:r>
              <a:rPr lang="en-US" dirty="0" err="1"/>
              <a:t>defult</a:t>
            </a:r>
            <a:r>
              <a:rPr lang="en-US" dirty="0"/>
              <a:t>  const..</a:t>
            </a:r>
          </a:p>
        </p:txBody>
      </p:sp>
      <p:sp>
        <p:nvSpPr>
          <p:cNvPr id="43" name="Rectangle 42"/>
          <p:cNvSpPr/>
          <p:nvPr/>
        </p:nvSpPr>
        <p:spPr>
          <a:xfrm>
            <a:off x="2286000" y="3962400"/>
            <a:ext cx="1524000" cy="1143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System defined </a:t>
            </a:r>
            <a:r>
              <a:rPr lang="en-US" dirty="0" err="1"/>
              <a:t>defult</a:t>
            </a:r>
            <a:r>
              <a:rPr lang="en-US" dirty="0"/>
              <a:t>  const..</a:t>
            </a:r>
          </a:p>
        </p:txBody>
      </p:sp>
      <p:cxnSp>
        <p:nvCxnSpPr>
          <p:cNvPr id="45" name="Straight Connector 44"/>
          <p:cNvCxnSpPr/>
          <p:nvPr/>
        </p:nvCxnSpPr>
        <p:spPr>
          <a:xfrm>
            <a:off x="762000" y="3581400"/>
            <a:ext cx="1752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rot="5400000">
            <a:off x="572294" y="3771106"/>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5400000">
            <a:off x="2324894" y="3771106"/>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Constructor syntax</a:t>
            </a:r>
          </a:p>
        </p:txBody>
      </p:sp>
      <p:sp>
        <p:nvSpPr>
          <p:cNvPr id="3" name="Content Placeholder 2"/>
          <p:cNvSpPr>
            <a:spLocks noGrp="1"/>
          </p:cNvSpPr>
          <p:nvPr>
            <p:ph idx="1"/>
          </p:nvPr>
        </p:nvSpPr>
        <p:spPr>
          <a:xfrm>
            <a:off x="457200" y="685800"/>
            <a:ext cx="8229600" cy="5440363"/>
          </a:xfrm>
        </p:spPr>
        <p:txBody>
          <a:bodyPr/>
          <a:lstStyle/>
          <a:p>
            <a:pPr>
              <a:buNone/>
            </a:pPr>
            <a:r>
              <a:rPr lang="en-US" dirty="0"/>
              <a:t>[&lt;modifier&gt;]&lt;Name&gt;([&lt;</a:t>
            </a:r>
            <a:r>
              <a:rPr lang="en-US" dirty="0" err="1"/>
              <a:t>param</a:t>
            </a:r>
            <a:r>
              <a:rPr lang="en-US" dirty="0"/>
              <a:t> </a:t>
            </a:r>
            <a:r>
              <a:rPr lang="en-US" dirty="0" err="1"/>
              <a:t>define’s</a:t>
            </a:r>
            <a:r>
              <a:rPr lang="en-US" dirty="0"/>
              <a:t>&gt;])</a:t>
            </a:r>
          </a:p>
          <a:p>
            <a:pPr>
              <a:buNone/>
            </a:pPr>
            <a:r>
              <a:rPr lang="en-US" dirty="0"/>
              <a:t>{</a:t>
            </a:r>
          </a:p>
          <a:p>
            <a:pPr>
              <a:buNone/>
            </a:pPr>
            <a:r>
              <a:rPr lang="en-US" dirty="0"/>
              <a:t>	statement;</a:t>
            </a:r>
          </a:p>
          <a:p>
            <a:pPr>
              <a:buNone/>
            </a:pPr>
            <a:r>
              <a:rPr lang="en-US" dirty="0"/>
              <a:t>}</a:t>
            </a:r>
          </a:p>
          <a:p>
            <a:pPr>
              <a:buNone/>
            </a:pPr>
            <a:r>
              <a:rPr lang="en-US" dirty="0">
                <a:hlinkClick r:id="rId2" action="ppaction://hlinkfile"/>
              </a:rPr>
              <a:t>Constructor</a:t>
            </a:r>
            <a:r>
              <a:rPr lang="en-US" dirty="0"/>
              <a:t> Demo (default constructor)</a:t>
            </a:r>
          </a:p>
          <a:p>
            <a:pPr>
              <a:buNone/>
            </a:pPr>
            <a:r>
              <a:rPr lang="en-US" dirty="0"/>
              <a:t>Parameterized </a:t>
            </a:r>
            <a:r>
              <a:rPr lang="en-US" dirty="0">
                <a:hlinkClick r:id="rId3" action="ppaction://hlinkfile"/>
              </a:rPr>
              <a:t>constructor</a:t>
            </a:r>
            <a:endParaRPr lang="en-US" dirty="0"/>
          </a:p>
          <a:p>
            <a:pPr>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Customers table</a:t>
            </a:r>
          </a:p>
        </p:txBody>
      </p:sp>
      <p:graphicFrame>
        <p:nvGraphicFramePr>
          <p:cNvPr id="4" name="Content Placeholder 3"/>
          <p:cNvGraphicFramePr>
            <a:graphicFrameLocks noGrp="1"/>
          </p:cNvGraphicFramePr>
          <p:nvPr>
            <p:ph idx="1"/>
          </p:nvPr>
        </p:nvGraphicFramePr>
        <p:xfrm>
          <a:off x="457200" y="762000"/>
          <a:ext cx="8229600" cy="14833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r>
                        <a:rPr lang="en-US" dirty="0" err="1"/>
                        <a:t>Cust</a:t>
                      </a:r>
                      <a:r>
                        <a:rPr lang="en-US" baseline="0" dirty="0" err="1"/>
                        <a:t>Id</a:t>
                      </a:r>
                      <a:endParaRPr lang="en-US" dirty="0"/>
                    </a:p>
                  </a:txBody>
                  <a:tcPr/>
                </a:tc>
                <a:tc>
                  <a:txBody>
                    <a:bodyPr/>
                    <a:lstStyle/>
                    <a:p>
                      <a:r>
                        <a:rPr lang="en-US" dirty="0" err="1"/>
                        <a:t>Cname</a:t>
                      </a:r>
                      <a:endParaRPr lang="en-US" dirty="0"/>
                    </a:p>
                  </a:txBody>
                  <a:tcPr/>
                </a:tc>
                <a:tc>
                  <a:txBody>
                    <a:bodyPr/>
                    <a:lstStyle/>
                    <a:p>
                      <a:r>
                        <a:rPr lang="en-US" dirty="0" err="1"/>
                        <a:t>Cbal</a:t>
                      </a:r>
                      <a:endParaRPr lang="en-US" dirty="0"/>
                    </a:p>
                  </a:txBody>
                  <a:tcPr/>
                </a:tc>
                <a:extLst>
                  <a:ext uri="{0D108BD9-81ED-4DB2-BD59-A6C34878D82A}">
                    <a16:rowId xmlns:a16="http://schemas.microsoft.com/office/drawing/2014/main" val="10000"/>
                  </a:ext>
                </a:extLst>
              </a:tr>
              <a:tr h="370840">
                <a:tc>
                  <a:txBody>
                    <a:bodyPr/>
                    <a:lstStyle/>
                    <a:p>
                      <a:r>
                        <a:rPr lang="en-US" dirty="0"/>
                        <a:t>101</a:t>
                      </a:r>
                    </a:p>
                  </a:txBody>
                  <a:tcPr/>
                </a:tc>
                <a:tc>
                  <a:txBody>
                    <a:bodyPr/>
                    <a:lstStyle/>
                    <a:p>
                      <a:r>
                        <a:rPr lang="en-US" dirty="0"/>
                        <a:t>Xxx</a:t>
                      </a:r>
                    </a:p>
                  </a:txBody>
                  <a:tcPr/>
                </a:tc>
                <a:tc>
                  <a:txBody>
                    <a:bodyPr/>
                    <a:lstStyle/>
                    <a:p>
                      <a:r>
                        <a:rPr lang="en-US" dirty="0"/>
                        <a:t>5000</a:t>
                      </a:r>
                    </a:p>
                  </a:txBody>
                  <a:tcPr/>
                </a:tc>
                <a:extLst>
                  <a:ext uri="{0D108BD9-81ED-4DB2-BD59-A6C34878D82A}">
                    <a16:rowId xmlns:a16="http://schemas.microsoft.com/office/drawing/2014/main" val="10001"/>
                  </a:ext>
                </a:extLst>
              </a:tr>
              <a:tr h="370840">
                <a:tc>
                  <a:txBody>
                    <a:bodyPr/>
                    <a:lstStyle/>
                    <a:p>
                      <a:r>
                        <a:rPr lang="en-US" dirty="0"/>
                        <a:t>102</a:t>
                      </a:r>
                    </a:p>
                  </a:txBody>
                  <a:tcPr/>
                </a:tc>
                <a:tc>
                  <a:txBody>
                    <a:bodyPr/>
                    <a:lstStyle/>
                    <a:p>
                      <a:r>
                        <a:rPr lang="en-US" dirty="0" err="1"/>
                        <a:t>Yyy</a:t>
                      </a:r>
                      <a:endParaRPr lang="en-US" dirty="0"/>
                    </a:p>
                  </a:txBody>
                  <a:tcPr/>
                </a:tc>
                <a:tc>
                  <a:txBody>
                    <a:bodyPr/>
                    <a:lstStyle/>
                    <a:p>
                      <a:r>
                        <a:rPr lang="en-US" dirty="0"/>
                        <a:t>12000</a:t>
                      </a:r>
                    </a:p>
                  </a:txBody>
                  <a:tcPr/>
                </a:tc>
                <a:extLst>
                  <a:ext uri="{0D108BD9-81ED-4DB2-BD59-A6C34878D82A}">
                    <a16:rowId xmlns:a16="http://schemas.microsoft.com/office/drawing/2014/main" val="10002"/>
                  </a:ext>
                </a:extLst>
              </a:tr>
              <a:tr h="370840">
                <a:tc>
                  <a:txBody>
                    <a:bodyPr/>
                    <a:lstStyle/>
                    <a:p>
                      <a:r>
                        <a:rPr lang="en-US" dirty="0"/>
                        <a:t>103</a:t>
                      </a:r>
                    </a:p>
                  </a:txBody>
                  <a:tcPr/>
                </a:tc>
                <a:tc>
                  <a:txBody>
                    <a:bodyPr/>
                    <a:lstStyle/>
                    <a:p>
                      <a:r>
                        <a:rPr lang="en-US" dirty="0" err="1"/>
                        <a:t>Zzz</a:t>
                      </a:r>
                      <a:endParaRPr lang="en-US" dirty="0"/>
                    </a:p>
                  </a:txBody>
                  <a:tcPr/>
                </a:tc>
                <a:tc>
                  <a:txBody>
                    <a:bodyPr/>
                    <a:lstStyle/>
                    <a:p>
                      <a:r>
                        <a:rPr lang="en-US" dirty="0"/>
                        <a:t>15000</a:t>
                      </a:r>
                    </a:p>
                  </a:txBody>
                  <a:tcPr/>
                </a:tc>
                <a:extLst>
                  <a:ext uri="{0D108BD9-81ED-4DB2-BD59-A6C34878D82A}">
                    <a16:rowId xmlns:a16="http://schemas.microsoft.com/office/drawing/2014/main" val="10003"/>
                  </a:ext>
                </a:extLst>
              </a:tr>
            </a:tbl>
          </a:graphicData>
        </a:graphic>
      </p:graphicFrame>
      <p:sp>
        <p:nvSpPr>
          <p:cNvPr id="5" name="Rectangle 4"/>
          <p:cNvSpPr/>
          <p:nvPr/>
        </p:nvSpPr>
        <p:spPr>
          <a:xfrm>
            <a:off x="914400" y="2514600"/>
            <a:ext cx="4724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Customer c1=new Customer(101)</a:t>
            </a:r>
          </a:p>
          <a:p>
            <a:pPr algn="ctr"/>
            <a:r>
              <a:rPr lang="en-US" dirty="0"/>
              <a:t>Customer c2=new Customer(102)</a:t>
            </a:r>
          </a:p>
        </p:txBody>
      </p:sp>
      <p:sp>
        <p:nvSpPr>
          <p:cNvPr id="6" name="Rectangle 5"/>
          <p:cNvSpPr/>
          <p:nvPr/>
        </p:nvSpPr>
        <p:spPr>
          <a:xfrm>
            <a:off x="533400" y="3657600"/>
            <a:ext cx="24384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143000" y="5410200"/>
            <a:ext cx="685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c1</a:t>
            </a:r>
          </a:p>
        </p:txBody>
      </p:sp>
      <p:sp>
        <p:nvSpPr>
          <p:cNvPr id="8" name="Oval 7"/>
          <p:cNvSpPr/>
          <p:nvPr/>
        </p:nvSpPr>
        <p:spPr>
          <a:xfrm>
            <a:off x="762000" y="3886200"/>
            <a:ext cx="9144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101</a:t>
            </a:r>
          </a:p>
        </p:txBody>
      </p:sp>
      <p:sp>
        <p:nvSpPr>
          <p:cNvPr id="9" name="Oval 8"/>
          <p:cNvSpPr/>
          <p:nvPr/>
        </p:nvSpPr>
        <p:spPr>
          <a:xfrm>
            <a:off x="762000" y="4495800"/>
            <a:ext cx="990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5000</a:t>
            </a:r>
          </a:p>
        </p:txBody>
      </p:sp>
      <p:sp>
        <p:nvSpPr>
          <p:cNvPr id="10" name="Rectangle 9"/>
          <p:cNvSpPr/>
          <p:nvPr/>
        </p:nvSpPr>
        <p:spPr>
          <a:xfrm>
            <a:off x="1905000" y="40386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custId</a:t>
            </a:r>
            <a:endParaRPr lang="en-US" dirty="0"/>
          </a:p>
        </p:txBody>
      </p:sp>
      <p:sp>
        <p:nvSpPr>
          <p:cNvPr id="11" name="Rectangle 10"/>
          <p:cNvSpPr/>
          <p:nvPr/>
        </p:nvSpPr>
        <p:spPr>
          <a:xfrm>
            <a:off x="1828800" y="4724400"/>
            <a:ext cx="990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Cbal</a:t>
            </a:r>
            <a:endParaRPr lang="en-US" dirty="0"/>
          </a:p>
        </p:txBody>
      </p:sp>
      <p:sp>
        <p:nvSpPr>
          <p:cNvPr id="12" name="Rectangle 11"/>
          <p:cNvSpPr/>
          <p:nvPr/>
        </p:nvSpPr>
        <p:spPr>
          <a:xfrm>
            <a:off x="3352800" y="3581400"/>
            <a:ext cx="2590800" cy="1600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3505200" y="3810000"/>
            <a:ext cx="1143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102</a:t>
            </a:r>
          </a:p>
        </p:txBody>
      </p:sp>
      <p:sp>
        <p:nvSpPr>
          <p:cNvPr id="14" name="Oval 13"/>
          <p:cNvSpPr/>
          <p:nvPr/>
        </p:nvSpPr>
        <p:spPr>
          <a:xfrm>
            <a:off x="3429000" y="4495800"/>
            <a:ext cx="1143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12000</a:t>
            </a:r>
          </a:p>
        </p:txBody>
      </p:sp>
      <p:sp>
        <p:nvSpPr>
          <p:cNvPr id="15" name="Rectangle 14"/>
          <p:cNvSpPr/>
          <p:nvPr/>
        </p:nvSpPr>
        <p:spPr>
          <a:xfrm>
            <a:off x="4876800" y="3886200"/>
            <a:ext cx="838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custId</a:t>
            </a:r>
            <a:endParaRPr lang="en-US" dirty="0"/>
          </a:p>
        </p:txBody>
      </p:sp>
      <p:sp>
        <p:nvSpPr>
          <p:cNvPr id="16" name="Rectangle 15"/>
          <p:cNvSpPr/>
          <p:nvPr/>
        </p:nvSpPr>
        <p:spPr>
          <a:xfrm>
            <a:off x="4800600" y="4572000"/>
            <a:ext cx="838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Cbal</a:t>
            </a:r>
            <a:endParaRPr lang="en-US" dirty="0"/>
          </a:p>
        </p:txBody>
      </p:sp>
      <p:sp>
        <p:nvSpPr>
          <p:cNvPr id="17" name="Rectangle 16"/>
          <p:cNvSpPr/>
          <p:nvPr/>
        </p:nvSpPr>
        <p:spPr>
          <a:xfrm>
            <a:off x="4038600" y="5410200"/>
            <a:ext cx="6858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c2</a:t>
            </a:r>
          </a:p>
        </p:txBody>
      </p:sp>
      <p:sp>
        <p:nvSpPr>
          <p:cNvPr id="18" name="Rectangle 17"/>
          <p:cNvSpPr/>
          <p:nvPr/>
        </p:nvSpPr>
        <p:spPr>
          <a:xfrm>
            <a:off x="6096000" y="3581400"/>
            <a:ext cx="2743200"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6248400" y="3886200"/>
            <a:ext cx="1295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103</a:t>
            </a:r>
          </a:p>
        </p:txBody>
      </p:sp>
      <p:sp>
        <p:nvSpPr>
          <p:cNvPr id="20" name="Oval 19"/>
          <p:cNvSpPr/>
          <p:nvPr/>
        </p:nvSpPr>
        <p:spPr>
          <a:xfrm>
            <a:off x="6172200" y="4648200"/>
            <a:ext cx="1295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7696200" y="3962400"/>
            <a:ext cx="838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custId</a:t>
            </a:r>
            <a:endParaRPr lang="en-US" dirty="0"/>
          </a:p>
        </p:txBody>
      </p:sp>
      <p:sp>
        <p:nvSpPr>
          <p:cNvPr id="22" name="Rectangle 21"/>
          <p:cNvSpPr/>
          <p:nvPr/>
        </p:nvSpPr>
        <p:spPr>
          <a:xfrm>
            <a:off x="7696200" y="4724400"/>
            <a:ext cx="838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Cbal</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Customers case study</a:t>
            </a:r>
          </a:p>
        </p:txBody>
      </p:sp>
      <p:sp>
        <p:nvSpPr>
          <p:cNvPr id="3" name="Content Placeholder 2"/>
          <p:cNvSpPr>
            <a:spLocks noGrp="1"/>
          </p:cNvSpPr>
          <p:nvPr>
            <p:ph idx="1"/>
          </p:nvPr>
        </p:nvSpPr>
        <p:spPr>
          <a:xfrm>
            <a:off x="457200" y="838200"/>
            <a:ext cx="4114800" cy="5287963"/>
          </a:xfrm>
        </p:spPr>
        <p:txBody>
          <a:bodyPr>
            <a:normAutofit fontScale="85000" lnSpcReduction="20000"/>
          </a:bodyPr>
          <a:lstStyle/>
          <a:p>
            <a:pPr>
              <a:buNone/>
            </a:pPr>
            <a:r>
              <a:rPr lang="en-US" dirty="0"/>
              <a:t>Class customer</a:t>
            </a:r>
          </a:p>
          <a:p>
            <a:pPr>
              <a:buNone/>
            </a:pPr>
            <a:r>
              <a:rPr lang="en-US" dirty="0"/>
              <a:t>{</a:t>
            </a:r>
          </a:p>
          <a:p>
            <a:pPr>
              <a:buNone/>
            </a:pPr>
            <a:r>
              <a:rPr lang="en-US" dirty="0"/>
              <a:t>	double bal;</a:t>
            </a:r>
          </a:p>
          <a:p>
            <a:pPr>
              <a:buNone/>
            </a:pPr>
            <a:r>
              <a:rPr lang="en-US" dirty="0"/>
              <a:t>	</a:t>
            </a:r>
            <a:r>
              <a:rPr lang="en-US" dirty="0" err="1"/>
              <a:t>int</a:t>
            </a:r>
            <a:r>
              <a:rPr lang="en-US" dirty="0"/>
              <a:t> </a:t>
            </a:r>
            <a:r>
              <a:rPr lang="en-US" dirty="0" err="1"/>
              <a:t>custId</a:t>
            </a:r>
            <a:r>
              <a:rPr lang="en-US" dirty="0"/>
              <a:t>;</a:t>
            </a:r>
          </a:p>
          <a:p>
            <a:pPr>
              <a:buNone/>
            </a:pPr>
            <a:r>
              <a:rPr lang="en-US" dirty="0"/>
              <a:t>	static </a:t>
            </a:r>
            <a:r>
              <a:rPr lang="en-US" dirty="0" err="1"/>
              <a:t>int</a:t>
            </a:r>
            <a:r>
              <a:rPr lang="en-US" dirty="0"/>
              <a:t> count=0;</a:t>
            </a:r>
          </a:p>
          <a:p>
            <a:pPr>
              <a:buNone/>
            </a:pPr>
            <a:r>
              <a:rPr lang="en-US" dirty="0"/>
              <a:t>Customer (</a:t>
            </a:r>
            <a:r>
              <a:rPr lang="en-US" dirty="0" err="1"/>
              <a:t>int</a:t>
            </a:r>
            <a:r>
              <a:rPr lang="en-US" dirty="0"/>
              <a:t> </a:t>
            </a:r>
            <a:r>
              <a:rPr lang="en-US" dirty="0" err="1"/>
              <a:t>custId</a:t>
            </a:r>
            <a:r>
              <a:rPr lang="en-US" dirty="0"/>
              <a:t>)</a:t>
            </a:r>
          </a:p>
          <a:p>
            <a:pPr>
              <a:buNone/>
            </a:pPr>
            <a:r>
              <a:rPr lang="en-US" dirty="0"/>
              <a:t>{</a:t>
            </a:r>
          </a:p>
          <a:p>
            <a:pPr>
              <a:buNone/>
            </a:pPr>
            <a:r>
              <a:rPr lang="en-US" dirty="0"/>
              <a:t>	count +=1;</a:t>
            </a:r>
          </a:p>
          <a:p>
            <a:pPr>
              <a:buNone/>
            </a:pPr>
            <a:r>
              <a:rPr lang="en-US" dirty="0" err="1"/>
              <a:t>This.custId</a:t>
            </a:r>
            <a:r>
              <a:rPr lang="en-US" dirty="0"/>
              <a:t>=</a:t>
            </a:r>
            <a:r>
              <a:rPr lang="en-US" dirty="0" err="1"/>
              <a:t>custId</a:t>
            </a:r>
            <a:r>
              <a:rPr lang="en-US" dirty="0"/>
              <a:t>;</a:t>
            </a:r>
          </a:p>
          <a:p>
            <a:pPr>
              <a:buNone/>
            </a:pPr>
            <a:r>
              <a:rPr lang="en-US" dirty="0"/>
              <a:t>Bal=&lt;get the bal fro db for given </a:t>
            </a:r>
            <a:r>
              <a:rPr lang="en-US" dirty="0" err="1"/>
              <a:t>custId</a:t>
            </a:r>
            <a:r>
              <a:rPr lang="en-US" dirty="0"/>
              <a:t>&gt;;</a:t>
            </a:r>
          </a:p>
          <a:p>
            <a:pPr>
              <a:buNone/>
            </a:pPr>
            <a:r>
              <a:rPr lang="en-US" dirty="0"/>
              <a:t>}</a:t>
            </a:r>
          </a:p>
          <a:p>
            <a:pPr>
              <a:buNone/>
            </a:pPr>
            <a:endParaRPr lang="en-US" dirty="0"/>
          </a:p>
        </p:txBody>
      </p:sp>
      <p:sp>
        <p:nvSpPr>
          <p:cNvPr id="4" name="Content Placeholder 2"/>
          <p:cNvSpPr txBox="1">
            <a:spLocks/>
          </p:cNvSpPr>
          <p:nvPr/>
        </p:nvSpPr>
        <p:spPr>
          <a:xfrm>
            <a:off x="4495800" y="762000"/>
            <a:ext cx="4343400" cy="5516563"/>
          </a:xfrm>
          <a:prstGeom prst="rect">
            <a:avLst/>
          </a:prstGeom>
        </p:spPr>
        <p:txBody>
          <a:bodyPr vert="horz" lIns="91440" tIns="45720" rIns="91440" bIns="45720" rtlCol="0">
            <a:normAutofit fontScale="70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Double </a:t>
            </a:r>
            <a:r>
              <a:rPr kumimoji="0" lang="en-US" sz="3200" b="0" i="0" u="none" strike="noStrike" kern="1200" cap="none" spc="0" normalizeH="0" baseline="0" noProof="0" dirty="0" err="1">
                <a:ln>
                  <a:noFill/>
                </a:ln>
                <a:solidFill>
                  <a:schemeClr val="tx1"/>
                </a:solidFill>
                <a:effectLst/>
                <a:uLnTx/>
                <a:uFillTx/>
                <a:latin typeface="+mn-lt"/>
                <a:ea typeface="+mn-ea"/>
                <a:cs typeface="+mn-cs"/>
              </a:rPr>
              <a:t>GetBal</a:t>
            </a:r>
            <a:r>
              <a:rPr kumimoji="0" lang="en-US" sz="32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3200" dirty="0"/>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3200" dirty="0"/>
              <a:t>	return bal;</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3200" dirty="0"/>
              <a:t>Void withdraw(double amt)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3200" dirty="0"/>
              <a:t>	bal-=amt;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&lt;update the bal to db for given </a:t>
            </a:r>
            <a:r>
              <a:rPr kumimoji="0" lang="en-US" sz="3200" b="0" i="0" u="none" strike="noStrike" kern="1200" cap="none" spc="0" normalizeH="0" baseline="0" noProof="0" dirty="0" err="1">
                <a:ln>
                  <a:noFill/>
                </a:ln>
                <a:solidFill>
                  <a:schemeClr val="tx1"/>
                </a:solidFill>
                <a:effectLst/>
                <a:uLnTx/>
                <a:uFillTx/>
                <a:latin typeface="+mn-lt"/>
                <a:ea typeface="+mn-ea"/>
                <a:cs typeface="+mn-cs"/>
              </a:rPr>
              <a:t>custId</a:t>
            </a:r>
            <a:r>
              <a:rPr kumimoji="0" lang="en-US" sz="3200" b="0" i="0" u="none" strike="noStrike" kern="1200" cap="none" spc="0" normalizeH="0" baseline="0" noProof="0" dirty="0">
                <a:ln>
                  <a:noFill/>
                </a:ln>
                <a:solidFill>
                  <a:schemeClr val="tx1"/>
                </a:solidFill>
                <a:effectLst/>
                <a:uLnTx/>
                <a:uFillTx/>
                <a:latin typeface="+mn-lt"/>
                <a:ea typeface="+mn-ea"/>
                <a:cs typeface="+mn-cs"/>
              </a:rPr>
              <a:t>&gt;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3200" dirty="0"/>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	void </a:t>
            </a:r>
            <a:r>
              <a:rPr kumimoji="0" lang="en-US" sz="3200" b="0" i="0" u="none" strike="noStrike" kern="1200" cap="none" spc="0" normalizeH="0" baseline="0" noProof="0" dirty="0" err="1">
                <a:ln>
                  <a:noFill/>
                </a:ln>
                <a:solidFill>
                  <a:schemeClr val="tx1"/>
                </a:solidFill>
                <a:effectLst/>
                <a:uLnTx/>
                <a:uFillTx/>
                <a:latin typeface="+mn-lt"/>
                <a:ea typeface="+mn-ea"/>
                <a:cs typeface="+mn-cs"/>
              </a:rPr>
              <a:t>Deposite</a:t>
            </a:r>
            <a:r>
              <a:rPr kumimoji="0" lang="en-US" sz="3200" b="0" i="0" u="none" strike="noStrike" kern="1200" cap="none" spc="0" normalizeH="0" baseline="0" noProof="0" dirty="0">
                <a:ln>
                  <a:noFill/>
                </a:ln>
                <a:solidFill>
                  <a:schemeClr val="tx1"/>
                </a:solidFill>
                <a:effectLst/>
                <a:uLnTx/>
                <a:uFillTx/>
                <a:latin typeface="+mn-lt"/>
                <a:ea typeface="+mn-ea"/>
                <a:cs typeface="+mn-cs"/>
              </a:rPr>
              <a:t>(double amt)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3200" dirty="0"/>
              <a:t>{</a:t>
            </a:r>
            <a:br>
              <a:rPr lang="en-US" sz="3200" dirty="0"/>
            </a:br>
            <a:r>
              <a:rPr lang="en-US" sz="3200" dirty="0"/>
              <a:t>bal+=amt;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&lt;update the db</a:t>
            </a:r>
            <a:r>
              <a:rPr kumimoji="0" lang="en-US" sz="3200" b="0" i="0" u="none" strike="noStrike" kern="1200" cap="none" spc="0" normalizeH="0" noProof="0" dirty="0">
                <a:ln>
                  <a:noFill/>
                </a:ln>
                <a:solidFill>
                  <a:schemeClr val="tx1"/>
                </a:solidFill>
                <a:effectLst/>
                <a:uLnTx/>
                <a:uFillTx/>
                <a:latin typeface="+mn-lt"/>
                <a:ea typeface="+mn-ea"/>
                <a:cs typeface="+mn-cs"/>
              </a:rPr>
              <a:t> from given </a:t>
            </a:r>
            <a:r>
              <a:rPr kumimoji="0" lang="en-US" sz="3200" b="0" i="0" u="none" strike="noStrike" kern="1200" cap="none" spc="0" normalizeH="0" noProof="0" dirty="0" err="1">
                <a:ln>
                  <a:noFill/>
                </a:ln>
                <a:solidFill>
                  <a:schemeClr val="tx1"/>
                </a:solidFill>
                <a:effectLst/>
                <a:uLnTx/>
                <a:uFillTx/>
                <a:latin typeface="+mn-lt"/>
                <a:ea typeface="+mn-ea"/>
                <a:cs typeface="+mn-cs"/>
              </a:rPr>
              <a:t>custId</a:t>
            </a:r>
            <a:r>
              <a:rPr kumimoji="0" lang="en-US" sz="3200" b="0" i="0" u="none" strike="noStrike" kern="1200" cap="none" spc="0" normalizeH="0" baseline="0" noProof="0" dirty="0">
                <a:ln>
                  <a:noFill/>
                </a:ln>
                <a:solidFill>
                  <a:schemeClr val="tx1"/>
                </a:solidFill>
                <a:effectLst/>
                <a:uLnTx/>
                <a:uFillTx/>
                <a:latin typeface="+mn-lt"/>
                <a:ea typeface="+mn-ea"/>
                <a:cs typeface="+mn-cs"/>
              </a:rPr>
              <a:t>&gt;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User defined default constructor</a:t>
            </a:r>
          </a:p>
        </p:txBody>
      </p:sp>
      <p:sp>
        <p:nvSpPr>
          <p:cNvPr id="3" name="Content Placeholder 2"/>
          <p:cNvSpPr>
            <a:spLocks noGrp="1"/>
          </p:cNvSpPr>
          <p:nvPr>
            <p:ph idx="1"/>
          </p:nvPr>
        </p:nvSpPr>
        <p:spPr>
          <a:xfrm>
            <a:off x="457200" y="914400"/>
            <a:ext cx="8229600" cy="5211763"/>
          </a:xfrm>
        </p:spPr>
        <p:txBody>
          <a:bodyPr>
            <a:normAutofit lnSpcReduction="10000"/>
          </a:bodyPr>
          <a:lstStyle/>
          <a:p>
            <a:r>
              <a:rPr lang="en-US" dirty="0"/>
              <a:t>This constructor is created by the programmer.</a:t>
            </a:r>
          </a:p>
          <a:p>
            <a:r>
              <a:rPr lang="en-US" dirty="0"/>
              <a:t>This constructor doesn't accept any arguments or parameters.</a:t>
            </a:r>
          </a:p>
          <a:p>
            <a:r>
              <a:rPr lang="en-US" dirty="0"/>
              <a:t>In General this constructor is used to initialize required values in to the data fields.</a:t>
            </a:r>
          </a:p>
          <a:p>
            <a:r>
              <a:rPr lang="en-US" dirty="0"/>
              <a:t>But there is no restriction to write particular code into the constructor. Ex::-program to work with user defined default </a:t>
            </a:r>
            <a:r>
              <a:rPr lang="en-US" dirty="0">
                <a:hlinkClick r:id="rId2" action="ppaction://hlinkfile"/>
              </a:rPr>
              <a:t>constructor.</a:t>
            </a:r>
            <a:r>
              <a:rPr lang="en-US" dirty="0"/>
              <a:t> (create new project..for it)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System defined default constructor</a:t>
            </a:r>
          </a:p>
        </p:txBody>
      </p:sp>
      <p:sp>
        <p:nvSpPr>
          <p:cNvPr id="3" name="Content Placeholder 2"/>
          <p:cNvSpPr>
            <a:spLocks noGrp="1"/>
          </p:cNvSpPr>
          <p:nvPr>
            <p:ph idx="1"/>
          </p:nvPr>
        </p:nvSpPr>
        <p:spPr>
          <a:xfrm>
            <a:off x="457200" y="914400"/>
            <a:ext cx="8229600" cy="5211763"/>
          </a:xfrm>
        </p:spPr>
        <p:txBody>
          <a:bodyPr>
            <a:normAutofit fontScale="92500" lnSpcReduction="10000"/>
          </a:bodyPr>
          <a:lstStyle/>
          <a:p>
            <a:r>
              <a:rPr lang="en-US" dirty="0"/>
              <a:t>If there is no constructor define within a class then ,system will create its own constructor and will assign default value into the data fields</a:t>
            </a:r>
          </a:p>
          <a:p>
            <a:r>
              <a:rPr lang="en-US" dirty="0"/>
              <a:t>This constructor created by the system is known as system defined default constructor.</a:t>
            </a:r>
          </a:p>
          <a:p>
            <a:r>
              <a:rPr lang="en-US" dirty="0"/>
              <a:t>When as object to the class is created first system will search for a constructor with in the class, if there is no constructor available with in the class, system will create its own constructor and will assign default values in to the fields.(create new project for this default </a:t>
            </a:r>
            <a:r>
              <a:rPr lang="en-US" dirty="0">
                <a:hlinkClick r:id="rId2" action="ppaction://hlinkfile"/>
              </a:rPr>
              <a:t>constructor</a:t>
            </a:r>
            <a:r>
              <a:rPr lang="en-US" dirty="0"/>
              <a:t>)</a:t>
            </a:r>
          </a:p>
          <a:p>
            <a:pPr>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Disadvantage of default constructor</a:t>
            </a:r>
          </a:p>
        </p:txBody>
      </p:sp>
      <p:sp>
        <p:nvSpPr>
          <p:cNvPr id="3" name="Content Placeholder 2"/>
          <p:cNvSpPr>
            <a:spLocks noGrp="1"/>
          </p:cNvSpPr>
          <p:nvPr>
            <p:ph idx="1"/>
          </p:nvPr>
        </p:nvSpPr>
        <p:spPr>
          <a:xfrm>
            <a:off x="457200" y="838200"/>
            <a:ext cx="8229600" cy="5287963"/>
          </a:xfrm>
        </p:spPr>
        <p:txBody>
          <a:bodyPr/>
          <a:lstStyle/>
          <a:p>
            <a:r>
              <a:rPr lang="en-US" dirty="0"/>
              <a:t>While initializing the data any no of object we may create for a class, </a:t>
            </a:r>
            <a:r>
              <a:rPr lang="en-US" b="1" dirty="0"/>
              <a:t>all the object will store same data</a:t>
            </a:r>
            <a:r>
              <a:rPr lang="en-US" dirty="0"/>
              <a:t>  in their referenced data fields.</a:t>
            </a:r>
          </a:p>
          <a:p>
            <a:r>
              <a:rPr lang="en-US" dirty="0"/>
              <a:t>To over come this drawback ,we use parameterized constructor.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dirty="0"/>
              <a:t>Parameterized constructor</a:t>
            </a:r>
          </a:p>
        </p:txBody>
      </p:sp>
      <p:sp>
        <p:nvSpPr>
          <p:cNvPr id="3" name="Content Placeholder 2"/>
          <p:cNvSpPr>
            <a:spLocks noGrp="1"/>
          </p:cNvSpPr>
          <p:nvPr>
            <p:ph idx="1"/>
          </p:nvPr>
        </p:nvSpPr>
        <p:spPr>
          <a:xfrm>
            <a:off x="457200" y="838200"/>
            <a:ext cx="8229600" cy="5287963"/>
          </a:xfrm>
        </p:spPr>
        <p:txBody>
          <a:bodyPr/>
          <a:lstStyle/>
          <a:p>
            <a:r>
              <a:rPr lang="en-US" dirty="0"/>
              <a:t>A parameterized constructor accepts arguments to store the values in to the data fields.</a:t>
            </a:r>
          </a:p>
          <a:p>
            <a:r>
              <a:rPr lang="en-US" dirty="0"/>
              <a:t>Using parameterized constructor we can store different set of values into different objects created to the class.</a:t>
            </a:r>
          </a:p>
          <a:p>
            <a:r>
              <a:rPr lang="en-US" dirty="0"/>
              <a:t>Create a new application(new project).named ex:-CAP </a:t>
            </a:r>
            <a:r>
              <a:rPr lang="en-US" dirty="0">
                <a:hlinkClick r:id="rId2" action="ppaction://hlinkfile"/>
              </a:rPr>
              <a:t>constructor</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Autofit/>
          </a:bodyPr>
          <a:lstStyle/>
          <a:p>
            <a:r>
              <a:rPr lang="en-US" sz="2800" dirty="0"/>
              <a:t>More then one </a:t>
            </a:r>
            <a:r>
              <a:rPr lang="en-US" sz="2800" dirty="0">
                <a:hlinkClick r:id="rId2" action="ppaction://hlinkfile"/>
              </a:rPr>
              <a:t>constructor</a:t>
            </a:r>
            <a:r>
              <a:rPr lang="en-US" sz="2800" dirty="0"/>
              <a:t> within a class</a:t>
            </a:r>
          </a:p>
        </p:txBody>
      </p:sp>
      <p:sp>
        <p:nvSpPr>
          <p:cNvPr id="3" name="Content Placeholder 2"/>
          <p:cNvSpPr>
            <a:spLocks noGrp="1"/>
          </p:cNvSpPr>
          <p:nvPr>
            <p:ph idx="1"/>
          </p:nvPr>
        </p:nvSpPr>
        <p:spPr>
          <a:xfrm>
            <a:off x="457200" y="914400"/>
            <a:ext cx="8229600" cy="5211763"/>
          </a:xfrm>
        </p:spPr>
        <p:txBody>
          <a:bodyPr/>
          <a:lstStyle/>
          <a:p>
            <a:r>
              <a:rPr lang="en-US" dirty="0"/>
              <a:t>From the above example we can conclude that:-</a:t>
            </a:r>
          </a:p>
          <a:p>
            <a:r>
              <a:rPr lang="en-US" dirty="0"/>
              <a:t>A class can contain more then one constructor</a:t>
            </a:r>
          </a:p>
          <a:p>
            <a:r>
              <a:rPr lang="en-US" dirty="0"/>
              <a:t>A constructor can be overloaded for different </a:t>
            </a:r>
            <a:r>
              <a:rPr lang="en-US" dirty="0" err="1"/>
              <a:t>no.of</a:t>
            </a:r>
            <a:r>
              <a:rPr lang="en-US" dirty="0"/>
              <a:t> </a:t>
            </a:r>
            <a:r>
              <a:rPr lang="en-US" dirty="0" err="1"/>
              <a:t>arrguments</a:t>
            </a:r>
            <a:r>
              <a:rPr lang="en-US"/>
              <a:t>.</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Copy constructor</a:t>
            </a:r>
          </a:p>
        </p:txBody>
      </p:sp>
      <p:sp>
        <p:nvSpPr>
          <p:cNvPr id="3" name="Content Placeholder 2"/>
          <p:cNvSpPr>
            <a:spLocks noGrp="1"/>
          </p:cNvSpPr>
          <p:nvPr>
            <p:ph idx="1"/>
          </p:nvPr>
        </p:nvSpPr>
        <p:spPr>
          <a:xfrm>
            <a:off x="457200" y="838200"/>
            <a:ext cx="8229600" cy="5287963"/>
          </a:xfrm>
        </p:spPr>
        <p:txBody>
          <a:bodyPr/>
          <a:lstStyle/>
          <a:p>
            <a:r>
              <a:rPr lang="en-US" dirty="0"/>
              <a:t>This constructor is used to copy the data of an exiting object in to newly created object.</a:t>
            </a:r>
          </a:p>
          <a:p>
            <a:r>
              <a:rPr lang="en-US" dirty="0"/>
              <a:t>To copy </a:t>
            </a:r>
            <a:r>
              <a:rPr lang="en-US" dirty="0">
                <a:hlinkClick r:id="rId2" action="ppaction://hlinkfile"/>
              </a:rPr>
              <a:t>constructor</a:t>
            </a:r>
            <a:r>
              <a:rPr lang="en-US" dirty="0"/>
              <a:t> we need to pass argument that belong to our class data type.</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Static constructor</a:t>
            </a:r>
          </a:p>
        </p:txBody>
      </p:sp>
      <p:sp>
        <p:nvSpPr>
          <p:cNvPr id="3" name="Content Placeholder 2"/>
          <p:cNvSpPr>
            <a:spLocks noGrp="1"/>
          </p:cNvSpPr>
          <p:nvPr>
            <p:ph idx="1"/>
          </p:nvPr>
        </p:nvSpPr>
        <p:spPr>
          <a:xfrm>
            <a:off x="457200" y="762000"/>
            <a:ext cx="8229600" cy="5364163"/>
          </a:xfrm>
        </p:spPr>
        <p:txBody>
          <a:bodyPr/>
          <a:lstStyle/>
          <a:p>
            <a:r>
              <a:rPr lang="en-US" dirty="0"/>
              <a:t>Static constructor is used to initialize static data fields.</a:t>
            </a:r>
          </a:p>
          <a:p>
            <a:r>
              <a:rPr lang="en-US" dirty="0"/>
              <a:t>Static data fields will have maintained only one instance for any </a:t>
            </a:r>
            <a:r>
              <a:rPr lang="en-US" dirty="0" err="1"/>
              <a:t>no.of</a:t>
            </a:r>
            <a:r>
              <a:rPr lang="en-US" dirty="0"/>
              <a:t> objects created to the class.</a:t>
            </a:r>
          </a:p>
          <a:p>
            <a:r>
              <a:rPr lang="en-US" dirty="0"/>
              <a:t>To make any member of a class static, use static keyword</a:t>
            </a:r>
          </a:p>
          <a:p>
            <a:r>
              <a:rPr lang="en-US" dirty="0"/>
              <a:t>Static members are not accessible with object rather, we need to access with class name only.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10000"/>
          </a:bodyPr>
          <a:lstStyle/>
          <a:p>
            <a:r>
              <a:rPr lang="en-US" dirty="0"/>
              <a:t>There can be only one static constructor in the class.</a:t>
            </a:r>
          </a:p>
          <a:p>
            <a:r>
              <a:rPr lang="en-US" dirty="0"/>
              <a:t>The static constructor should be without in the class.</a:t>
            </a:r>
          </a:p>
          <a:p>
            <a:r>
              <a:rPr lang="en-US" dirty="0"/>
              <a:t>It can only access the static members of the class.</a:t>
            </a:r>
          </a:p>
          <a:p>
            <a:r>
              <a:rPr lang="en-US" dirty="0"/>
              <a:t>There should be no access modifier in static constructor definition.</a:t>
            </a:r>
          </a:p>
          <a:p>
            <a:r>
              <a:rPr lang="en-US" dirty="0"/>
              <a:t>If a class is static, then we can’t create object for static</a:t>
            </a:r>
          </a:p>
          <a:p>
            <a:r>
              <a:rPr lang="en-US" dirty="0"/>
              <a:t>Static constructor will be invoked only once </a:t>
            </a:r>
            <a:r>
              <a:rPr lang="en-US" dirty="0" err="1"/>
              <a:t>i.e</a:t>
            </a:r>
            <a:r>
              <a:rPr lang="en-US" dirty="0"/>
              <a:t> 1</a:t>
            </a:r>
            <a:r>
              <a:rPr lang="en-US" baseline="30000" dirty="0"/>
              <a:t>st</a:t>
            </a:r>
            <a:r>
              <a:rPr lang="en-US" dirty="0"/>
              <a:t> object created for the class from second object onwards static </a:t>
            </a:r>
            <a:r>
              <a:rPr lang="en-US" dirty="0">
                <a:hlinkClick r:id="rId2" action="ppaction://hlinkfile"/>
              </a:rPr>
              <a:t>constructor</a:t>
            </a:r>
            <a:r>
              <a:rPr lang="en-US" dirty="0"/>
              <a:t> will not be called.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935E-780F-9BAE-14AF-E602DB9DC2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3D89A4-C277-5E80-13DC-D21DF1234F2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60961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Class member</a:t>
            </a:r>
          </a:p>
        </p:txBody>
      </p:sp>
      <p:sp>
        <p:nvSpPr>
          <p:cNvPr id="3" name="Content Placeholder 2"/>
          <p:cNvSpPr>
            <a:spLocks noGrp="1"/>
          </p:cNvSpPr>
          <p:nvPr>
            <p:ph idx="1"/>
          </p:nvPr>
        </p:nvSpPr>
        <p:spPr>
          <a:xfrm>
            <a:off x="457200" y="762000"/>
            <a:ext cx="8229600" cy="5364163"/>
          </a:xfrm>
        </p:spPr>
        <p:txBody>
          <a:bodyPr>
            <a:normAutofit lnSpcReduction="10000"/>
          </a:bodyPr>
          <a:lstStyle/>
          <a:p>
            <a:r>
              <a:rPr lang="en-US" dirty="0"/>
              <a:t>A class is a collection of member like variable, methods ,constructors etc. These member are categorized into 2types.</a:t>
            </a:r>
          </a:p>
          <a:p>
            <a:pPr marL="571500" indent="-571500">
              <a:buAutoNum type="romanLcParenBoth"/>
            </a:pPr>
            <a:r>
              <a:rPr lang="en-US" dirty="0"/>
              <a:t>instance/non static member</a:t>
            </a:r>
          </a:p>
          <a:p>
            <a:pPr marL="571500" indent="-571500">
              <a:buAutoNum type="romanLcParenBoth"/>
            </a:pPr>
            <a:r>
              <a:rPr lang="en-US" dirty="0"/>
              <a:t>Static member</a:t>
            </a:r>
          </a:p>
          <a:p>
            <a:pPr marL="571500" indent="-571500"/>
            <a:r>
              <a:rPr lang="en-US" dirty="0"/>
              <a:t>The member of a class which do require the object of a class for initialization or execution are refereed as non static members.</a:t>
            </a:r>
          </a:p>
          <a:p>
            <a:pPr marL="571500" indent="-571500"/>
            <a:r>
              <a:rPr lang="en-US" dirty="0"/>
              <a:t>The member of the class which do not require the object of class for initialization and execution are know as static member</a:t>
            </a:r>
          </a:p>
          <a:p>
            <a:pPr>
              <a:buNone/>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Instance variable and static variables</a:t>
            </a:r>
          </a:p>
        </p:txBody>
      </p:sp>
      <p:sp>
        <p:nvSpPr>
          <p:cNvPr id="3" name="Content Placeholder 2"/>
          <p:cNvSpPr>
            <a:spLocks noGrp="1"/>
          </p:cNvSpPr>
          <p:nvPr>
            <p:ph idx="1"/>
          </p:nvPr>
        </p:nvSpPr>
        <p:spPr>
          <a:xfrm>
            <a:off x="457200" y="838200"/>
            <a:ext cx="8229600" cy="5287963"/>
          </a:xfrm>
        </p:spPr>
        <p:txBody>
          <a:bodyPr/>
          <a:lstStyle/>
          <a:p>
            <a:r>
              <a:rPr lang="en-US" dirty="0"/>
              <a:t>Variable declare using static modifier or static block, a variable declare is static variable rest of all are instance variable only. Ex:- </a:t>
            </a:r>
            <a:r>
              <a:rPr lang="en-US" dirty="0" err="1"/>
              <a:t>int</a:t>
            </a:r>
            <a:r>
              <a:rPr lang="en-US" dirty="0"/>
              <a:t> x=100;// Instance</a:t>
            </a:r>
          </a:p>
          <a:p>
            <a:pPr>
              <a:buNone/>
            </a:pPr>
            <a:r>
              <a:rPr lang="en-US" dirty="0"/>
              <a:t>Static </a:t>
            </a:r>
            <a:r>
              <a:rPr lang="en-US" dirty="0" err="1"/>
              <a:t>int</a:t>
            </a:r>
            <a:r>
              <a:rPr lang="en-US" dirty="0"/>
              <a:t> y=200;//static</a:t>
            </a:r>
          </a:p>
          <a:p>
            <a:pPr>
              <a:buNone/>
            </a:pPr>
            <a:r>
              <a:rPr lang="en-US" dirty="0"/>
              <a:t>Static void main()//static method</a:t>
            </a:r>
          </a:p>
          <a:p>
            <a:pPr>
              <a:buNone/>
            </a:pPr>
            <a:r>
              <a:rPr lang="en-US" dirty="0"/>
              <a:t>{</a:t>
            </a:r>
          </a:p>
          <a:p>
            <a:pPr>
              <a:buNone/>
            </a:pPr>
            <a:r>
              <a:rPr lang="en-US" dirty="0"/>
              <a:t>	</a:t>
            </a:r>
            <a:r>
              <a:rPr lang="en-US" dirty="0" err="1"/>
              <a:t>int</a:t>
            </a:r>
            <a:r>
              <a:rPr lang="en-US" dirty="0"/>
              <a:t> z =300;</a:t>
            </a:r>
          </a:p>
          <a:p>
            <a:pPr>
              <a:buNone/>
            </a:pPr>
            <a:r>
              <a:rPr lang="en-US" dirty="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r>
              <a:rPr lang="en-US" b="1" dirty="0"/>
              <a:t>Static variable</a:t>
            </a:r>
            <a:r>
              <a:rPr lang="en-US" dirty="0"/>
              <a:t> are initialization when execution of class which is one and only one time where as non static  variable get initialization only after creating the object of the class as well as the each time the object created. </a:t>
            </a:r>
          </a:p>
          <a:p>
            <a:r>
              <a:rPr lang="en-US" dirty="0"/>
              <a:t>To invoke a instance member we used object of the class where as to invoke a static member we use name of class.</a:t>
            </a:r>
          </a:p>
          <a:p>
            <a:r>
              <a:rPr lang="en-US" dirty="0"/>
              <a:t>We use instance variable whenever the changes of one should not reflecting the other </a:t>
            </a:r>
            <a:r>
              <a:rPr lang="en-US" dirty="0" err="1"/>
              <a:t>ex:bal</a:t>
            </a:r>
            <a:r>
              <a:rPr lang="en-US" dirty="0"/>
              <a:t> in our previous example…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pPr>
              <a:buNone/>
            </a:pPr>
            <a:r>
              <a:rPr lang="en-US" dirty="0"/>
              <a:t>But if at all changes of one has to reflect the other we need to go for static variable ex:-</a:t>
            </a:r>
            <a:r>
              <a:rPr lang="en-US" dirty="0" err="1"/>
              <a:t>conunt</a:t>
            </a:r>
            <a:r>
              <a:rPr lang="en-US" dirty="0"/>
              <a:t> in our pervious class.</a:t>
            </a:r>
          </a:p>
          <a:p>
            <a:r>
              <a:rPr lang="en-US" dirty="0"/>
              <a:t>Constant variables:- A variable which holds a value that can't be changed is know as a constant. These variable behave same as a static variable where as a static variable can be modified but constant can’t be modified.</a:t>
            </a:r>
          </a:p>
          <a:p>
            <a:r>
              <a:rPr lang="en-US" dirty="0"/>
              <a:t>Read-only variables:- these variable are similar to constant but these are going to be separate copy for each object of the class. where as constant is a single copy to the complete class.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a:t>A constant variable has to be initialized  at the time of its declaration only where as read only variable can be initialized either at the time of declaration as well as under construction also.</a:t>
            </a:r>
          </a:p>
          <a:p>
            <a:r>
              <a:rPr lang="en-US" dirty="0"/>
              <a:t>The behavior of read only is similar to instance variable where a separate copy will be maintain of each </a:t>
            </a:r>
            <a:r>
              <a:rPr lang="en-US"/>
              <a:t>object but </a:t>
            </a:r>
            <a:r>
              <a:rPr lang="en-US" dirty="0"/>
              <a:t>instance can be modified were as read only can’t be modified.</a:t>
            </a:r>
          </a:p>
          <a:p>
            <a:r>
              <a:rPr lang="en-US" dirty="0"/>
              <a:t>Ex of static and instance</a:t>
            </a:r>
            <a:r>
              <a:rPr lang="en-US" dirty="0">
                <a:hlinkClick r:id="rId2" action="ppaction://hlinkfile"/>
              </a:rPr>
              <a:t> member</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Instance method </a:t>
            </a:r>
            <a:r>
              <a:rPr lang="en-US" dirty="0" err="1"/>
              <a:t>vs</a:t>
            </a:r>
            <a:r>
              <a:rPr lang="en-US" dirty="0"/>
              <a:t> static method</a:t>
            </a:r>
          </a:p>
        </p:txBody>
      </p:sp>
      <p:sp>
        <p:nvSpPr>
          <p:cNvPr id="3" name="Content Placeholder 2"/>
          <p:cNvSpPr>
            <a:spLocks noGrp="1"/>
          </p:cNvSpPr>
          <p:nvPr>
            <p:ph idx="1"/>
          </p:nvPr>
        </p:nvSpPr>
        <p:spPr>
          <a:xfrm>
            <a:off x="457200" y="838200"/>
            <a:ext cx="8229600" cy="5287963"/>
          </a:xfrm>
        </p:spPr>
        <p:txBody>
          <a:bodyPr/>
          <a:lstStyle/>
          <a:p>
            <a:r>
              <a:rPr lang="en-US" dirty="0"/>
              <a:t>A method declare by using static modifier is static method rest of all are instance method only.</a:t>
            </a:r>
          </a:p>
          <a:p>
            <a:r>
              <a:rPr lang="en-US" dirty="0"/>
              <a:t>While write in static method make sure we are not consuming any instance member of the class directly because non static member can refer from static block only with the object of class in which think are present. but the reverse is possible directly. </a:t>
            </a:r>
            <a:r>
              <a:rPr lang="en-US" dirty="0">
                <a:hlinkClick r:id="rId2" action="ppaction://hlinkfile"/>
              </a:rPr>
              <a:t>ex</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r>
              <a:rPr lang="en-US" sz="3200" dirty="0"/>
              <a:t>Static constructor &amp; instance constructor</a:t>
            </a:r>
          </a:p>
        </p:txBody>
      </p:sp>
      <p:sp>
        <p:nvSpPr>
          <p:cNvPr id="3" name="Content Placeholder 2"/>
          <p:cNvSpPr>
            <a:spLocks noGrp="1"/>
          </p:cNvSpPr>
          <p:nvPr>
            <p:ph idx="1"/>
          </p:nvPr>
        </p:nvSpPr>
        <p:spPr>
          <a:xfrm>
            <a:off x="457200" y="685800"/>
            <a:ext cx="8229600" cy="5440363"/>
          </a:xfrm>
        </p:spPr>
        <p:txBody>
          <a:bodyPr>
            <a:normAutofit lnSpcReduction="10000"/>
          </a:bodyPr>
          <a:lstStyle/>
          <a:p>
            <a:r>
              <a:rPr lang="en-US" dirty="0"/>
              <a:t>A constructor declare using static modifier is a static constructor rest of all are instance constructor only.</a:t>
            </a:r>
          </a:p>
          <a:p>
            <a:r>
              <a:rPr lang="en-US" dirty="0"/>
              <a:t>Static constructor initialized static variable and instance variable initialized instance variable.</a:t>
            </a:r>
          </a:p>
          <a:p>
            <a:r>
              <a:rPr lang="en-US" dirty="0"/>
              <a:t>A static constructor is the first block of code which execute under a class will be executed one and only one time. Where as instance constructor are called only when the object of class is created as well as each time the object is created.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Static constructor can’t be parameterized because sending value to it is not possible as we never call then directly. Where as instance constructor can be </a:t>
            </a:r>
            <a:r>
              <a:rPr lang="en-US" dirty="0">
                <a:hlinkClick r:id="rId2" action="ppaction://hlinkfile"/>
              </a:rPr>
              <a:t>parameterized.</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1138</TotalTime>
  <Words>2647</Words>
  <Application>Microsoft Office PowerPoint</Application>
  <PresentationFormat>On-screen Show (4:3)</PresentationFormat>
  <Paragraphs>266</Paragraphs>
  <Slides>47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Object oriented programming Concepts</vt:lpstr>
      <vt:lpstr>Class</vt:lpstr>
      <vt:lpstr>Class (cont..)</vt:lpstr>
      <vt:lpstr>Object</vt:lpstr>
      <vt:lpstr>Features of object oriented programming</vt:lpstr>
      <vt:lpstr>Encapsulation</vt:lpstr>
      <vt:lpstr>polymorphism</vt:lpstr>
      <vt:lpstr>Two types of polymorphism</vt:lpstr>
      <vt:lpstr>Inheritance</vt:lpstr>
      <vt:lpstr>Inheritance (cont..)</vt:lpstr>
      <vt:lpstr>Abstraction</vt:lpstr>
      <vt:lpstr>Class in C#.net</vt:lpstr>
      <vt:lpstr>Diagrammatic representation of class</vt:lpstr>
      <vt:lpstr>Data fields</vt:lpstr>
      <vt:lpstr>Data fields (cont..)</vt:lpstr>
      <vt:lpstr>Functions</vt:lpstr>
      <vt:lpstr>Function (cont..)</vt:lpstr>
      <vt:lpstr>PowerPoint Presentation</vt:lpstr>
      <vt:lpstr>PowerPoint Presentation</vt:lpstr>
      <vt:lpstr>How Encapsulation is Implemented</vt:lpstr>
      <vt:lpstr>Cont..</vt:lpstr>
      <vt:lpstr>New keyword  doing 3 thins</vt:lpstr>
      <vt:lpstr>constructor</vt:lpstr>
      <vt:lpstr>Constructor (cont..)</vt:lpstr>
      <vt:lpstr>Constructor (cont..)</vt:lpstr>
      <vt:lpstr>Constructor (cont..)</vt:lpstr>
      <vt:lpstr>Constructor syntax</vt:lpstr>
      <vt:lpstr>Customers table</vt:lpstr>
      <vt:lpstr>Customers case study</vt:lpstr>
      <vt:lpstr>User defined default constructor</vt:lpstr>
      <vt:lpstr>System defined default constructor</vt:lpstr>
      <vt:lpstr>Disadvantage of default constructor</vt:lpstr>
      <vt:lpstr>Parameterized constructor</vt:lpstr>
      <vt:lpstr>More then one constructor within a class</vt:lpstr>
      <vt:lpstr>Copy constructor</vt:lpstr>
      <vt:lpstr>Static constructor</vt:lpstr>
      <vt:lpstr>PowerPoint Presentation</vt:lpstr>
      <vt:lpstr>PowerPoint Presentation</vt:lpstr>
      <vt:lpstr>Class member</vt:lpstr>
      <vt:lpstr>Instance variable and static variables</vt:lpstr>
      <vt:lpstr>PowerPoint Presentation</vt:lpstr>
      <vt:lpstr>PowerPoint Presentation</vt:lpstr>
      <vt:lpstr>PowerPoint Presentation</vt:lpstr>
      <vt:lpstr>Instance method vs static method</vt:lpstr>
      <vt:lpstr>Static constructor &amp; instance constructor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Concepts</dc:title>
  <dc:creator>krishna</dc:creator>
  <cp:lastModifiedBy>krishna kumari</cp:lastModifiedBy>
  <cp:revision>88</cp:revision>
  <dcterms:created xsi:type="dcterms:W3CDTF">2011-11-03T02:24:32Z</dcterms:created>
  <dcterms:modified xsi:type="dcterms:W3CDTF">2024-09-25T09:56:21Z</dcterms:modified>
</cp:coreProperties>
</file>