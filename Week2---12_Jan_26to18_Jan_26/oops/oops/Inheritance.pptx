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3" d="100"/>
          <a:sy n="63" d="100"/>
        </p:scale>
        <p:origin x="1380" y="6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A8269839-32A9-42E6-9C1B-A24A086CC582}" type="datetimeFigureOut">
              <a:rPr lang="en-US" smtClean="0"/>
              <a:pPr/>
              <a:t>1/11/2019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8B0954F-6DD3-4A60-A271-90F527888258}"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8269839-32A9-42E6-9C1B-A24A086CC582}" type="datetimeFigureOut">
              <a:rPr lang="en-US" smtClean="0"/>
              <a:pPr/>
              <a:t>1/11/2019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8B0954F-6DD3-4A60-A271-90F527888258}"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8269839-32A9-42E6-9C1B-A24A086CC582}" type="datetimeFigureOut">
              <a:rPr lang="en-US" smtClean="0"/>
              <a:pPr/>
              <a:t>1/11/2019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8B0954F-6DD3-4A60-A271-90F527888258}"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A8269839-32A9-42E6-9C1B-A24A086CC582}" type="datetimeFigureOut">
              <a:rPr lang="en-US" smtClean="0"/>
              <a:pPr/>
              <a:t>1/11/2019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8B0954F-6DD3-4A60-A271-90F527888258}"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A8269839-32A9-42E6-9C1B-A24A086CC582}" type="datetimeFigureOut">
              <a:rPr lang="en-US" smtClean="0"/>
              <a:pPr/>
              <a:t>1/11/2019</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8B0954F-6DD3-4A60-A271-90F527888258}"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A8269839-32A9-42E6-9C1B-A24A086CC582}" type="datetimeFigureOut">
              <a:rPr lang="en-US" smtClean="0"/>
              <a:pPr/>
              <a:t>1/11/2019</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8B0954F-6DD3-4A60-A271-90F527888258}"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8269839-32A9-42E6-9C1B-A24A086CC582}" type="datetimeFigureOut">
              <a:rPr lang="en-US" smtClean="0"/>
              <a:pPr/>
              <a:t>1/11/2019</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8B0954F-6DD3-4A60-A271-90F527888258}"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8269839-32A9-42E6-9C1B-A24A086CC582}" type="datetimeFigureOut">
              <a:rPr lang="en-US" smtClean="0"/>
              <a:pPr/>
              <a:t>1/11/2019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8B0954F-6DD3-4A60-A271-90F527888258}"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8269839-32A9-42E6-9C1B-A24A086CC582}" type="datetimeFigureOut">
              <a:rPr lang="en-US" smtClean="0"/>
              <a:pPr/>
              <a:t>1/11/2019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8B0954F-6DD3-4A60-A271-90F527888258}"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8269839-32A9-42E6-9C1B-A24A086CC582}" type="datetimeFigureOut">
              <a:rPr lang="en-US" smtClean="0"/>
              <a:pPr/>
              <a:t>1/11/2019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8B0954F-6DD3-4A60-A271-90F527888258}"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8269839-32A9-42E6-9C1B-A24A086CC582}" type="datetimeFigureOut">
              <a:rPr lang="en-US" smtClean="0"/>
              <a:pPr/>
              <a:t>1/11/2019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8B0954F-6DD3-4A60-A271-90F527888258}"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8269839-32A9-42E6-9C1B-A24A086CC582}" type="datetimeFigureOut">
              <a:rPr lang="en-US" smtClean="0"/>
              <a:pPr/>
              <a:t>1/11/2019</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8B0954F-6DD3-4A60-A271-90F527888258}"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hyperlink" Target="class11.docx"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hyperlink" Target="ClsBranch.docx" TargetMode="Externa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hyperlink" Target="ClsMlevelInhertance.docx"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Inheritance </a:t>
            </a:r>
          </a:p>
        </p:txBody>
      </p:sp>
      <p:sp>
        <p:nvSpPr>
          <p:cNvPr id="3" name="Subtitle 2"/>
          <p:cNvSpPr>
            <a:spLocks noGrp="1"/>
          </p:cNvSpPr>
          <p:nvPr>
            <p:ph type="subTitle" idx="1"/>
          </p:nvPr>
        </p:nvSpPr>
        <p:spPr/>
        <p:txBody>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381000"/>
          </a:xfrm>
        </p:spPr>
        <p:txBody>
          <a:bodyPr>
            <a:normAutofit fontScale="90000"/>
          </a:bodyPr>
          <a:lstStyle/>
          <a:p>
            <a:r>
              <a:rPr lang="en-US" dirty="0"/>
              <a:t>Inheritance </a:t>
            </a:r>
          </a:p>
        </p:txBody>
      </p:sp>
      <p:sp>
        <p:nvSpPr>
          <p:cNvPr id="3" name="Content Placeholder 2"/>
          <p:cNvSpPr>
            <a:spLocks noGrp="1"/>
          </p:cNvSpPr>
          <p:nvPr>
            <p:ph idx="1"/>
          </p:nvPr>
        </p:nvSpPr>
        <p:spPr>
          <a:xfrm>
            <a:off x="457200" y="533400"/>
            <a:ext cx="8229600" cy="5592763"/>
          </a:xfrm>
        </p:spPr>
        <p:txBody>
          <a:bodyPr>
            <a:normAutofit fontScale="92500" lnSpcReduction="10000"/>
          </a:bodyPr>
          <a:lstStyle/>
          <a:p>
            <a:r>
              <a:rPr lang="en-US" dirty="0"/>
              <a:t>It is a feature which provide code reusability where the member defined in one class can be consumed from other class provided they have parent child relationship. which gives us reusability of the code. Syntax:</a:t>
            </a:r>
          </a:p>
          <a:p>
            <a:pPr>
              <a:buNone/>
            </a:pPr>
            <a:r>
              <a:rPr lang="en-US" dirty="0"/>
              <a:t>[&lt;modifier&gt;]class&lt;cc Name&gt;:&lt;pc Name&gt;</a:t>
            </a:r>
          </a:p>
          <a:p>
            <a:pPr>
              <a:buNone/>
            </a:pPr>
            <a:r>
              <a:rPr lang="en-US" sz="2200" dirty="0"/>
              <a:t>Class class1</a:t>
            </a:r>
          </a:p>
          <a:p>
            <a:pPr>
              <a:buNone/>
            </a:pPr>
            <a:r>
              <a:rPr lang="en-US" sz="2200" dirty="0"/>
              <a:t>{</a:t>
            </a:r>
          </a:p>
          <a:p>
            <a:pPr>
              <a:buNone/>
            </a:pPr>
            <a:r>
              <a:rPr lang="en-US" sz="2200" dirty="0"/>
              <a:t>	members</a:t>
            </a:r>
          </a:p>
          <a:p>
            <a:pPr>
              <a:buNone/>
            </a:pPr>
            <a:r>
              <a:rPr lang="en-US" sz="2200" dirty="0"/>
              <a:t>}</a:t>
            </a:r>
          </a:p>
          <a:p>
            <a:pPr>
              <a:buNone/>
            </a:pPr>
            <a:r>
              <a:rPr lang="en-US" sz="2200" dirty="0"/>
              <a:t>Class class2:class1</a:t>
            </a:r>
          </a:p>
          <a:p>
            <a:pPr>
              <a:buNone/>
            </a:pPr>
            <a:r>
              <a:rPr lang="en-US" sz="2200" dirty="0"/>
              <a:t>{</a:t>
            </a:r>
          </a:p>
          <a:p>
            <a:pPr>
              <a:buNone/>
            </a:pPr>
            <a:r>
              <a:rPr lang="en-US" sz="2200" dirty="0"/>
              <a:t>	consume the parent member here</a:t>
            </a:r>
          </a:p>
          <a:p>
            <a:pPr>
              <a:buNone/>
            </a:pPr>
            <a:r>
              <a:rPr lang="en-US" sz="2200" dirty="0"/>
              <a:t>}</a:t>
            </a:r>
          </a:p>
        </p:txBody>
      </p:sp>
      <p:sp>
        <p:nvSpPr>
          <p:cNvPr id="4" name="Oval 3"/>
          <p:cNvSpPr/>
          <p:nvPr/>
        </p:nvSpPr>
        <p:spPr>
          <a:xfrm>
            <a:off x="5562600" y="3200400"/>
            <a:ext cx="2667000" cy="914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p:cNvSpPr/>
          <p:nvPr/>
        </p:nvSpPr>
        <p:spPr>
          <a:xfrm>
            <a:off x="5867400" y="3505200"/>
            <a:ext cx="1981200" cy="381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member</a:t>
            </a:r>
          </a:p>
        </p:txBody>
      </p:sp>
      <p:sp>
        <p:nvSpPr>
          <p:cNvPr id="7" name="Oval 6"/>
          <p:cNvSpPr/>
          <p:nvPr/>
        </p:nvSpPr>
        <p:spPr>
          <a:xfrm>
            <a:off x="5715000" y="5181600"/>
            <a:ext cx="2590800" cy="762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consumed</a:t>
            </a:r>
          </a:p>
        </p:txBody>
      </p:sp>
      <p:sp>
        <p:nvSpPr>
          <p:cNvPr id="8" name="Rectangle 7"/>
          <p:cNvSpPr/>
          <p:nvPr/>
        </p:nvSpPr>
        <p:spPr>
          <a:xfrm>
            <a:off x="7162800" y="2895600"/>
            <a:ext cx="1295400" cy="304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class1</a:t>
            </a:r>
          </a:p>
        </p:txBody>
      </p:sp>
      <p:sp>
        <p:nvSpPr>
          <p:cNvPr id="9" name="Rectangle 8"/>
          <p:cNvSpPr/>
          <p:nvPr/>
        </p:nvSpPr>
        <p:spPr>
          <a:xfrm>
            <a:off x="7848600" y="4953000"/>
            <a:ext cx="914400" cy="304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class2</a:t>
            </a:r>
          </a:p>
        </p:txBody>
      </p:sp>
      <p:cxnSp>
        <p:nvCxnSpPr>
          <p:cNvPr id="11" name="Straight Arrow Connector 10"/>
          <p:cNvCxnSpPr/>
          <p:nvPr/>
        </p:nvCxnSpPr>
        <p:spPr>
          <a:xfrm rot="16200000" flipH="1">
            <a:off x="5715000" y="4648200"/>
            <a:ext cx="1600200" cy="76200"/>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13" name="Straight Arrow Connector 12"/>
          <p:cNvCxnSpPr>
            <a:endCxn id="7" idx="0"/>
          </p:cNvCxnSpPr>
          <p:nvPr/>
        </p:nvCxnSpPr>
        <p:spPr>
          <a:xfrm rot="5400000">
            <a:off x="6515100" y="4610100"/>
            <a:ext cx="1066800" cy="7620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14" name="Rounded Rectangular Callout 13"/>
          <p:cNvSpPr/>
          <p:nvPr/>
        </p:nvSpPr>
        <p:spPr>
          <a:xfrm>
            <a:off x="7086600" y="4267200"/>
            <a:ext cx="1828800" cy="457200"/>
          </a:xfrm>
          <a:prstGeom prst="wedgeRoundRectCallout">
            <a:avLst>
              <a:gd name="adj1" fmla="val -51926"/>
              <a:gd name="adj2" fmla="val 114192"/>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If parent child  relation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87362"/>
          </a:xfrm>
        </p:spPr>
        <p:txBody>
          <a:bodyPr>
            <a:normAutofit fontScale="90000"/>
          </a:bodyPr>
          <a:lstStyle/>
          <a:p>
            <a:r>
              <a:rPr lang="en-US" dirty="0"/>
              <a:t>Inheritance (cont..)</a:t>
            </a:r>
          </a:p>
        </p:txBody>
      </p:sp>
      <p:sp>
        <p:nvSpPr>
          <p:cNvPr id="3" name="Content Placeholder 2"/>
          <p:cNvSpPr>
            <a:spLocks noGrp="1"/>
          </p:cNvSpPr>
          <p:nvPr>
            <p:ph idx="1"/>
          </p:nvPr>
        </p:nvSpPr>
        <p:spPr>
          <a:xfrm>
            <a:off x="457200" y="990600"/>
            <a:ext cx="8229600" cy="5135563"/>
          </a:xfrm>
        </p:spPr>
        <p:txBody>
          <a:bodyPr/>
          <a:lstStyle/>
          <a:p>
            <a:r>
              <a:rPr lang="en-US" dirty="0"/>
              <a:t>The default scope of member in a class is private the can’t be access from child class even in the case of inheritance.</a:t>
            </a:r>
          </a:p>
          <a:p>
            <a:r>
              <a:rPr lang="en-US" dirty="0">
                <a:hlinkClick r:id="rId2" action="ppaction://hlinkfile"/>
              </a:rPr>
              <a:t>Ex</a:t>
            </a:r>
            <a:r>
              <a:rPr lang="en-US" dirty="0"/>
              <a:t>: </a:t>
            </a:r>
          </a:p>
          <a:p>
            <a:r>
              <a:rPr lang="en-US" dirty="0"/>
              <a:t>If we change any method in the class1 public to </a:t>
            </a:r>
            <a:r>
              <a:rPr lang="en-US" b="1" dirty="0"/>
              <a:t>private</a:t>
            </a:r>
            <a:r>
              <a:rPr lang="en-US" dirty="0"/>
              <a:t> then it will not work.</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normAutofit fontScale="90000"/>
          </a:bodyPr>
          <a:lstStyle/>
          <a:p>
            <a:r>
              <a:rPr lang="en-US" dirty="0"/>
              <a:t>Rules to adopted or consider incase of inheritance</a:t>
            </a:r>
          </a:p>
        </p:txBody>
      </p:sp>
      <p:sp>
        <p:nvSpPr>
          <p:cNvPr id="3" name="Content Placeholder 2"/>
          <p:cNvSpPr>
            <a:spLocks noGrp="1"/>
          </p:cNvSpPr>
          <p:nvPr>
            <p:ph idx="1"/>
          </p:nvPr>
        </p:nvSpPr>
        <p:spPr>
          <a:xfrm>
            <a:off x="457200" y="1219200"/>
            <a:ext cx="8229600" cy="4906963"/>
          </a:xfrm>
        </p:spPr>
        <p:txBody>
          <a:bodyPr>
            <a:normAutofit fontScale="92500" lnSpcReduction="10000"/>
          </a:bodyPr>
          <a:lstStyle/>
          <a:p>
            <a:r>
              <a:rPr lang="en-US" dirty="0"/>
              <a:t>In inheritance as the execution of child class start by invoking default constructor of parent class so parent class default constructor should be accessible to the child classes or else inheritance cannot be perform.</a:t>
            </a:r>
          </a:p>
          <a:p>
            <a:r>
              <a:rPr lang="en-US" dirty="0"/>
              <a:t>In inheritance child class can consume members of parent class but a parent class can’t consume member of its child class.</a:t>
            </a:r>
          </a:p>
          <a:p>
            <a:pPr>
              <a:buNone/>
            </a:pPr>
            <a:r>
              <a:rPr lang="en-US" dirty="0"/>
              <a:t>Class2 c=new Class2(); class1 p=c;</a:t>
            </a:r>
          </a:p>
          <a:p>
            <a:pPr>
              <a:buNone/>
            </a:pPr>
            <a:r>
              <a:rPr lang="en-US" dirty="0"/>
              <a:t>p.Test1();p.test2();p.test3(); </a:t>
            </a:r>
            <a:r>
              <a:rPr lang="en-US" dirty="0" err="1"/>
              <a:t>Console.ReadLine</a:t>
            </a:r>
            <a:r>
              <a:rPr lang="en-US" dirty="0"/>
              <a:t>();</a:t>
            </a:r>
          </a:p>
          <a:p>
            <a:pPr>
              <a:buNone/>
            </a:pPr>
            <a:endParaRPr lang="en-US" dirty="0"/>
          </a:p>
          <a:p>
            <a:endParaRPr lang="en-US" dirty="0"/>
          </a:p>
        </p:txBody>
      </p:sp>
      <p:sp>
        <p:nvSpPr>
          <p:cNvPr id="4" name="Rectangle 3"/>
          <p:cNvSpPr/>
          <p:nvPr/>
        </p:nvSpPr>
        <p:spPr>
          <a:xfrm>
            <a:off x="5638800" y="5791200"/>
            <a:ext cx="24384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Error in p.test3();</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229600" cy="5668963"/>
          </a:xfrm>
        </p:spPr>
        <p:txBody>
          <a:bodyPr>
            <a:normAutofit lnSpcReduction="10000"/>
          </a:bodyPr>
          <a:lstStyle/>
          <a:p>
            <a:r>
              <a:rPr lang="en-US" dirty="0"/>
              <a:t>As discuss earlier object of a class is assigned it to variable of same class to make it a reference in the same way it can also be assigned to a variable of its parent class and make it a reference in this scenario the reference of parent class also consume the memory allocated form child class object but now also parent reference can’t invoke child class member.</a:t>
            </a:r>
          </a:p>
          <a:p>
            <a:r>
              <a:rPr lang="en-US" sz="2000" dirty="0"/>
              <a:t>to check this rewrite the code under main method of class 2</a:t>
            </a:r>
          </a:p>
          <a:p>
            <a:r>
              <a:rPr lang="en-US" sz="2800" dirty="0"/>
              <a:t>Class2 c=new class2();</a:t>
            </a:r>
          </a:p>
          <a:p>
            <a:r>
              <a:rPr lang="en-US" sz="2800" dirty="0"/>
              <a:t>Class1 p</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229600" cy="5745163"/>
          </a:xfrm>
        </p:spPr>
        <p:txBody>
          <a:bodyPr>
            <a:normAutofit fontScale="92500"/>
          </a:bodyPr>
          <a:lstStyle/>
          <a:p>
            <a:r>
              <a:rPr lang="en-US" dirty="0"/>
              <a:t>We cannot assign parent object to child class variable but it required  a reference of parent class that is created from object of child class can be converted back into child class reference again as follows</a:t>
            </a:r>
          </a:p>
          <a:p>
            <a:r>
              <a:rPr lang="en-US" dirty="0"/>
              <a:t>Creating parent reference from child object.</a:t>
            </a:r>
          </a:p>
          <a:p>
            <a:pPr>
              <a:buNone/>
            </a:pPr>
            <a:r>
              <a:rPr lang="en-US" dirty="0"/>
              <a:t>Class2 c=new Class2();</a:t>
            </a:r>
          </a:p>
          <a:p>
            <a:pPr>
              <a:buNone/>
            </a:pPr>
            <a:r>
              <a:rPr lang="en-US" dirty="0"/>
              <a:t>Class1 p=c;</a:t>
            </a:r>
          </a:p>
          <a:p>
            <a:r>
              <a:rPr lang="en-US" dirty="0"/>
              <a:t>Convert parent reference back to child reference</a:t>
            </a:r>
          </a:p>
          <a:p>
            <a:pPr>
              <a:buNone/>
            </a:pPr>
            <a:r>
              <a:rPr lang="en-US" dirty="0"/>
              <a:t>Class2 cc=p as class2; (or)</a:t>
            </a:r>
          </a:p>
          <a:p>
            <a:pPr>
              <a:buNone/>
            </a:pPr>
            <a:r>
              <a:rPr lang="en-US" dirty="0"/>
              <a:t>Class2 cc=(class2) p;</a:t>
            </a:r>
          </a:p>
          <a:p>
            <a:pPr>
              <a:buNone/>
            </a:pPr>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5821363"/>
          </a:xfrm>
        </p:spPr>
        <p:txBody>
          <a:bodyPr>
            <a:normAutofit lnSpcReduction="10000"/>
          </a:bodyPr>
          <a:lstStyle/>
          <a:p>
            <a:r>
              <a:rPr lang="en-US" dirty="0"/>
              <a:t>Each and every class that being defined in </a:t>
            </a:r>
            <a:r>
              <a:rPr lang="en-US" dirty="0" err="1"/>
              <a:t>.net</a:t>
            </a:r>
            <a:r>
              <a:rPr lang="en-US" dirty="0"/>
              <a:t> has a default parent class. that is class object which will directly or indirectly sit on top of every class.</a:t>
            </a:r>
          </a:p>
          <a:p>
            <a:endParaRPr lang="en-US" dirty="0"/>
          </a:p>
          <a:p>
            <a:endParaRPr lang="en-US" dirty="0"/>
          </a:p>
          <a:p>
            <a:endParaRPr lang="en-US" dirty="0"/>
          </a:p>
          <a:p>
            <a:r>
              <a:rPr lang="en-US" dirty="0"/>
              <a:t>As  object is default parent class for all the classes the member of object class can be consumed from each and every class we implement ex:-get type, to string, equal, get..</a:t>
            </a:r>
          </a:p>
        </p:txBody>
      </p:sp>
      <p:sp>
        <p:nvSpPr>
          <p:cNvPr id="4" name="Rectangle 3"/>
          <p:cNvSpPr/>
          <p:nvPr/>
        </p:nvSpPr>
        <p:spPr>
          <a:xfrm>
            <a:off x="3276600" y="1905000"/>
            <a:ext cx="16002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object</a:t>
            </a:r>
          </a:p>
        </p:txBody>
      </p:sp>
      <p:sp>
        <p:nvSpPr>
          <p:cNvPr id="5" name="Rectangle 4"/>
          <p:cNvSpPr/>
          <p:nvPr/>
        </p:nvSpPr>
        <p:spPr>
          <a:xfrm>
            <a:off x="3276600" y="3352800"/>
            <a:ext cx="16002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class2</a:t>
            </a:r>
          </a:p>
        </p:txBody>
      </p:sp>
      <p:sp>
        <p:nvSpPr>
          <p:cNvPr id="6" name="Rectangle 5"/>
          <p:cNvSpPr/>
          <p:nvPr/>
        </p:nvSpPr>
        <p:spPr>
          <a:xfrm>
            <a:off x="3276600" y="2667000"/>
            <a:ext cx="16002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class1</a:t>
            </a:r>
          </a:p>
        </p:txBody>
      </p:sp>
      <p:cxnSp>
        <p:nvCxnSpPr>
          <p:cNvPr id="8" name="Straight Arrow Connector 7"/>
          <p:cNvCxnSpPr>
            <a:stCxn id="4" idx="2"/>
            <a:endCxn id="6" idx="0"/>
          </p:cNvCxnSpPr>
          <p:nvPr/>
        </p:nvCxnSpPr>
        <p:spPr>
          <a:xfrm rot="5400000">
            <a:off x="3924300" y="2514600"/>
            <a:ext cx="3048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a:stCxn id="6" idx="2"/>
            <a:endCxn id="5" idx="0"/>
          </p:cNvCxnSpPr>
          <p:nvPr/>
        </p:nvCxnSpPr>
        <p:spPr>
          <a:xfrm rot="5400000">
            <a:off x="3962400" y="3238500"/>
            <a:ext cx="2286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229600" cy="5745163"/>
          </a:xfrm>
        </p:spPr>
        <p:txBody>
          <a:bodyPr/>
          <a:lstStyle/>
          <a:p>
            <a:r>
              <a:rPr lang="en-US" dirty="0"/>
              <a:t>To check this rewrite the code </a:t>
            </a:r>
            <a:r>
              <a:rPr lang="en-US" b="1" dirty="0"/>
              <a:t>under</a:t>
            </a:r>
            <a:r>
              <a:rPr lang="en-US" dirty="0"/>
              <a:t> </a:t>
            </a:r>
            <a:r>
              <a:rPr lang="en-US" b="1" dirty="0"/>
              <a:t>Main method</a:t>
            </a:r>
            <a:r>
              <a:rPr lang="en-US" dirty="0"/>
              <a:t> of the class2 as following.</a:t>
            </a:r>
          </a:p>
          <a:p>
            <a:pPr>
              <a:buNone/>
            </a:pPr>
            <a:r>
              <a:rPr lang="en-US" dirty="0"/>
              <a:t>Object o=new object();</a:t>
            </a:r>
          </a:p>
          <a:p>
            <a:pPr>
              <a:buNone/>
            </a:pPr>
            <a:r>
              <a:rPr lang="en-US" dirty="0" err="1"/>
              <a:t>Console.WriteLine</a:t>
            </a:r>
            <a:r>
              <a:rPr lang="en-US" dirty="0"/>
              <a:t>(</a:t>
            </a:r>
            <a:r>
              <a:rPr lang="en-US" dirty="0" err="1"/>
              <a:t>o.GetType</a:t>
            </a:r>
            <a:r>
              <a:rPr lang="en-US" dirty="0"/>
              <a:t>());</a:t>
            </a:r>
          </a:p>
          <a:p>
            <a:pPr>
              <a:buNone/>
            </a:pPr>
            <a:r>
              <a:rPr lang="en-US" dirty="0"/>
              <a:t>Class1 p=new class1();</a:t>
            </a:r>
          </a:p>
          <a:p>
            <a:pPr>
              <a:buNone/>
            </a:pPr>
            <a:r>
              <a:rPr lang="en-US" dirty="0" err="1"/>
              <a:t>Console.WriteLine</a:t>
            </a:r>
            <a:r>
              <a:rPr lang="en-US" dirty="0"/>
              <a:t>(</a:t>
            </a:r>
            <a:r>
              <a:rPr lang="en-US" dirty="0" err="1"/>
              <a:t>p.GetType</a:t>
            </a:r>
            <a:r>
              <a:rPr lang="en-US" dirty="0"/>
              <a:t>());</a:t>
            </a:r>
          </a:p>
          <a:p>
            <a:pPr>
              <a:buNone/>
            </a:pPr>
            <a:r>
              <a:rPr lang="en-US" dirty="0"/>
              <a:t>Class2.c=new class2();</a:t>
            </a:r>
          </a:p>
          <a:p>
            <a:pPr>
              <a:buNone/>
            </a:pPr>
            <a:r>
              <a:rPr lang="en-US" dirty="0" err="1"/>
              <a:t>Console.WriteLine</a:t>
            </a:r>
            <a:r>
              <a:rPr lang="en-US" dirty="0"/>
              <a:t>(</a:t>
            </a:r>
            <a:r>
              <a:rPr lang="en-US" dirty="0" err="1"/>
              <a:t>c.GetType</a:t>
            </a:r>
            <a:r>
              <a:rPr lang="en-US" dirty="0"/>
              <a:t>());</a:t>
            </a:r>
          </a:p>
          <a:p>
            <a:pPr>
              <a:buNone/>
            </a:pPr>
            <a:r>
              <a:rPr lang="en-US" dirty="0" err="1"/>
              <a:t>Console.ReadLine</a:t>
            </a:r>
            <a:r>
              <a:rPr lang="en-US" dirty="0"/>
              <a: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563562"/>
          </a:xfrm>
        </p:spPr>
        <p:txBody>
          <a:bodyPr>
            <a:noAutofit/>
          </a:bodyPr>
          <a:lstStyle/>
          <a:p>
            <a:r>
              <a:rPr lang="en-US" sz="3200" dirty="0"/>
              <a:t>Situation where to implement inheritance</a:t>
            </a:r>
          </a:p>
        </p:txBody>
      </p:sp>
      <p:sp>
        <p:nvSpPr>
          <p:cNvPr id="3" name="Content Placeholder 2"/>
          <p:cNvSpPr>
            <a:spLocks noGrp="1"/>
          </p:cNvSpPr>
          <p:nvPr>
            <p:ph idx="1"/>
          </p:nvPr>
        </p:nvSpPr>
        <p:spPr>
          <a:xfrm>
            <a:off x="457200" y="762000"/>
            <a:ext cx="8229600" cy="5364163"/>
          </a:xfrm>
        </p:spPr>
        <p:txBody>
          <a:bodyPr/>
          <a:lstStyle/>
          <a:p>
            <a:r>
              <a:rPr lang="en-US" dirty="0"/>
              <a:t>Assume that a company has N-no of branches and asked to computerized branches details of the company, then we create a class like</a:t>
            </a:r>
          </a:p>
        </p:txBody>
      </p:sp>
      <p:sp>
        <p:nvSpPr>
          <p:cNvPr id="4" name="Rectangle 3"/>
          <p:cNvSpPr/>
          <p:nvPr/>
        </p:nvSpPr>
        <p:spPr>
          <a:xfrm>
            <a:off x="1524000" y="2438400"/>
            <a:ext cx="2819400" cy="304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p:cNvSpPr/>
          <p:nvPr/>
        </p:nvSpPr>
        <p:spPr>
          <a:xfrm>
            <a:off x="1524000" y="2514600"/>
            <a:ext cx="2819400" cy="685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err="1"/>
              <a:t>ClsBranch</a:t>
            </a:r>
            <a:endParaRPr lang="en-US" dirty="0"/>
          </a:p>
        </p:txBody>
      </p:sp>
      <p:sp>
        <p:nvSpPr>
          <p:cNvPr id="6" name="Rectangle 5"/>
          <p:cNvSpPr/>
          <p:nvPr/>
        </p:nvSpPr>
        <p:spPr>
          <a:xfrm>
            <a:off x="1524000" y="3200400"/>
            <a:ext cx="2819400" cy="1143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err="1"/>
              <a:t>Int</a:t>
            </a:r>
            <a:r>
              <a:rPr lang="en-US" dirty="0"/>
              <a:t> </a:t>
            </a:r>
            <a:r>
              <a:rPr lang="en-US" dirty="0" err="1"/>
              <a:t>Bcode</a:t>
            </a:r>
            <a:endParaRPr lang="en-US" dirty="0"/>
          </a:p>
          <a:p>
            <a:r>
              <a:rPr lang="en-US" dirty="0"/>
              <a:t>String </a:t>
            </a:r>
            <a:r>
              <a:rPr lang="en-US" dirty="0" err="1"/>
              <a:t>Baddress</a:t>
            </a:r>
            <a:endParaRPr lang="en-US" dirty="0"/>
          </a:p>
          <a:p>
            <a:r>
              <a:rPr lang="en-US" dirty="0"/>
              <a:t>String </a:t>
            </a:r>
            <a:r>
              <a:rPr lang="en-US" dirty="0" err="1"/>
              <a:t>BName</a:t>
            </a:r>
            <a:endParaRPr lang="en-US" dirty="0"/>
          </a:p>
        </p:txBody>
      </p:sp>
      <p:sp>
        <p:nvSpPr>
          <p:cNvPr id="7" name="Rectangle 6"/>
          <p:cNvSpPr/>
          <p:nvPr/>
        </p:nvSpPr>
        <p:spPr>
          <a:xfrm>
            <a:off x="1524000" y="4343400"/>
            <a:ext cx="2819400" cy="1143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t>Public  Void </a:t>
            </a:r>
            <a:r>
              <a:rPr lang="en-US" dirty="0" err="1"/>
              <a:t>GetBData</a:t>
            </a:r>
            <a:r>
              <a:rPr lang="en-US" dirty="0"/>
              <a:t>()</a:t>
            </a:r>
          </a:p>
          <a:p>
            <a:r>
              <a:rPr lang="en-US" dirty="0"/>
              <a:t>Public void </a:t>
            </a:r>
            <a:r>
              <a:rPr lang="en-US" dirty="0" err="1"/>
              <a:t>DisplayData</a:t>
            </a:r>
            <a:r>
              <a:rPr lang="en-US" dirty="0"/>
              <a:t>()</a:t>
            </a:r>
          </a:p>
        </p:txBody>
      </p:sp>
      <p:sp>
        <p:nvSpPr>
          <p:cNvPr id="8" name="Rectangle 7"/>
          <p:cNvSpPr/>
          <p:nvPr/>
        </p:nvSpPr>
        <p:spPr>
          <a:xfrm>
            <a:off x="4648200" y="3429000"/>
            <a:ext cx="1066800" cy="685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t>obj</a:t>
            </a:r>
            <a:endParaRPr lang="en-US" dirty="0"/>
          </a:p>
        </p:txBody>
      </p:sp>
      <p:sp>
        <p:nvSpPr>
          <p:cNvPr id="9" name="Rectangle 8"/>
          <p:cNvSpPr/>
          <p:nvPr/>
        </p:nvSpPr>
        <p:spPr>
          <a:xfrm>
            <a:off x="6172200" y="2819400"/>
            <a:ext cx="13716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err="1"/>
              <a:t>Bcode</a:t>
            </a:r>
            <a:endParaRPr lang="en-US" b="1" dirty="0"/>
          </a:p>
        </p:txBody>
      </p:sp>
      <p:sp>
        <p:nvSpPr>
          <p:cNvPr id="10" name="Rectangle 9"/>
          <p:cNvSpPr/>
          <p:nvPr/>
        </p:nvSpPr>
        <p:spPr>
          <a:xfrm>
            <a:off x="6172200" y="3352800"/>
            <a:ext cx="13716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t>BName</a:t>
            </a:r>
            <a:endParaRPr lang="en-US" dirty="0"/>
          </a:p>
        </p:txBody>
      </p:sp>
      <p:sp>
        <p:nvSpPr>
          <p:cNvPr id="11" name="Rectangle 10"/>
          <p:cNvSpPr/>
          <p:nvPr/>
        </p:nvSpPr>
        <p:spPr>
          <a:xfrm>
            <a:off x="6172200" y="3886200"/>
            <a:ext cx="13716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t>BAddress</a:t>
            </a:r>
            <a:endParaRPr lang="en-US" dirty="0"/>
          </a:p>
        </p:txBody>
      </p:sp>
      <p:cxnSp>
        <p:nvCxnSpPr>
          <p:cNvPr id="13" name="Straight Arrow Connector 12"/>
          <p:cNvCxnSpPr>
            <a:endCxn id="9" idx="1"/>
          </p:cNvCxnSpPr>
          <p:nvPr/>
        </p:nvCxnSpPr>
        <p:spPr>
          <a:xfrm flipV="1">
            <a:off x="5638800" y="3086100"/>
            <a:ext cx="533400" cy="3429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a:stCxn id="8" idx="3"/>
          </p:cNvCxnSpPr>
          <p:nvPr/>
        </p:nvCxnSpPr>
        <p:spPr>
          <a:xfrm flipV="1">
            <a:off x="5715000" y="3733800"/>
            <a:ext cx="381000" cy="381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p:nvPr/>
        </p:nvCxnSpPr>
        <p:spPr>
          <a:xfrm>
            <a:off x="5715000" y="4114800"/>
            <a:ext cx="457200" cy="1524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229600" cy="5745163"/>
          </a:xfrm>
        </p:spPr>
        <p:txBody>
          <a:bodyPr/>
          <a:lstStyle/>
          <a:p>
            <a:r>
              <a:rPr lang="en-US" dirty="0"/>
              <a:t>Late after, some period of time ,company also asked to computerize employees details of each branch.</a:t>
            </a:r>
          </a:p>
          <a:p>
            <a:r>
              <a:rPr lang="en-US" dirty="0"/>
              <a:t>If we create two classes individually with out inheritance we need to create objects for every class individually and objects will have maintained separate references to the members of the classes like</a:t>
            </a:r>
          </a:p>
        </p:txBody>
      </p:sp>
      <p:sp>
        <p:nvSpPr>
          <p:cNvPr id="4" name="Rectangle 3"/>
          <p:cNvSpPr/>
          <p:nvPr/>
        </p:nvSpPr>
        <p:spPr>
          <a:xfrm>
            <a:off x="914400" y="4419600"/>
            <a:ext cx="2895600" cy="304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err="1"/>
              <a:t>ClsEmployee</a:t>
            </a:r>
            <a:endParaRPr lang="en-US" dirty="0"/>
          </a:p>
        </p:txBody>
      </p:sp>
      <p:sp>
        <p:nvSpPr>
          <p:cNvPr id="5" name="Rectangle 4"/>
          <p:cNvSpPr/>
          <p:nvPr/>
        </p:nvSpPr>
        <p:spPr>
          <a:xfrm>
            <a:off x="914400" y="4724400"/>
            <a:ext cx="2895600" cy="990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err="1"/>
              <a:t>Int</a:t>
            </a:r>
            <a:r>
              <a:rPr lang="en-US" dirty="0"/>
              <a:t> </a:t>
            </a:r>
            <a:r>
              <a:rPr lang="en-US" dirty="0" err="1"/>
              <a:t>EmpId</a:t>
            </a:r>
            <a:endParaRPr lang="en-US" dirty="0"/>
          </a:p>
          <a:p>
            <a:r>
              <a:rPr lang="en-US" dirty="0" err="1"/>
              <a:t>stringEName</a:t>
            </a:r>
            <a:endParaRPr lang="en-US" dirty="0"/>
          </a:p>
          <a:p>
            <a:r>
              <a:rPr lang="en-US" dirty="0"/>
              <a:t>String </a:t>
            </a:r>
            <a:r>
              <a:rPr lang="en-US" dirty="0" err="1"/>
              <a:t>Eaddress</a:t>
            </a:r>
            <a:endParaRPr lang="en-US" dirty="0"/>
          </a:p>
          <a:p>
            <a:r>
              <a:rPr lang="en-US" dirty="0" err="1"/>
              <a:t>Int</a:t>
            </a:r>
            <a:r>
              <a:rPr lang="en-US" dirty="0"/>
              <a:t> </a:t>
            </a:r>
            <a:r>
              <a:rPr lang="en-US" dirty="0" err="1"/>
              <a:t>EAge</a:t>
            </a:r>
            <a:endParaRPr lang="en-US" dirty="0"/>
          </a:p>
        </p:txBody>
      </p:sp>
      <p:sp>
        <p:nvSpPr>
          <p:cNvPr id="6" name="Rectangle 5"/>
          <p:cNvSpPr/>
          <p:nvPr/>
        </p:nvSpPr>
        <p:spPr>
          <a:xfrm>
            <a:off x="914400" y="5715000"/>
            <a:ext cx="28956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t>Public void </a:t>
            </a:r>
            <a:r>
              <a:rPr lang="en-US" dirty="0" err="1"/>
              <a:t>GetEmpData</a:t>
            </a:r>
            <a:r>
              <a:rPr lang="en-US" dirty="0"/>
              <a:t>()</a:t>
            </a:r>
          </a:p>
          <a:p>
            <a:r>
              <a:rPr lang="en-US" dirty="0"/>
              <a:t>Public void </a:t>
            </a:r>
            <a:r>
              <a:rPr lang="en-US" dirty="0" err="1"/>
              <a:t>DisplayEmpdata</a:t>
            </a:r>
            <a:r>
              <a:rPr lang="en-US" dirty="0"/>
              <a:t>()</a:t>
            </a:r>
          </a:p>
        </p:txBody>
      </p:sp>
      <p:sp>
        <p:nvSpPr>
          <p:cNvPr id="7" name="Rectangle 6"/>
          <p:cNvSpPr/>
          <p:nvPr/>
        </p:nvSpPr>
        <p:spPr>
          <a:xfrm>
            <a:off x="4648200" y="4800600"/>
            <a:ext cx="9906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obj5</a:t>
            </a:r>
          </a:p>
        </p:txBody>
      </p:sp>
      <p:sp>
        <p:nvSpPr>
          <p:cNvPr id="8" name="Rectangle 7"/>
          <p:cNvSpPr/>
          <p:nvPr/>
        </p:nvSpPr>
        <p:spPr>
          <a:xfrm>
            <a:off x="6629400" y="4114800"/>
            <a:ext cx="12192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t>EmpId</a:t>
            </a:r>
            <a:endParaRPr lang="en-US" dirty="0"/>
          </a:p>
        </p:txBody>
      </p:sp>
      <p:sp>
        <p:nvSpPr>
          <p:cNvPr id="9" name="Rectangle 8"/>
          <p:cNvSpPr/>
          <p:nvPr/>
        </p:nvSpPr>
        <p:spPr>
          <a:xfrm>
            <a:off x="6629400" y="4572000"/>
            <a:ext cx="12192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t>EName</a:t>
            </a:r>
            <a:endParaRPr lang="en-US" dirty="0"/>
          </a:p>
        </p:txBody>
      </p:sp>
      <p:sp>
        <p:nvSpPr>
          <p:cNvPr id="10" name="Rectangle 9"/>
          <p:cNvSpPr/>
          <p:nvPr/>
        </p:nvSpPr>
        <p:spPr>
          <a:xfrm>
            <a:off x="6629400" y="5029200"/>
            <a:ext cx="12192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t>EAddress</a:t>
            </a:r>
            <a:endParaRPr lang="en-US" dirty="0"/>
          </a:p>
        </p:txBody>
      </p:sp>
      <p:sp>
        <p:nvSpPr>
          <p:cNvPr id="11" name="Rectangle 10"/>
          <p:cNvSpPr/>
          <p:nvPr/>
        </p:nvSpPr>
        <p:spPr>
          <a:xfrm>
            <a:off x="6629400" y="5486400"/>
            <a:ext cx="12192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t>EAge</a:t>
            </a:r>
            <a:endParaRPr lang="en-US" dirty="0"/>
          </a:p>
        </p:txBody>
      </p:sp>
      <p:cxnSp>
        <p:nvCxnSpPr>
          <p:cNvPr id="13" name="Straight Arrow Connector 12"/>
          <p:cNvCxnSpPr/>
          <p:nvPr/>
        </p:nvCxnSpPr>
        <p:spPr>
          <a:xfrm flipV="1">
            <a:off x="5638800" y="4267200"/>
            <a:ext cx="914400" cy="5334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a:stCxn id="7" idx="3"/>
          </p:cNvCxnSpPr>
          <p:nvPr/>
        </p:nvCxnSpPr>
        <p:spPr>
          <a:xfrm flipV="1">
            <a:off x="5638800" y="4800600"/>
            <a:ext cx="914400" cy="2286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a:endCxn id="10" idx="1"/>
          </p:cNvCxnSpPr>
          <p:nvPr/>
        </p:nvCxnSpPr>
        <p:spPr>
          <a:xfrm>
            <a:off x="5638800" y="5181600"/>
            <a:ext cx="990600" cy="762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a:endCxn id="11" idx="1"/>
          </p:cNvCxnSpPr>
          <p:nvPr/>
        </p:nvCxnSpPr>
        <p:spPr>
          <a:xfrm>
            <a:off x="5638800" y="5257800"/>
            <a:ext cx="990600" cy="4572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229600" cy="5745163"/>
          </a:xfrm>
        </p:spPr>
        <p:txBody>
          <a:bodyPr>
            <a:normAutofit lnSpcReduction="10000"/>
          </a:bodyPr>
          <a:lstStyle/>
          <a:p>
            <a:r>
              <a:rPr lang="en-US" dirty="0"/>
              <a:t>Where obj1 is object to </a:t>
            </a:r>
            <a:r>
              <a:rPr lang="en-US" dirty="0" err="1"/>
              <a:t>ClsBranch</a:t>
            </a:r>
            <a:r>
              <a:rPr lang="en-US" dirty="0"/>
              <a:t> class and Obj5 is object to </a:t>
            </a:r>
            <a:r>
              <a:rPr lang="en-US" dirty="0" err="1"/>
              <a:t>ClsEmployee</a:t>
            </a:r>
            <a:r>
              <a:rPr lang="en-US" dirty="0"/>
              <a:t> class.</a:t>
            </a:r>
          </a:p>
          <a:p>
            <a:r>
              <a:rPr lang="en-US" dirty="0"/>
              <a:t>So it become difficult to identify which employee belongs to which branch and integrate the </a:t>
            </a:r>
            <a:r>
              <a:rPr lang="en-US" dirty="0" err="1"/>
              <a:t>clsBranch</a:t>
            </a:r>
            <a:r>
              <a:rPr lang="en-US" dirty="0"/>
              <a:t> class objects with </a:t>
            </a:r>
            <a:br>
              <a:rPr lang="en-US" dirty="0"/>
            </a:br>
            <a:r>
              <a:rPr lang="en-US" dirty="0" err="1"/>
              <a:t>ClsEmployee</a:t>
            </a:r>
            <a:r>
              <a:rPr lang="en-US" dirty="0"/>
              <a:t> class objects.</a:t>
            </a:r>
          </a:p>
          <a:p>
            <a:r>
              <a:rPr lang="en-US" dirty="0"/>
              <a:t>So if  we derive the </a:t>
            </a:r>
            <a:r>
              <a:rPr lang="en-US" dirty="0" err="1"/>
              <a:t>ClsEmployee</a:t>
            </a:r>
            <a:r>
              <a:rPr lang="en-US" dirty="0"/>
              <a:t> class from </a:t>
            </a:r>
            <a:r>
              <a:rPr lang="en-US" dirty="0" err="1"/>
              <a:t>ClsBranch</a:t>
            </a:r>
            <a:r>
              <a:rPr lang="en-US" dirty="0"/>
              <a:t> class we create object to the Derived class </a:t>
            </a:r>
            <a:r>
              <a:rPr lang="en-US" dirty="0" err="1"/>
              <a:t>ClsEmployee</a:t>
            </a:r>
            <a:r>
              <a:rPr lang="en-US" dirty="0"/>
              <a:t> then it will represent both the classes and will maintain reference to the members of both base and derived classes like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229600" cy="5668963"/>
          </a:xfrm>
        </p:spPr>
        <p:txBody>
          <a:bodyPr/>
          <a:lstStyle/>
          <a:p>
            <a:endParaRPr lang="en-US" dirty="0"/>
          </a:p>
          <a:p>
            <a:endParaRPr lang="en-US" dirty="0"/>
          </a:p>
          <a:p>
            <a:endParaRPr lang="en-US" dirty="0"/>
          </a:p>
          <a:p>
            <a:endParaRPr lang="en-US" dirty="0"/>
          </a:p>
          <a:p>
            <a:endParaRPr lang="en-US" dirty="0"/>
          </a:p>
          <a:p>
            <a:endParaRPr lang="en-US" dirty="0"/>
          </a:p>
          <a:p>
            <a:endParaRPr lang="en-US" dirty="0"/>
          </a:p>
        </p:txBody>
      </p:sp>
      <p:sp>
        <p:nvSpPr>
          <p:cNvPr id="4" name="Rectangle 3"/>
          <p:cNvSpPr/>
          <p:nvPr/>
        </p:nvSpPr>
        <p:spPr>
          <a:xfrm>
            <a:off x="533400" y="1905000"/>
            <a:ext cx="1143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obj1</a:t>
            </a:r>
          </a:p>
        </p:txBody>
      </p:sp>
      <p:sp>
        <p:nvSpPr>
          <p:cNvPr id="5" name="Rectangle 4"/>
          <p:cNvSpPr/>
          <p:nvPr/>
        </p:nvSpPr>
        <p:spPr>
          <a:xfrm>
            <a:off x="2438400" y="914400"/>
            <a:ext cx="1219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t>Bcode</a:t>
            </a:r>
            <a:endParaRPr lang="en-US" dirty="0"/>
          </a:p>
        </p:txBody>
      </p:sp>
      <p:sp>
        <p:nvSpPr>
          <p:cNvPr id="7" name="Rectangle 6"/>
          <p:cNvSpPr/>
          <p:nvPr/>
        </p:nvSpPr>
        <p:spPr>
          <a:xfrm>
            <a:off x="2438400" y="1295400"/>
            <a:ext cx="1219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t>BName</a:t>
            </a:r>
            <a:endParaRPr lang="en-US" dirty="0"/>
          </a:p>
        </p:txBody>
      </p:sp>
      <p:sp>
        <p:nvSpPr>
          <p:cNvPr id="8" name="Rectangle 7"/>
          <p:cNvSpPr/>
          <p:nvPr/>
        </p:nvSpPr>
        <p:spPr>
          <a:xfrm>
            <a:off x="2438400" y="3200400"/>
            <a:ext cx="1219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t>EAge</a:t>
            </a:r>
            <a:endParaRPr lang="en-US" dirty="0"/>
          </a:p>
        </p:txBody>
      </p:sp>
      <p:sp>
        <p:nvSpPr>
          <p:cNvPr id="9" name="Rectangle 8"/>
          <p:cNvSpPr/>
          <p:nvPr/>
        </p:nvSpPr>
        <p:spPr>
          <a:xfrm>
            <a:off x="2438400" y="1676400"/>
            <a:ext cx="1219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t>BAddress</a:t>
            </a:r>
            <a:endParaRPr lang="en-US" dirty="0"/>
          </a:p>
        </p:txBody>
      </p:sp>
      <p:sp>
        <p:nvSpPr>
          <p:cNvPr id="10" name="Rectangle 9"/>
          <p:cNvSpPr/>
          <p:nvPr/>
        </p:nvSpPr>
        <p:spPr>
          <a:xfrm>
            <a:off x="2438400" y="2057400"/>
            <a:ext cx="1219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t>EmpId</a:t>
            </a:r>
            <a:endParaRPr lang="en-US" dirty="0"/>
          </a:p>
        </p:txBody>
      </p:sp>
      <p:sp>
        <p:nvSpPr>
          <p:cNvPr id="11" name="Rectangle 10"/>
          <p:cNvSpPr/>
          <p:nvPr/>
        </p:nvSpPr>
        <p:spPr>
          <a:xfrm>
            <a:off x="2438400" y="2438400"/>
            <a:ext cx="1219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t>EName</a:t>
            </a:r>
            <a:endParaRPr lang="en-US" dirty="0"/>
          </a:p>
        </p:txBody>
      </p:sp>
      <p:sp>
        <p:nvSpPr>
          <p:cNvPr id="12" name="Rectangle 11"/>
          <p:cNvSpPr/>
          <p:nvPr/>
        </p:nvSpPr>
        <p:spPr>
          <a:xfrm>
            <a:off x="2438400" y="2819400"/>
            <a:ext cx="1219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t>EAddress</a:t>
            </a:r>
            <a:endParaRPr lang="en-US" dirty="0"/>
          </a:p>
        </p:txBody>
      </p:sp>
      <p:cxnSp>
        <p:nvCxnSpPr>
          <p:cNvPr id="14" name="Straight Arrow Connector 13"/>
          <p:cNvCxnSpPr/>
          <p:nvPr/>
        </p:nvCxnSpPr>
        <p:spPr>
          <a:xfrm rot="5400000" flipH="1" flipV="1">
            <a:off x="1600200" y="1143000"/>
            <a:ext cx="838200" cy="6858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a:stCxn id="4" idx="3"/>
          </p:cNvCxnSpPr>
          <p:nvPr/>
        </p:nvCxnSpPr>
        <p:spPr>
          <a:xfrm flipV="1">
            <a:off x="1676400" y="1524000"/>
            <a:ext cx="685800" cy="6096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a:stCxn id="4" idx="3"/>
            <a:endCxn id="9" idx="1"/>
          </p:cNvCxnSpPr>
          <p:nvPr/>
        </p:nvCxnSpPr>
        <p:spPr>
          <a:xfrm flipV="1">
            <a:off x="1676400" y="1866900"/>
            <a:ext cx="762000" cy="2667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a:stCxn id="4" idx="3"/>
            <a:endCxn id="10" idx="1"/>
          </p:cNvCxnSpPr>
          <p:nvPr/>
        </p:nvCxnSpPr>
        <p:spPr>
          <a:xfrm>
            <a:off x="1676400" y="2133600"/>
            <a:ext cx="762000" cy="1143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a:stCxn id="4" idx="3"/>
            <a:endCxn id="11" idx="1"/>
          </p:cNvCxnSpPr>
          <p:nvPr/>
        </p:nvCxnSpPr>
        <p:spPr>
          <a:xfrm>
            <a:off x="1676400" y="2133600"/>
            <a:ext cx="762000" cy="4953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a:endCxn id="12" idx="1"/>
          </p:cNvCxnSpPr>
          <p:nvPr/>
        </p:nvCxnSpPr>
        <p:spPr>
          <a:xfrm>
            <a:off x="1676400" y="2286000"/>
            <a:ext cx="762000" cy="7239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a:endCxn id="8" idx="1"/>
          </p:cNvCxnSpPr>
          <p:nvPr/>
        </p:nvCxnSpPr>
        <p:spPr>
          <a:xfrm rot="16200000" flipH="1">
            <a:off x="1543050" y="2495550"/>
            <a:ext cx="1028700" cy="7620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7" name="Rectangle 26"/>
          <p:cNvSpPr/>
          <p:nvPr/>
        </p:nvSpPr>
        <p:spPr>
          <a:xfrm>
            <a:off x="4953000" y="533400"/>
            <a:ext cx="2819400" cy="304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p:cNvSpPr/>
          <p:nvPr/>
        </p:nvSpPr>
        <p:spPr>
          <a:xfrm>
            <a:off x="4953000" y="609600"/>
            <a:ext cx="2819400" cy="685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err="1"/>
              <a:t>ClsBranch</a:t>
            </a:r>
            <a:endParaRPr lang="en-US" dirty="0"/>
          </a:p>
        </p:txBody>
      </p:sp>
      <p:sp>
        <p:nvSpPr>
          <p:cNvPr id="29" name="Rectangle 28"/>
          <p:cNvSpPr/>
          <p:nvPr/>
        </p:nvSpPr>
        <p:spPr>
          <a:xfrm>
            <a:off x="4953000" y="1295400"/>
            <a:ext cx="2819400" cy="1143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err="1"/>
              <a:t>Int</a:t>
            </a:r>
            <a:r>
              <a:rPr lang="en-US" dirty="0"/>
              <a:t> </a:t>
            </a:r>
            <a:r>
              <a:rPr lang="en-US" dirty="0" err="1"/>
              <a:t>Bcode</a:t>
            </a:r>
            <a:endParaRPr lang="en-US" dirty="0"/>
          </a:p>
          <a:p>
            <a:r>
              <a:rPr lang="en-US" dirty="0"/>
              <a:t>String </a:t>
            </a:r>
            <a:r>
              <a:rPr lang="en-US" dirty="0" err="1"/>
              <a:t>Baddress</a:t>
            </a:r>
            <a:endParaRPr lang="en-US" dirty="0"/>
          </a:p>
          <a:p>
            <a:r>
              <a:rPr lang="en-US" dirty="0"/>
              <a:t>String </a:t>
            </a:r>
            <a:r>
              <a:rPr lang="en-US" dirty="0" err="1"/>
              <a:t>BName</a:t>
            </a:r>
            <a:endParaRPr lang="en-US" dirty="0"/>
          </a:p>
        </p:txBody>
      </p:sp>
      <p:sp>
        <p:nvSpPr>
          <p:cNvPr id="30" name="Rectangle 29"/>
          <p:cNvSpPr/>
          <p:nvPr/>
        </p:nvSpPr>
        <p:spPr>
          <a:xfrm>
            <a:off x="4953000" y="2438400"/>
            <a:ext cx="2819400" cy="1143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t>Public  Void </a:t>
            </a:r>
            <a:r>
              <a:rPr lang="en-US" dirty="0" err="1"/>
              <a:t>GetBData</a:t>
            </a:r>
            <a:r>
              <a:rPr lang="en-US" dirty="0"/>
              <a:t>()</a:t>
            </a:r>
          </a:p>
          <a:p>
            <a:r>
              <a:rPr lang="en-US" dirty="0"/>
              <a:t>Public void </a:t>
            </a:r>
            <a:r>
              <a:rPr lang="en-US" dirty="0" err="1"/>
              <a:t>DisplayData</a:t>
            </a:r>
            <a:r>
              <a:rPr lang="en-US" dirty="0"/>
              <a:t>()</a:t>
            </a:r>
          </a:p>
        </p:txBody>
      </p:sp>
      <p:sp>
        <p:nvSpPr>
          <p:cNvPr id="31" name="Rectangle 30"/>
          <p:cNvSpPr/>
          <p:nvPr/>
        </p:nvSpPr>
        <p:spPr>
          <a:xfrm>
            <a:off x="4876800" y="3733800"/>
            <a:ext cx="2895600" cy="304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err="1"/>
              <a:t>ClsEmployee</a:t>
            </a:r>
            <a:endParaRPr lang="en-US" dirty="0"/>
          </a:p>
        </p:txBody>
      </p:sp>
      <p:sp>
        <p:nvSpPr>
          <p:cNvPr id="32" name="Rectangle 31"/>
          <p:cNvSpPr/>
          <p:nvPr/>
        </p:nvSpPr>
        <p:spPr>
          <a:xfrm>
            <a:off x="4876800" y="4038600"/>
            <a:ext cx="2895600" cy="990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err="1"/>
              <a:t>Int</a:t>
            </a:r>
            <a:r>
              <a:rPr lang="en-US" dirty="0"/>
              <a:t> </a:t>
            </a:r>
            <a:r>
              <a:rPr lang="en-US" dirty="0" err="1"/>
              <a:t>EmpId</a:t>
            </a:r>
            <a:endParaRPr lang="en-US" dirty="0"/>
          </a:p>
          <a:p>
            <a:r>
              <a:rPr lang="en-US" dirty="0" err="1"/>
              <a:t>stringEName</a:t>
            </a:r>
            <a:endParaRPr lang="en-US" dirty="0"/>
          </a:p>
          <a:p>
            <a:r>
              <a:rPr lang="en-US" dirty="0"/>
              <a:t>String </a:t>
            </a:r>
            <a:r>
              <a:rPr lang="en-US" dirty="0" err="1"/>
              <a:t>Eaddress</a:t>
            </a:r>
            <a:endParaRPr lang="en-US" dirty="0"/>
          </a:p>
          <a:p>
            <a:r>
              <a:rPr lang="en-US" dirty="0" err="1"/>
              <a:t>Int</a:t>
            </a:r>
            <a:r>
              <a:rPr lang="en-US" dirty="0"/>
              <a:t> </a:t>
            </a:r>
            <a:r>
              <a:rPr lang="en-US" dirty="0" err="1"/>
              <a:t>EAge</a:t>
            </a:r>
            <a:endParaRPr lang="en-US" dirty="0"/>
          </a:p>
        </p:txBody>
      </p:sp>
      <p:sp>
        <p:nvSpPr>
          <p:cNvPr id="33" name="Rectangle 32"/>
          <p:cNvSpPr/>
          <p:nvPr/>
        </p:nvSpPr>
        <p:spPr>
          <a:xfrm>
            <a:off x="4876800" y="5029200"/>
            <a:ext cx="28956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t>Public void </a:t>
            </a:r>
            <a:r>
              <a:rPr lang="en-US" dirty="0" err="1"/>
              <a:t>GetEmpData</a:t>
            </a:r>
            <a:r>
              <a:rPr lang="en-US" dirty="0"/>
              <a:t>()</a:t>
            </a:r>
          </a:p>
          <a:p>
            <a:r>
              <a:rPr lang="en-US" dirty="0"/>
              <a:t>Public void </a:t>
            </a:r>
            <a:r>
              <a:rPr lang="en-US" dirty="0" err="1"/>
              <a:t>DisplayEmpdata</a:t>
            </a:r>
            <a:r>
              <a:rPr lang="en-US" dirty="0"/>
              <a: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229600" cy="5668963"/>
          </a:xfrm>
        </p:spPr>
        <p:txBody>
          <a:bodyPr/>
          <a:lstStyle/>
          <a:p>
            <a:r>
              <a:rPr lang="en-US" dirty="0"/>
              <a:t>Where obj1 is object to the derived class </a:t>
            </a:r>
            <a:r>
              <a:rPr lang="en-US" dirty="0" err="1"/>
              <a:t>ClsEmployee</a:t>
            </a:r>
            <a:r>
              <a:rPr lang="en-US" dirty="0"/>
              <a:t> class will get all the features of </a:t>
            </a:r>
            <a:r>
              <a:rPr lang="en-US" dirty="0" err="1"/>
              <a:t>ClsBranch</a:t>
            </a:r>
            <a:r>
              <a:rPr lang="en-US" dirty="0"/>
              <a:t> class. </a:t>
            </a:r>
            <a:r>
              <a:rPr lang="en-US" dirty="0">
                <a:hlinkClick r:id="rId2" action="ppaction://hlinkfile"/>
              </a:rPr>
              <a:t>Ex</a:t>
            </a:r>
            <a:r>
              <a:rPr lang="en-US" dirty="0"/>
              <a:t> </a:t>
            </a:r>
            <a:r>
              <a:rPr lang="en-US" dirty="0" err="1"/>
              <a:t>ClsBranch</a:t>
            </a:r>
            <a:r>
              <a:rPr lang="en-US" dirty="0"/>
              <a:t>.</a:t>
            </a:r>
          </a:p>
          <a:p>
            <a:r>
              <a:rPr lang="en-US" dirty="0"/>
              <a:t>In the above example we made the function </a:t>
            </a:r>
            <a:r>
              <a:rPr lang="en-US" dirty="0" err="1"/>
              <a:t>GetEmpData</a:t>
            </a:r>
            <a:r>
              <a:rPr lang="en-US" dirty="0"/>
              <a:t>() and </a:t>
            </a:r>
            <a:r>
              <a:rPr lang="en-US" dirty="0" err="1"/>
              <a:t>DisplayEmpData</a:t>
            </a:r>
            <a:r>
              <a:rPr lang="en-US" dirty="0"/>
              <a:t>() of </a:t>
            </a:r>
            <a:r>
              <a:rPr lang="en-US" dirty="0" err="1"/>
              <a:t>ClsBranch</a:t>
            </a:r>
            <a:r>
              <a:rPr lang="en-US" dirty="0"/>
              <a:t> class as public, because to access from out side the class </a:t>
            </a:r>
            <a:r>
              <a:rPr lang="en-US" dirty="0" err="1"/>
              <a:t>i.e</a:t>
            </a:r>
            <a:r>
              <a:rPr lang="en-US" dirty="0"/>
              <a:t> from </a:t>
            </a:r>
            <a:r>
              <a:rPr lang="en-US" dirty="0" err="1"/>
              <a:t>ClsInheritance</a:t>
            </a:r>
            <a:r>
              <a:rPr lang="en-US" dirty="0"/>
              <a:t>.</a:t>
            </a:r>
          </a:p>
          <a:p>
            <a:r>
              <a:rPr lang="en-US" dirty="0"/>
              <a:t>And the Data field </a:t>
            </a:r>
            <a:r>
              <a:rPr lang="en-US" dirty="0" err="1"/>
              <a:t>Bcode</a:t>
            </a:r>
            <a:r>
              <a:rPr lang="en-US" dirty="0"/>
              <a:t>, </a:t>
            </a:r>
            <a:r>
              <a:rPr lang="en-US" dirty="0" err="1"/>
              <a:t>Bname</a:t>
            </a:r>
            <a:r>
              <a:rPr lang="en-US" dirty="0"/>
              <a:t> and </a:t>
            </a:r>
            <a:r>
              <a:rPr lang="en-US" dirty="0" err="1"/>
              <a:t>Baddress</a:t>
            </a:r>
            <a:r>
              <a:rPr lang="en-US" dirty="0"/>
              <a:t> are private by default, so they are accessible with in the same class only.</a:t>
            </a:r>
          </a:p>
          <a:p>
            <a:pPr>
              <a:buNone/>
            </a:pPr>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5821363"/>
          </a:xfrm>
        </p:spPr>
        <p:txBody>
          <a:bodyPr/>
          <a:lstStyle/>
          <a:p>
            <a:r>
              <a:rPr lang="en-US" dirty="0"/>
              <a:t>But if we do not want to give accessibility of the base class members to the non derived class (</a:t>
            </a:r>
            <a:r>
              <a:rPr lang="en-US" dirty="0" err="1"/>
              <a:t>ClsInheritance</a:t>
            </a:r>
            <a:r>
              <a:rPr lang="en-US" dirty="0"/>
              <a:t> ) and would like to give to give to the derived class(</a:t>
            </a:r>
            <a:r>
              <a:rPr lang="en-US" dirty="0" err="1"/>
              <a:t>ClsEmployee</a:t>
            </a:r>
            <a:r>
              <a:rPr lang="en-US" dirty="0"/>
              <a:t>) then we use protected to the members.</a:t>
            </a:r>
          </a:p>
          <a:p>
            <a:r>
              <a:rPr lang="en-US" dirty="0"/>
              <a:t>And our code will be like… </a:t>
            </a:r>
          </a:p>
          <a:p>
            <a:r>
              <a:rPr lang="en-US" dirty="0"/>
              <a:t>Change in the class </a:t>
            </a:r>
            <a:r>
              <a:rPr lang="en-US" dirty="0" err="1"/>
              <a:t>clsBranch</a:t>
            </a:r>
            <a:r>
              <a:rPr lang="en-US" dirty="0"/>
              <a:t> protected in both methods then check the program.</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87362"/>
          </a:xfrm>
        </p:spPr>
        <p:txBody>
          <a:bodyPr>
            <a:normAutofit fontScale="90000"/>
          </a:bodyPr>
          <a:lstStyle/>
          <a:p>
            <a:r>
              <a:rPr lang="en-US" dirty="0"/>
              <a:t>Access Modifiers</a:t>
            </a:r>
          </a:p>
        </p:txBody>
      </p:sp>
      <p:sp>
        <p:nvSpPr>
          <p:cNvPr id="3" name="Content Placeholder 2"/>
          <p:cNvSpPr>
            <a:spLocks noGrp="1"/>
          </p:cNvSpPr>
          <p:nvPr>
            <p:ph idx="1"/>
          </p:nvPr>
        </p:nvSpPr>
        <p:spPr>
          <a:xfrm>
            <a:off x="457200" y="762000"/>
            <a:ext cx="8229600" cy="5364163"/>
          </a:xfrm>
        </p:spPr>
        <p:txBody>
          <a:bodyPr>
            <a:normAutofit fontScale="92500" lnSpcReduction="10000"/>
          </a:bodyPr>
          <a:lstStyle/>
          <a:p>
            <a:r>
              <a:rPr lang="en-US" dirty="0"/>
              <a:t>These are used to provide restriction to the members of a class or class to access in same class or in derived class in same assembly or different assembly etc.</a:t>
            </a:r>
          </a:p>
          <a:p>
            <a:r>
              <a:rPr lang="en-US" dirty="0" err="1"/>
              <a:t>.net</a:t>
            </a:r>
            <a:r>
              <a:rPr lang="en-US" dirty="0"/>
              <a:t> supports five types of access modifiers.</a:t>
            </a:r>
          </a:p>
          <a:p>
            <a:pPr>
              <a:buNone/>
            </a:pPr>
            <a:r>
              <a:rPr lang="en-US" b="1" dirty="0"/>
              <a:t>Private</a:t>
            </a:r>
            <a:r>
              <a:rPr lang="en-US" dirty="0"/>
              <a:t>:- private members are accessible only with in the same class.</a:t>
            </a:r>
          </a:p>
          <a:p>
            <a:pPr>
              <a:buNone/>
            </a:pPr>
            <a:r>
              <a:rPr lang="en-US" b="1" dirty="0"/>
              <a:t>Protected</a:t>
            </a:r>
            <a:r>
              <a:rPr lang="en-US" dirty="0"/>
              <a:t>:- protected members are accessible with in the same class and also in the same class and also in the derived class, derived class might be in same assembly or in different assembly.</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5821363"/>
          </a:xfrm>
        </p:spPr>
        <p:txBody>
          <a:bodyPr>
            <a:normAutofit lnSpcReduction="10000"/>
          </a:bodyPr>
          <a:lstStyle/>
          <a:p>
            <a:r>
              <a:rPr lang="en-US" b="1" dirty="0"/>
              <a:t>Internal</a:t>
            </a:r>
            <a:r>
              <a:rPr lang="en-US" dirty="0"/>
              <a:t>:- Internal Members are accessible in any class with in the same </a:t>
            </a:r>
            <a:r>
              <a:rPr lang="en-US"/>
              <a:t>assembly but not </a:t>
            </a:r>
            <a:r>
              <a:rPr lang="en-US" dirty="0"/>
              <a:t>accessible in any class out side the assembly.</a:t>
            </a:r>
          </a:p>
          <a:p>
            <a:r>
              <a:rPr lang="en-US" b="1" dirty="0"/>
              <a:t>Protected internal</a:t>
            </a:r>
            <a:r>
              <a:rPr lang="en-US" dirty="0"/>
              <a:t>:- This is combination of both protected and internal </a:t>
            </a:r>
            <a:r>
              <a:rPr lang="en-US" dirty="0" err="1"/>
              <a:t>i.e</a:t>
            </a:r>
            <a:r>
              <a:rPr lang="en-US" dirty="0"/>
              <a:t> protected internal members are accessible in any class with in the same assembly and also from the derived class out side the assembly, but not accessible from the non-Derived classes out side the assembly.</a:t>
            </a:r>
          </a:p>
          <a:p>
            <a:r>
              <a:rPr lang="en-US" b="1" dirty="0"/>
              <a:t>Public</a:t>
            </a:r>
            <a:r>
              <a:rPr lang="en-US" dirty="0"/>
              <a:t>:- public members are accessible in any class in any assembly.</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000" dirty="0"/>
              <a:t>We can summaries all these in a table like given below, in his table      ‘            ’  represent not accessible and ‘        ’  represent accessible.</a:t>
            </a:r>
          </a:p>
        </p:txBody>
      </p:sp>
      <p:graphicFrame>
        <p:nvGraphicFramePr>
          <p:cNvPr id="4" name="Content Placeholder 3"/>
          <p:cNvGraphicFramePr>
            <a:graphicFrameLocks noGrp="1"/>
          </p:cNvGraphicFramePr>
          <p:nvPr>
            <p:ph idx="1"/>
          </p:nvPr>
        </p:nvGraphicFramePr>
        <p:xfrm>
          <a:off x="689317" y="1600201"/>
          <a:ext cx="7863840" cy="4424186"/>
        </p:xfrm>
        <a:graphic>
          <a:graphicData uri="http://schemas.openxmlformats.org/drawingml/2006/table">
            <a:tbl>
              <a:tblPr/>
              <a:tblGrid>
                <a:gridCol w="1520483">
                  <a:extLst>
                    <a:ext uri="{9D8B030D-6E8A-4147-A177-3AD203B41FA5}">
                      <a16:colId xmlns:a16="http://schemas.microsoft.com/office/drawing/2014/main" val="20000"/>
                    </a:ext>
                  </a:extLst>
                </a:gridCol>
                <a:gridCol w="1240692">
                  <a:extLst>
                    <a:ext uri="{9D8B030D-6E8A-4147-A177-3AD203B41FA5}">
                      <a16:colId xmlns:a16="http://schemas.microsoft.com/office/drawing/2014/main" val="20001"/>
                    </a:ext>
                  </a:extLst>
                </a:gridCol>
                <a:gridCol w="1121508">
                  <a:extLst>
                    <a:ext uri="{9D8B030D-6E8A-4147-A177-3AD203B41FA5}">
                      <a16:colId xmlns:a16="http://schemas.microsoft.com/office/drawing/2014/main" val="20002"/>
                    </a:ext>
                  </a:extLst>
                </a:gridCol>
                <a:gridCol w="119185">
                  <a:extLst>
                    <a:ext uri="{9D8B030D-6E8A-4147-A177-3AD203B41FA5}">
                      <a16:colId xmlns:a16="http://schemas.microsoft.com/office/drawing/2014/main" val="20003"/>
                    </a:ext>
                  </a:extLst>
                </a:gridCol>
                <a:gridCol w="1240692">
                  <a:extLst>
                    <a:ext uri="{9D8B030D-6E8A-4147-A177-3AD203B41FA5}">
                      <a16:colId xmlns:a16="http://schemas.microsoft.com/office/drawing/2014/main" val="20004"/>
                    </a:ext>
                  </a:extLst>
                </a:gridCol>
                <a:gridCol w="1078523">
                  <a:extLst>
                    <a:ext uri="{9D8B030D-6E8A-4147-A177-3AD203B41FA5}">
                      <a16:colId xmlns:a16="http://schemas.microsoft.com/office/drawing/2014/main" val="20005"/>
                    </a:ext>
                  </a:extLst>
                </a:gridCol>
                <a:gridCol w="232117">
                  <a:extLst>
                    <a:ext uri="{9D8B030D-6E8A-4147-A177-3AD203B41FA5}">
                      <a16:colId xmlns:a16="http://schemas.microsoft.com/office/drawing/2014/main" val="20006"/>
                    </a:ext>
                  </a:extLst>
                </a:gridCol>
                <a:gridCol w="1310640">
                  <a:extLst>
                    <a:ext uri="{9D8B030D-6E8A-4147-A177-3AD203B41FA5}">
                      <a16:colId xmlns:a16="http://schemas.microsoft.com/office/drawing/2014/main" val="20007"/>
                    </a:ext>
                  </a:extLst>
                </a:gridCol>
              </a:tblGrid>
              <a:tr h="301352">
                <a:tc rowSpan="3">
                  <a:txBody>
                    <a:bodyPr/>
                    <a:lstStyle/>
                    <a:p>
                      <a:pPr algn="r"/>
                      <a:r>
                        <a:rPr lang="en-US" dirty="0"/>
                        <a:t>Class</a:t>
                      </a:r>
                    </a:p>
                    <a:p>
                      <a:pPr algn="r"/>
                      <a:endParaRPr lang="en-US" dirty="0"/>
                    </a:p>
                    <a:p>
                      <a:pPr algn="l"/>
                      <a:r>
                        <a:rPr lang="en-US" dirty="0"/>
                        <a:t>Access</a:t>
                      </a:r>
                      <a:r>
                        <a:rPr lang="en-US" baseline="0" dirty="0"/>
                        <a:t> modifier</a:t>
                      </a:r>
                      <a:endParaRPr lang="en-US" dirty="0"/>
                    </a:p>
                  </a:txBody>
                  <a:tcPr>
                    <a:lnL w="12700" cmpd="sng">
                      <a:solidFill>
                        <a:schemeClr val="tx1"/>
                      </a:solidFill>
                      <a:prstDash val="solid"/>
                    </a:lnL>
                    <a:lnR w="12700" cap="flat" cmpd="sng" algn="ctr">
                      <a:solidFill>
                        <a:schemeClr val="tx1"/>
                      </a:solidFill>
                      <a:prstDash val="solid"/>
                      <a:round/>
                      <a:headEnd type="none" w="med" len="med"/>
                      <a:tailEnd type="none" w="med" len="med"/>
                    </a:lnR>
                    <a:lnT w="12700" cmpd="sng">
                      <a:solidFill>
                        <a:schemeClr val="tx1"/>
                      </a:solidFill>
                      <a:prstDash val="solid"/>
                    </a:lnT>
                    <a:lnB w="12700" cmpd="sng">
                      <a:solidFill>
                        <a:schemeClr val="tx1"/>
                      </a:solidFill>
                      <a:prstDash val="solid"/>
                    </a:lnB>
                  </a:tcPr>
                </a:tc>
                <a:tc gridSpan="4">
                  <a:txBody>
                    <a:bodyPr/>
                    <a:lstStyle/>
                    <a:p>
                      <a:pPr algn="ctr"/>
                      <a:r>
                        <a:rPr lang="en-US" dirty="0"/>
                        <a:t>Same Assembly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solidFill>
                        <a:schemeClr val="tx1"/>
                      </a:solidFill>
                      <a:prstDash val="solid"/>
                    </a:lnT>
                    <a:lnB w="12700" cap="flat" cmpd="sng" algn="ctr">
                      <a:solidFill>
                        <a:schemeClr val="tx1"/>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a:p>
                  </a:txBody>
                  <a:tcPr/>
                </a:tc>
                <a:tc rowSpan="2" gridSpan="3">
                  <a:txBody>
                    <a:bodyPr/>
                    <a:lstStyle/>
                    <a:p>
                      <a:r>
                        <a:rPr lang="en-US" dirty="0"/>
                        <a:t>Other Assemblies</a:t>
                      </a:r>
                    </a:p>
                  </a:txBody>
                  <a:tcPr>
                    <a:lnL w="12700" cap="flat" cmpd="sng" algn="ctr">
                      <a:solidFill>
                        <a:schemeClr val="tx1"/>
                      </a:solidFill>
                      <a:prstDash val="solid"/>
                      <a:round/>
                      <a:headEnd type="none" w="med" len="med"/>
                      <a:tailEnd type="none" w="med" len="med"/>
                    </a:lnL>
                    <a:lnR w="12700" cmpd="sng">
                      <a:solidFill>
                        <a:schemeClr val="tx1"/>
                      </a:solidFill>
                      <a:prstDash val="solid"/>
                    </a:lnR>
                    <a:lnT w="12700" cmpd="sng">
                      <a:solidFill>
                        <a:schemeClr val="tx1"/>
                      </a:solidFill>
                      <a:prstDash val="solid"/>
                    </a:lnT>
                    <a:lnB w="12700" cap="flat" cmpd="sng" algn="ctr">
                      <a:solidFill>
                        <a:schemeClr val="tx1"/>
                      </a:solidFill>
                      <a:prstDash val="solid"/>
                      <a:round/>
                      <a:headEnd type="none" w="med" len="med"/>
                      <a:tailEnd type="none" w="med" len="med"/>
                    </a:lnB>
                  </a:tcPr>
                </a:tc>
                <a:tc rowSpan="2" hMerge="1">
                  <a:txBody>
                    <a:bodyPr/>
                    <a:lstStyle/>
                    <a:p>
                      <a:endParaRPr lang="en-US"/>
                    </a:p>
                  </a:txBody>
                  <a:tcPr/>
                </a:tc>
                <a:tc rowSpan="2" hMerge="1">
                  <a:txBody>
                    <a:bodyPr/>
                    <a:lstStyle/>
                    <a:p>
                      <a:endParaRPr lang="en-US"/>
                    </a:p>
                  </a:txBody>
                  <a:tcPr/>
                </a:tc>
                <a:extLst>
                  <a:ext uri="{0D108BD9-81ED-4DB2-BD59-A6C34878D82A}">
                    <a16:rowId xmlns:a16="http://schemas.microsoft.com/office/drawing/2014/main" val="10000"/>
                  </a:ext>
                </a:extLst>
              </a:tr>
              <a:tr h="0">
                <a:tc vMerge="1">
                  <a:txBody>
                    <a:bodyPr/>
                    <a:lstStyle/>
                    <a:p>
                      <a:endParaRPr lang="en-US"/>
                    </a:p>
                  </a:txBody>
                  <a:tcPr/>
                </a:tc>
                <a:tc rowSpan="2">
                  <a:txBody>
                    <a:bodyPr/>
                    <a:lstStyle/>
                    <a:p>
                      <a:r>
                        <a:rPr lang="en-US" dirty="0"/>
                        <a:t>Same Class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solidFill>
                        <a:schemeClr val="tx1"/>
                      </a:solidFill>
                      <a:prstDash val="solid"/>
                    </a:lnB>
                  </a:tcPr>
                </a:tc>
                <a:tc rowSpan="2">
                  <a:txBody>
                    <a:bodyPr/>
                    <a:lstStyle/>
                    <a:p>
                      <a:r>
                        <a:rPr lang="en-US" dirty="0"/>
                        <a:t>Derive class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gridSpan="2">
                  <a:txBody>
                    <a:bodyPr/>
                    <a:lstStyle/>
                    <a:p>
                      <a:r>
                        <a:rPr lang="en-US" dirty="0"/>
                        <a:t>Non Derived class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hMerge="1">
                  <a:txBody>
                    <a:bodyPr/>
                    <a:lstStyle/>
                    <a:p>
                      <a:endParaRPr lang="en-US"/>
                    </a:p>
                  </a:txBody>
                  <a:tcPr/>
                </a:tc>
                <a:tc gridSpan="3" vMerge="1">
                  <a:txBody>
                    <a:bodyPr/>
                    <a:lstStyle/>
                    <a:p>
                      <a:endParaRPr lang="en-US"/>
                    </a:p>
                  </a:txBody>
                  <a:tcPr/>
                </a:tc>
                <a:tc hMerge="1" vMerge="1">
                  <a:txBody>
                    <a:bodyPr/>
                    <a:lstStyle/>
                    <a:p>
                      <a:endParaRPr lang="en-US"/>
                    </a:p>
                  </a:txBody>
                  <a:tcPr/>
                </a:tc>
                <a:tc hMerge="1" vMerge="1">
                  <a:txBody>
                    <a:bodyPr/>
                    <a:lstStyle/>
                    <a:p>
                      <a:endParaRPr lang="en-US"/>
                    </a:p>
                  </a:txBody>
                  <a:tcPr/>
                </a:tc>
                <a:extLst>
                  <a:ext uri="{0D108BD9-81ED-4DB2-BD59-A6C34878D82A}">
                    <a16:rowId xmlns:a16="http://schemas.microsoft.com/office/drawing/2014/main" val="10001"/>
                  </a:ext>
                </a:extLst>
              </a:tr>
              <a:tr h="619446">
                <a:tc vMerge="1">
                  <a:txBody>
                    <a:bodyPr/>
                    <a:lstStyle/>
                    <a:p>
                      <a:endParaRPr lang="en-US"/>
                    </a:p>
                  </a:txBody>
                  <a:tcPr/>
                </a:tc>
                <a:tc vMerge="1">
                  <a:txBody>
                    <a:bodyPr/>
                    <a:lstStyle/>
                    <a:p>
                      <a:endParaRPr lang="en-US"/>
                    </a:p>
                  </a:txBody>
                  <a:tcPr/>
                </a:tc>
                <a:tc vMerge="1">
                  <a:txBody>
                    <a:bodyPr/>
                    <a:lstStyle/>
                    <a:p>
                      <a:endParaRPr lang="en-US"/>
                    </a:p>
                  </a:txBody>
                  <a:tcPr/>
                </a:tc>
                <a:tc gridSpan="2" vMerge="1">
                  <a:txBody>
                    <a:bodyPr/>
                    <a:lstStyle/>
                    <a:p>
                      <a:endParaRPr lang="en-US"/>
                    </a:p>
                  </a:txBody>
                  <a:tcPr/>
                </a:tc>
                <a:tc hMerge="1" vMerge="1">
                  <a:txBody>
                    <a:bodyPr/>
                    <a:lstStyle/>
                    <a:p>
                      <a:endParaRPr lang="en-US"/>
                    </a:p>
                  </a:txBody>
                  <a:tcPr/>
                </a:tc>
                <a:tc>
                  <a:txBody>
                    <a:bodyPr/>
                    <a:lstStyle/>
                    <a:p>
                      <a:r>
                        <a:rPr lang="en-US" dirty="0"/>
                        <a:t>Derived class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solidFill>
                        <a:schemeClr val="tx1"/>
                      </a:solidFill>
                      <a:prstDash val="solid"/>
                    </a:lnB>
                  </a:tcPr>
                </a:tc>
                <a:tc gridSpan="2">
                  <a:txBody>
                    <a:bodyPr/>
                    <a:lstStyle/>
                    <a:p>
                      <a:r>
                        <a:rPr lang="en-US" dirty="0"/>
                        <a:t>Non-Derived</a:t>
                      </a:r>
                      <a:r>
                        <a:rPr lang="en-US" baseline="0" dirty="0"/>
                        <a:t> class</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a:p>
                  </a:txBody>
                  <a:tcPr/>
                </a:tc>
                <a:extLst>
                  <a:ext uri="{0D108BD9-81ED-4DB2-BD59-A6C34878D82A}">
                    <a16:rowId xmlns:a16="http://schemas.microsoft.com/office/drawing/2014/main" val="10002"/>
                  </a:ext>
                </a:extLst>
              </a:tr>
              <a:tr h="401802">
                <a:tc>
                  <a:txBody>
                    <a:bodyPr/>
                    <a:lstStyle/>
                    <a:p>
                      <a:r>
                        <a:rPr lang="en-US" dirty="0"/>
                        <a:t>Private</a:t>
                      </a:r>
                    </a:p>
                  </a:txBody>
                  <a:tcPr>
                    <a:lnL w="12700" cmpd="sng">
                      <a:solidFill>
                        <a:schemeClr val="tx1"/>
                      </a:solidFill>
                      <a:prstDash val="solid"/>
                    </a:lnL>
                    <a:lnR w="12700" cmpd="sng">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2">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a:p>
                  </a:txBody>
                  <a:tcPr/>
                </a:tc>
                <a:tc>
                  <a:txBody>
                    <a:bodyPr/>
                    <a:lstStyle/>
                    <a:p>
                      <a:endParaRPr lang="en-US" dirty="0"/>
                    </a:p>
                  </a:txBody>
                  <a:tcPr>
                    <a:lnL w="12700" cap="flat" cmpd="sng" algn="ctr">
                      <a:solidFill>
                        <a:schemeClr val="tx1"/>
                      </a:solidFill>
                      <a:prstDash val="solid"/>
                      <a:round/>
                      <a:headEnd type="none" w="med" len="med"/>
                      <a:tailEnd type="none" w="med" len="med"/>
                    </a:lnL>
                    <a:lnR w="12700" cmpd="sng">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2">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a:p>
                  </a:txBody>
                  <a:tcPr/>
                </a:tc>
                <a:tc>
                  <a:txBody>
                    <a:bodyPr/>
                    <a:lstStyle/>
                    <a:p>
                      <a:endParaRPr lang="en-US" dirty="0"/>
                    </a:p>
                  </a:txBody>
                  <a:tcPr>
                    <a:lnL w="12700" cap="flat" cmpd="sng" algn="ctr">
                      <a:solidFill>
                        <a:schemeClr val="tx1"/>
                      </a:solidFill>
                      <a:prstDash val="solid"/>
                      <a:round/>
                      <a:headEnd type="none" w="med" len="med"/>
                      <a:tailEnd type="none" w="med" len="med"/>
                    </a:lnL>
                    <a:lnR w="12700" cmpd="sng">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376690">
                <a:tc>
                  <a:txBody>
                    <a:bodyPr/>
                    <a:lstStyle/>
                    <a:p>
                      <a:r>
                        <a:rPr lang="en-US" dirty="0"/>
                        <a:t>protected</a:t>
                      </a:r>
                    </a:p>
                  </a:txBody>
                  <a:tcPr>
                    <a:lnL w="12700" cmpd="sng">
                      <a:solidFill>
                        <a:schemeClr val="tx1"/>
                      </a:solidFill>
                      <a:prstDash val="soli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2">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a:p>
                  </a:txBody>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2">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a:p>
                  </a:txBody>
                  <a:tcPr/>
                </a:tc>
                <a:tc>
                  <a:txBody>
                    <a:bodyPr/>
                    <a:lstStyle/>
                    <a:p>
                      <a:endParaRPr lang="en-US" dirty="0"/>
                    </a:p>
                  </a:txBody>
                  <a:tcPr>
                    <a:lnL w="12700" cap="flat" cmpd="sng" algn="ctr">
                      <a:solidFill>
                        <a:schemeClr val="tx1"/>
                      </a:solidFill>
                      <a:prstDash val="solid"/>
                      <a:round/>
                      <a:headEnd type="none" w="med" len="med"/>
                      <a:tailEnd type="none" w="med" len="med"/>
                    </a:lnL>
                    <a:lnR w="12700" cmpd="sng">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242587">
                <a:tc>
                  <a:txBody>
                    <a:bodyPr/>
                    <a:lstStyle/>
                    <a:p>
                      <a:r>
                        <a:rPr lang="en-US" dirty="0"/>
                        <a:t>Internal</a:t>
                      </a:r>
                    </a:p>
                  </a:txBody>
                  <a:tcPr>
                    <a:lnL w="12700" cmpd="sng">
                      <a:solidFill>
                        <a:schemeClr val="tx1"/>
                      </a:solidFill>
                      <a:prstDash val="soli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2">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a:p>
                  </a:txBody>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2">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a:p>
                  </a:txBody>
                  <a:tcPr/>
                </a:tc>
                <a:tc>
                  <a:txBody>
                    <a:bodyPr/>
                    <a:lstStyle/>
                    <a:p>
                      <a:endParaRPr lang="en-US" dirty="0"/>
                    </a:p>
                  </a:txBody>
                  <a:tcPr>
                    <a:lnL w="12700" cap="flat" cmpd="sng" algn="ctr">
                      <a:solidFill>
                        <a:schemeClr val="tx1"/>
                      </a:solidFill>
                      <a:prstDash val="solid"/>
                      <a:round/>
                      <a:headEnd type="none" w="med" len="med"/>
                      <a:tailEnd type="none" w="med" len="med"/>
                    </a:lnL>
                    <a:lnR w="12700" cmpd="sng">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376690">
                <a:tc>
                  <a:txBody>
                    <a:bodyPr/>
                    <a:lstStyle/>
                    <a:p>
                      <a:r>
                        <a:rPr lang="en-US" dirty="0"/>
                        <a:t>Protected internal</a:t>
                      </a:r>
                    </a:p>
                  </a:txBody>
                  <a:tcPr>
                    <a:lnL w="12700" cmpd="sng">
                      <a:solidFill>
                        <a:schemeClr val="tx1"/>
                      </a:solidFill>
                      <a:prstDash val="soli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2">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a:p>
                  </a:txBody>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2">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a:p>
                  </a:txBody>
                  <a:tcPr/>
                </a:tc>
                <a:tc>
                  <a:txBody>
                    <a:bodyPr/>
                    <a:lstStyle/>
                    <a:p>
                      <a:endParaRPr lang="en-US" dirty="0"/>
                    </a:p>
                  </a:txBody>
                  <a:tcPr>
                    <a:lnL w="12700" cap="flat" cmpd="sng" algn="ctr">
                      <a:solidFill>
                        <a:schemeClr val="tx1"/>
                      </a:solidFill>
                      <a:prstDash val="solid"/>
                      <a:round/>
                      <a:headEnd type="none" w="med" len="med"/>
                      <a:tailEnd type="none" w="med" len="med"/>
                    </a:lnL>
                    <a:lnR w="12700" cmpd="sng">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r h="376690">
                <a:tc>
                  <a:txBody>
                    <a:bodyPr/>
                    <a:lstStyle/>
                    <a:p>
                      <a:r>
                        <a:rPr lang="en-US" dirty="0"/>
                        <a:t>public</a:t>
                      </a:r>
                    </a:p>
                  </a:txBody>
                  <a:tcPr>
                    <a:lnL w="12700" cmpd="sng">
                      <a:solidFill>
                        <a:schemeClr val="tx1"/>
                      </a:solidFill>
                      <a:prstDash val="soli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2">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a:p>
                  </a:txBody>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2">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a:p>
                  </a:txBody>
                  <a:tcPr/>
                </a:tc>
                <a:tc>
                  <a:txBody>
                    <a:bodyPr/>
                    <a:lstStyle/>
                    <a:p>
                      <a:endParaRPr lang="en-US" dirty="0"/>
                    </a:p>
                  </a:txBody>
                  <a:tcPr>
                    <a:lnL w="12700" cap="flat" cmpd="sng" algn="ctr">
                      <a:solidFill>
                        <a:schemeClr val="tx1"/>
                      </a:solidFill>
                      <a:prstDash val="solid"/>
                      <a:round/>
                      <a:headEnd type="none" w="med" len="med"/>
                      <a:tailEnd type="none" w="med" len="med"/>
                    </a:lnL>
                    <a:lnR w="12700" cmpd="sng">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r h="1074444">
                <a:tc>
                  <a:txBody>
                    <a:bodyPr/>
                    <a:lstStyle/>
                    <a:p>
                      <a:endParaRPr lang="en-US" dirty="0"/>
                    </a:p>
                  </a:txBody>
                  <a:tcPr>
                    <a:lnL w="12700" cmpd="sng">
                      <a:solidFill>
                        <a:schemeClr val="tx1"/>
                      </a:solidFill>
                      <a:prstDash val="soli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solidFill>
                        <a:schemeClr val="tx1"/>
                      </a:solidFill>
                      <a:prstDash val="solid"/>
                    </a:lnB>
                  </a:tcPr>
                </a:tc>
                <a:tc gridSpan="4">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solidFill>
                        <a:schemeClr val="tx1"/>
                      </a:solidFill>
                      <a:prstDash val="solid"/>
                    </a:lnB>
                  </a:tcPr>
                </a:tc>
                <a:tc hMerge="1">
                  <a:txBody>
                    <a:bodyPr/>
                    <a:lstStyle/>
                    <a:p>
                      <a:endParaRPr lang="en-US"/>
                    </a:p>
                  </a:txBody>
                  <a:tcPr/>
                </a:tc>
                <a:tc hMerge="1">
                  <a:txBody>
                    <a:bodyPr/>
                    <a:lstStyle/>
                    <a:p>
                      <a:endParaRPr lang="en-US"/>
                    </a:p>
                  </a:txBody>
                  <a:tcPr/>
                </a:tc>
                <a:tc hMerge="1">
                  <a:txBody>
                    <a:bodyPr/>
                    <a:lstStyle/>
                    <a:p>
                      <a:endParaRPr lang="en-US"/>
                    </a:p>
                  </a:txBody>
                  <a:tcPr/>
                </a:tc>
                <a:tc gridSpan="3">
                  <a:txBody>
                    <a:bodyPr/>
                    <a:lstStyle/>
                    <a:p>
                      <a:endParaRPr lang="en-US" dirty="0"/>
                    </a:p>
                  </a:txBody>
                  <a:tcPr>
                    <a:lnL w="12700" cap="flat" cmpd="sng" algn="ctr">
                      <a:solidFill>
                        <a:schemeClr val="tx1"/>
                      </a:solidFill>
                      <a:prstDash val="solid"/>
                      <a:round/>
                      <a:headEnd type="none" w="med" len="med"/>
                      <a:tailEnd type="none" w="med" len="med"/>
                    </a:lnL>
                    <a:lnR w="12700" cmpd="sng">
                      <a:solidFill>
                        <a:schemeClr val="tx1"/>
                      </a:solidFill>
                      <a:prstDash val="solid"/>
                    </a:lnR>
                    <a:lnT w="12700" cap="flat" cmpd="sng" algn="ctr">
                      <a:solidFill>
                        <a:schemeClr val="tx1"/>
                      </a:solidFill>
                      <a:prstDash val="solid"/>
                      <a:round/>
                      <a:headEnd type="none" w="med" len="med"/>
                      <a:tailEnd type="none" w="med" len="med"/>
                    </a:lnT>
                    <a:lnB w="12700" cmpd="sng">
                      <a:solidFill>
                        <a:schemeClr val="tx1"/>
                      </a:solidFill>
                      <a:prstDash val="solid"/>
                    </a:lnB>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8"/>
                  </a:ext>
                </a:extLst>
              </a:tr>
            </a:tbl>
          </a:graphicData>
        </a:graphic>
      </p:graphicFrame>
      <p:cxnSp>
        <p:nvCxnSpPr>
          <p:cNvPr id="19" name="Straight Connector 18"/>
          <p:cNvCxnSpPr/>
          <p:nvPr/>
        </p:nvCxnSpPr>
        <p:spPr>
          <a:xfrm>
            <a:off x="685800" y="1600200"/>
            <a:ext cx="1524000" cy="1219200"/>
          </a:xfrm>
          <a:prstGeom prst="line">
            <a:avLst/>
          </a:prstGeom>
        </p:spPr>
        <p:style>
          <a:lnRef idx="1">
            <a:schemeClr val="accent1"/>
          </a:lnRef>
          <a:fillRef idx="0">
            <a:schemeClr val="accent1"/>
          </a:fillRef>
          <a:effectRef idx="0">
            <a:schemeClr val="accent1"/>
          </a:effectRef>
          <a:fontRef idx="minor">
            <a:schemeClr val="tx1"/>
          </a:fontRef>
        </p:style>
      </p:cxnSp>
      <p:sp>
        <p:nvSpPr>
          <p:cNvPr id="20" name="Freeform 19"/>
          <p:cNvSpPr/>
          <p:nvPr/>
        </p:nvSpPr>
        <p:spPr>
          <a:xfrm>
            <a:off x="2433711" y="2895600"/>
            <a:ext cx="309489" cy="267286"/>
          </a:xfrm>
          <a:custGeom>
            <a:avLst/>
            <a:gdLst>
              <a:gd name="connsiteX0" fmla="*/ 0 w 363415"/>
              <a:gd name="connsiteY0" fmla="*/ 124265 h 304800"/>
              <a:gd name="connsiteX1" fmla="*/ 182880 w 363415"/>
              <a:gd name="connsiteY1" fmla="*/ 279009 h 304800"/>
              <a:gd name="connsiteX2" fmla="*/ 182880 w 363415"/>
              <a:gd name="connsiteY2" fmla="*/ 264942 h 304800"/>
              <a:gd name="connsiteX3" fmla="*/ 337624 w 363415"/>
              <a:gd name="connsiteY3" fmla="*/ 39859 h 304800"/>
              <a:gd name="connsiteX4" fmla="*/ 337624 w 363415"/>
              <a:gd name="connsiteY4" fmla="*/ 25791 h 304800"/>
              <a:gd name="connsiteX5" fmla="*/ 337624 w 363415"/>
              <a:gd name="connsiteY5" fmla="*/ 25791 h 304800"/>
              <a:gd name="connsiteX6" fmla="*/ 337624 w 363415"/>
              <a:gd name="connsiteY6" fmla="*/ 25791 h 304800"/>
              <a:gd name="connsiteX7" fmla="*/ 337624 w 363415"/>
              <a:gd name="connsiteY7" fmla="*/ 25791 h 304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63415" h="304800">
                <a:moveTo>
                  <a:pt x="0" y="124265"/>
                </a:moveTo>
                <a:cubicBezTo>
                  <a:pt x="60960" y="175846"/>
                  <a:pt x="152400" y="255563"/>
                  <a:pt x="182880" y="279009"/>
                </a:cubicBezTo>
                <a:cubicBezTo>
                  <a:pt x="213360" y="302455"/>
                  <a:pt x="157089" y="304800"/>
                  <a:pt x="182880" y="264942"/>
                </a:cubicBezTo>
                <a:cubicBezTo>
                  <a:pt x="208671" y="225084"/>
                  <a:pt x="311833" y="79718"/>
                  <a:pt x="337624" y="39859"/>
                </a:cubicBezTo>
                <a:cubicBezTo>
                  <a:pt x="363415" y="0"/>
                  <a:pt x="337624" y="25791"/>
                  <a:pt x="337624" y="25791"/>
                </a:cubicBezTo>
                <a:lnTo>
                  <a:pt x="337624" y="25791"/>
                </a:lnTo>
                <a:lnTo>
                  <a:pt x="337624" y="25791"/>
                </a:lnTo>
                <a:lnTo>
                  <a:pt x="337624" y="25791"/>
                </a:lnTo>
              </a:path>
            </a:pathLst>
          </a:custGeom>
          <a:ln/>
        </p:spPr>
        <p:style>
          <a:lnRef idx="3">
            <a:schemeClr val="accent3"/>
          </a:lnRef>
          <a:fillRef idx="0">
            <a:schemeClr val="accent3"/>
          </a:fillRef>
          <a:effectRef idx="2">
            <a:schemeClr val="accent3"/>
          </a:effectRef>
          <a:fontRef idx="minor">
            <a:schemeClr val="tx1"/>
          </a:fontRef>
        </p:style>
        <p:txBody>
          <a:bodyPr rtlCol="0" anchor="ctr"/>
          <a:lstStyle/>
          <a:p>
            <a:pPr algn="ctr"/>
            <a:endParaRPr lang="en-US"/>
          </a:p>
        </p:txBody>
      </p:sp>
      <p:sp>
        <p:nvSpPr>
          <p:cNvPr id="21" name="Freeform 20"/>
          <p:cNvSpPr/>
          <p:nvPr/>
        </p:nvSpPr>
        <p:spPr>
          <a:xfrm>
            <a:off x="2514600" y="3200400"/>
            <a:ext cx="309489" cy="267286"/>
          </a:xfrm>
          <a:custGeom>
            <a:avLst/>
            <a:gdLst>
              <a:gd name="connsiteX0" fmla="*/ 0 w 363415"/>
              <a:gd name="connsiteY0" fmla="*/ 124265 h 304800"/>
              <a:gd name="connsiteX1" fmla="*/ 182880 w 363415"/>
              <a:gd name="connsiteY1" fmla="*/ 279009 h 304800"/>
              <a:gd name="connsiteX2" fmla="*/ 182880 w 363415"/>
              <a:gd name="connsiteY2" fmla="*/ 264942 h 304800"/>
              <a:gd name="connsiteX3" fmla="*/ 337624 w 363415"/>
              <a:gd name="connsiteY3" fmla="*/ 39859 h 304800"/>
              <a:gd name="connsiteX4" fmla="*/ 337624 w 363415"/>
              <a:gd name="connsiteY4" fmla="*/ 25791 h 304800"/>
              <a:gd name="connsiteX5" fmla="*/ 337624 w 363415"/>
              <a:gd name="connsiteY5" fmla="*/ 25791 h 304800"/>
              <a:gd name="connsiteX6" fmla="*/ 337624 w 363415"/>
              <a:gd name="connsiteY6" fmla="*/ 25791 h 304800"/>
              <a:gd name="connsiteX7" fmla="*/ 337624 w 363415"/>
              <a:gd name="connsiteY7" fmla="*/ 25791 h 304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63415" h="304800">
                <a:moveTo>
                  <a:pt x="0" y="124265"/>
                </a:moveTo>
                <a:cubicBezTo>
                  <a:pt x="60960" y="175846"/>
                  <a:pt x="152400" y="255563"/>
                  <a:pt x="182880" y="279009"/>
                </a:cubicBezTo>
                <a:cubicBezTo>
                  <a:pt x="213360" y="302455"/>
                  <a:pt x="157089" y="304800"/>
                  <a:pt x="182880" y="264942"/>
                </a:cubicBezTo>
                <a:cubicBezTo>
                  <a:pt x="208671" y="225084"/>
                  <a:pt x="311833" y="79718"/>
                  <a:pt x="337624" y="39859"/>
                </a:cubicBezTo>
                <a:cubicBezTo>
                  <a:pt x="363415" y="0"/>
                  <a:pt x="337624" y="25791"/>
                  <a:pt x="337624" y="25791"/>
                </a:cubicBezTo>
                <a:lnTo>
                  <a:pt x="337624" y="25791"/>
                </a:lnTo>
                <a:lnTo>
                  <a:pt x="337624" y="25791"/>
                </a:lnTo>
                <a:lnTo>
                  <a:pt x="337624" y="25791"/>
                </a:lnTo>
              </a:path>
            </a:pathLst>
          </a:custGeom>
          <a:ln/>
        </p:spPr>
        <p:style>
          <a:lnRef idx="3">
            <a:schemeClr val="accent3"/>
          </a:lnRef>
          <a:fillRef idx="0">
            <a:schemeClr val="accent3"/>
          </a:fillRef>
          <a:effectRef idx="2">
            <a:schemeClr val="accent3"/>
          </a:effectRef>
          <a:fontRef idx="minor">
            <a:schemeClr val="tx1"/>
          </a:fontRef>
        </p:style>
        <p:txBody>
          <a:bodyPr rtlCol="0" anchor="ctr"/>
          <a:lstStyle/>
          <a:p>
            <a:pPr algn="ctr"/>
            <a:endParaRPr lang="en-US"/>
          </a:p>
        </p:txBody>
      </p:sp>
      <p:sp>
        <p:nvSpPr>
          <p:cNvPr id="22" name="Freeform 21"/>
          <p:cNvSpPr/>
          <p:nvPr/>
        </p:nvSpPr>
        <p:spPr>
          <a:xfrm>
            <a:off x="3886200" y="3200400"/>
            <a:ext cx="309489" cy="267286"/>
          </a:xfrm>
          <a:custGeom>
            <a:avLst/>
            <a:gdLst>
              <a:gd name="connsiteX0" fmla="*/ 0 w 363415"/>
              <a:gd name="connsiteY0" fmla="*/ 124265 h 304800"/>
              <a:gd name="connsiteX1" fmla="*/ 182880 w 363415"/>
              <a:gd name="connsiteY1" fmla="*/ 279009 h 304800"/>
              <a:gd name="connsiteX2" fmla="*/ 182880 w 363415"/>
              <a:gd name="connsiteY2" fmla="*/ 264942 h 304800"/>
              <a:gd name="connsiteX3" fmla="*/ 337624 w 363415"/>
              <a:gd name="connsiteY3" fmla="*/ 39859 h 304800"/>
              <a:gd name="connsiteX4" fmla="*/ 337624 w 363415"/>
              <a:gd name="connsiteY4" fmla="*/ 25791 h 304800"/>
              <a:gd name="connsiteX5" fmla="*/ 337624 w 363415"/>
              <a:gd name="connsiteY5" fmla="*/ 25791 h 304800"/>
              <a:gd name="connsiteX6" fmla="*/ 337624 w 363415"/>
              <a:gd name="connsiteY6" fmla="*/ 25791 h 304800"/>
              <a:gd name="connsiteX7" fmla="*/ 337624 w 363415"/>
              <a:gd name="connsiteY7" fmla="*/ 25791 h 304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63415" h="304800">
                <a:moveTo>
                  <a:pt x="0" y="124265"/>
                </a:moveTo>
                <a:cubicBezTo>
                  <a:pt x="60960" y="175846"/>
                  <a:pt x="152400" y="255563"/>
                  <a:pt x="182880" y="279009"/>
                </a:cubicBezTo>
                <a:cubicBezTo>
                  <a:pt x="213360" y="302455"/>
                  <a:pt x="157089" y="304800"/>
                  <a:pt x="182880" y="264942"/>
                </a:cubicBezTo>
                <a:cubicBezTo>
                  <a:pt x="208671" y="225084"/>
                  <a:pt x="311833" y="79718"/>
                  <a:pt x="337624" y="39859"/>
                </a:cubicBezTo>
                <a:cubicBezTo>
                  <a:pt x="363415" y="0"/>
                  <a:pt x="337624" y="25791"/>
                  <a:pt x="337624" y="25791"/>
                </a:cubicBezTo>
                <a:lnTo>
                  <a:pt x="337624" y="25791"/>
                </a:lnTo>
                <a:lnTo>
                  <a:pt x="337624" y="25791"/>
                </a:lnTo>
                <a:lnTo>
                  <a:pt x="337624" y="25791"/>
                </a:lnTo>
              </a:path>
            </a:pathLst>
          </a:custGeom>
          <a:ln/>
        </p:spPr>
        <p:style>
          <a:lnRef idx="3">
            <a:schemeClr val="accent3"/>
          </a:lnRef>
          <a:fillRef idx="0">
            <a:schemeClr val="accent3"/>
          </a:fillRef>
          <a:effectRef idx="2">
            <a:schemeClr val="accent3"/>
          </a:effectRef>
          <a:fontRef idx="minor">
            <a:schemeClr val="tx1"/>
          </a:fontRef>
        </p:style>
        <p:txBody>
          <a:bodyPr rtlCol="0" anchor="ctr"/>
          <a:lstStyle/>
          <a:p>
            <a:pPr algn="ctr"/>
            <a:endParaRPr lang="en-US"/>
          </a:p>
        </p:txBody>
      </p:sp>
      <p:sp>
        <p:nvSpPr>
          <p:cNvPr id="23" name="Freeform 22"/>
          <p:cNvSpPr/>
          <p:nvPr/>
        </p:nvSpPr>
        <p:spPr>
          <a:xfrm>
            <a:off x="6324600" y="3276600"/>
            <a:ext cx="309489" cy="267286"/>
          </a:xfrm>
          <a:custGeom>
            <a:avLst/>
            <a:gdLst>
              <a:gd name="connsiteX0" fmla="*/ 0 w 363415"/>
              <a:gd name="connsiteY0" fmla="*/ 124265 h 304800"/>
              <a:gd name="connsiteX1" fmla="*/ 182880 w 363415"/>
              <a:gd name="connsiteY1" fmla="*/ 279009 h 304800"/>
              <a:gd name="connsiteX2" fmla="*/ 182880 w 363415"/>
              <a:gd name="connsiteY2" fmla="*/ 264942 h 304800"/>
              <a:gd name="connsiteX3" fmla="*/ 337624 w 363415"/>
              <a:gd name="connsiteY3" fmla="*/ 39859 h 304800"/>
              <a:gd name="connsiteX4" fmla="*/ 337624 w 363415"/>
              <a:gd name="connsiteY4" fmla="*/ 25791 h 304800"/>
              <a:gd name="connsiteX5" fmla="*/ 337624 w 363415"/>
              <a:gd name="connsiteY5" fmla="*/ 25791 h 304800"/>
              <a:gd name="connsiteX6" fmla="*/ 337624 w 363415"/>
              <a:gd name="connsiteY6" fmla="*/ 25791 h 304800"/>
              <a:gd name="connsiteX7" fmla="*/ 337624 w 363415"/>
              <a:gd name="connsiteY7" fmla="*/ 25791 h 304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63415" h="304800">
                <a:moveTo>
                  <a:pt x="0" y="124265"/>
                </a:moveTo>
                <a:cubicBezTo>
                  <a:pt x="60960" y="175846"/>
                  <a:pt x="152400" y="255563"/>
                  <a:pt x="182880" y="279009"/>
                </a:cubicBezTo>
                <a:cubicBezTo>
                  <a:pt x="213360" y="302455"/>
                  <a:pt x="157089" y="304800"/>
                  <a:pt x="182880" y="264942"/>
                </a:cubicBezTo>
                <a:cubicBezTo>
                  <a:pt x="208671" y="225084"/>
                  <a:pt x="311833" y="79718"/>
                  <a:pt x="337624" y="39859"/>
                </a:cubicBezTo>
                <a:cubicBezTo>
                  <a:pt x="363415" y="0"/>
                  <a:pt x="337624" y="25791"/>
                  <a:pt x="337624" y="25791"/>
                </a:cubicBezTo>
                <a:lnTo>
                  <a:pt x="337624" y="25791"/>
                </a:lnTo>
                <a:lnTo>
                  <a:pt x="337624" y="25791"/>
                </a:lnTo>
                <a:lnTo>
                  <a:pt x="337624" y="25791"/>
                </a:lnTo>
              </a:path>
            </a:pathLst>
          </a:custGeom>
          <a:ln/>
        </p:spPr>
        <p:style>
          <a:lnRef idx="3">
            <a:schemeClr val="accent3"/>
          </a:lnRef>
          <a:fillRef idx="0">
            <a:schemeClr val="accent3"/>
          </a:fillRef>
          <a:effectRef idx="2">
            <a:schemeClr val="accent3"/>
          </a:effectRef>
          <a:fontRef idx="minor">
            <a:schemeClr val="tx1"/>
          </a:fontRef>
        </p:style>
        <p:txBody>
          <a:bodyPr rtlCol="0" anchor="ctr"/>
          <a:lstStyle/>
          <a:p>
            <a:pPr algn="ctr"/>
            <a:endParaRPr lang="en-US"/>
          </a:p>
        </p:txBody>
      </p:sp>
      <p:sp>
        <p:nvSpPr>
          <p:cNvPr id="24" name="Freeform 23"/>
          <p:cNvSpPr/>
          <p:nvPr/>
        </p:nvSpPr>
        <p:spPr>
          <a:xfrm>
            <a:off x="3886200" y="3581400"/>
            <a:ext cx="309489" cy="267286"/>
          </a:xfrm>
          <a:custGeom>
            <a:avLst/>
            <a:gdLst>
              <a:gd name="connsiteX0" fmla="*/ 0 w 363415"/>
              <a:gd name="connsiteY0" fmla="*/ 124265 h 304800"/>
              <a:gd name="connsiteX1" fmla="*/ 182880 w 363415"/>
              <a:gd name="connsiteY1" fmla="*/ 279009 h 304800"/>
              <a:gd name="connsiteX2" fmla="*/ 182880 w 363415"/>
              <a:gd name="connsiteY2" fmla="*/ 264942 h 304800"/>
              <a:gd name="connsiteX3" fmla="*/ 337624 w 363415"/>
              <a:gd name="connsiteY3" fmla="*/ 39859 h 304800"/>
              <a:gd name="connsiteX4" fmla="*/ 337624 w 363415"/>
              <a:gd name="connsiteY4" fmla="*/ 25791 h 304800"/>
              <a:gd name="connsiteX5" fmla="*/ 337624 w 363415"/>
              <a:gd name="connsiteY5" fmla="*/ 25791 h 304800"/>
              <a:gd name="connsiteX6" fmla="*/ 337624 w 363415"/>
              <a:gd name="connsiteY6" fmla="*/ 25791 h 304800"/>
              <a:gd name="connsiteX7" fmla="*/ 337624 w 363415"/>
              <a:gd name="connsiteY7" fmla="*/ 25791 h 304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63415" h="304800">
                <a:moveTo>
                  <a:pt x="0" y="124265"/>
                </a:moveTo>
                <a:cubicBezTo>
                  <a:pt x="60960" y="175846"/>
                  <a:pt x="152400" y="255563"/>
                  <a:pt x="182880" y="279009"/>
                </a:cubicBezTo>
                <a:cubicBezTo>
                  <a:pt x="213360" y="302455"/>
                  <a:pt x="157089" y="304800"/>
                  <a:pt x="182880" y="264942"/>
                </a:cubicBezTo>
                <a:cubicBezTo>
                  <a:pt x="208671" y="225084"/>
                  <a:pt x="311833" y="79718"/>
                  <a:pt x="337624" y="39859"/>
                </a:cubicBezTo>
                <a:cubicBezTo>
                  <a:pt x="363415" y="0"/>
                  <a:pt x="337624" y="25791"/>
                  <a:pt x="337624" y="25791"/>
                </a:cubicBezTo>
                <a:lnTo>
                  <a:pt x="337624" y="25791"/>
                </a:lnTo>
                <a:lnTo>
                  <a:pt x="337624" y="25791"/>
                </a:lnTo>
                <a:lnTo>
                  <a:pt x="337624" y="25791"/>
                </a:lnTo>
              </a:path>
            </a:pathLst>
          </a:custGeom>
          <a:ln/>
        </p:spPr>
        <p:style>
          <a:lnRef idx="3">
            <a:schemeClr val="accent3"/>
          </a:lnRef>
          <a:fillRef idx="0">
            <a:schemeClr val="accent3"/>
          </a:fillRef>
          <a:effectRef idx="2">
            <a:schemeClr val="accent3"/>
          </a:effectRef>
          <a:fontRef idx="minor">
            <a:schemeClr val="tx1"/>
          </a:fontRef>
        </p:style>
        <p:txBody>
          <a:bodyPr rtlCol="0" anchor="ctr"/>
          <a:lstStyle/>
          <a:p>
            <a:pPr algn="ctr"/>
            <a:endParaRPr lang="en-US"/>
          </a:p>
        </p:txBody>
      </p:sp>
      <p:sp>
        <p:nvSpPr>
          <p:cNvPr id="25" name="Freeform 24"/>
          <p:cNvSpPr/>
          <p:nvPr/>
        </p:nvSpPr>
        <p:spPr>
          <a:xfrm>
            <a:off x="2590800" y="3581400"/>
            <a:ext cx="309489" cy="267286"/>
          </a:xfrm>
          <a:custGeom>
            <a:avLst/>
            <a:gdLst>
              <a:gd name="connsiteX0" fmla="*/ 0 w 363415"/>
              <a:gd name="connsiteY0" fmla="*/ 124265 h 304800"/>
              <a:gd name="connsiteX1" fmla="*/ 182880 w 363415"/>
              <a:gd name="connsiteY1" fmla="*/ 279009 h 304800"/>
              <a:gd name="connsiteX2" fmla="*/ 182880 w 363415"/>
              <a:gd name="connsiteY2" fmla="*/ 264942 h 304800"/>
              <a:gd name="connsiteX3" fmla="*/ 337624 w 363415"/>
              <a:gd name="connsiteY3" fmla="*/ 39859 h 304800"/>
              <a:gd name="connsiteX4" fmla="*/ 337624 w 363415"/>
              <a:gd name="connsiteY4" fmla="*/ 25791 h 304800"/>
              <a:gd name="connsiteX5" fmla="*/ 337624 w 363415"/>
              <a:gd name="connsiteY5" fmla="*/ 25791 h 304800"/>
              <a:gd name="connsiteX6" fmla="*/ 337624 w 363415"/>
              <a:gd name="connsiteY6" fmla="*/ 25791 h 304800"/>
              <a:gd name="connsiteX7" fmla="*/ 337624 w 363415"/>
              <a:gd name="connsiteY7" fmla="*/ 25791 h 304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63415" h="304800">
                <a:moveTo>
                  <a:pt x="0" y="124265"/>
                </a:moveTo>
                <a:cubicBezTo>
                  <a:pt x="60960" y="175846"/>
                  <a:pt x="152400" y="255563"/>
                  <a:pt x="182880" y="279009"/>
                </a:cubicBezTo>
                <a:cubicBezTo>
                  <a:pt x="213360" y="302455"/>
                  <a:pt x="157089" y="304800"/>
                  <a:pt x="182880" y="264942"/>
                </a:cubicBezTo>
                <a:cubicBezTo>
                  <a:pt x="208671" y="225084"/>
                  <a:pt x="311833" y="79718"/>
                  <a:pt x="337624" y="39859"/>
                </a:cubicBezTo>
                <a:cubicBezTo>
                  <a:pt x="363415" y="0"/>
                  <a:pt x="337624" y="25791"/>
                  <a:pt x="337624" y="25791"/>
                </a:cubicBezTo>
                <a:lnTo>
                  <a:pt x="337624" y="25791"/>
                </a:lnTo>
                <a:lnTo>
                  <a:pt x="337624" y="25791"/>
                </a:lnTo>
                <a:lnTo>
                  <a:pt x="337624" y="25791"/>
                </a:lnTo>
              </a:path>
            </a:pathLst>
          </a:custGeom>
          <a:ln/>
        </p:spPr>
        <p:style>
          <a:lnRef idx="3">
            <a:schemeClr val="accent3"/>
          </a:lnRef>
          <a:fillRef idx="0">
            <a:schemeClr val="accent3"/>
          </a:fillRef>
          <a:effectRef idx="2">
            <a:schemeClr val="accent3"/>
          </a:effectRef>
          <a:fontRef idx="minor">
            <a:schemeClr val="tx1"/>
          </a:fontRef>
        </p:style>
        <p:txBody>
          <a:bodyPr rtlCol="0" anchor="ctr"/>
          <a:lstStyle/>
          <a:p>
            <a:pPr algn="ctr"/>
            <a:endParaRPr lang="en-US"/>
          </a:p>
        </p:txBody>
      </p:sp>
      <p:sp>
        <p:nvSpPr>
          <p:cNvPr id="26" name="Freeform 25"/>
          <p:cNvSpPr/>
          <p:nvPr/>
        </p:nvSpPr>
        <p:spPr>
          <a:xfrm>
            <a:off x="2590800" y="4114800"/>
            <a:ext cx="309489" cy="267286"/>
          </a:xfrm>
          <a:custGeom>
            <a:avLst/>
            <a:gdLst>
              <a:gd name="connsiteX0" fmla="*/ 0 w 363415"/>
              <a:gd name="connsiteY0" fmla="*/ 124265 h 304800"/>
              <a:gd name="connsiteX1" fmla="*/ 182880 w 363415"/>
              <a:gd name="connsiteY1" fmla="*/ 279009 h 304800"/>
              <a:gd name="connsiteX2" fmla="*/ 182880 w 363415"/>
              <a:gd name="connsiteY2" fmla="*/ 264942 h 304800"/>
              <a:gd name="connsiteX3" fmla="*/ 337624 w 363415"/>
              <a:gd name="connsiteY3" fmla="*/ 39859 h 304800"/>
              <a:gd name="connsiteX4" fmla="*/ 337624 w 363415"/>
              <a:gd name="connsiteY4" fmla="*/ 25791 h 304800"/>
              <a:gd name="connsiteX5" fmla="*/ 337624 w 363415"/>
              <a:gd name="connsiteY5" fmla="*/ 25791 h 304800"/>
              <a:gd name="connsiteX6" fmla="*/ 337624 w 363415"/>
              <a:gd name="connsiteY6" fmla="*/ 25791 h 304800"/>
              <a:gd name="connsiteX7" fmla="*/ 337624 w 363415"/>
              <a:gd name="connsiteY7" fmla="*/ 25791 h 304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63415" h="304800">
                <a:moveTo>
                  <a:pt x="0" y="124265"/>
                </a:moveTo>
                <a:cubicBezTo>
                  <a:pt x="60960" y="175846"/>
                  <a:pt x="152400" y="255563"/>
                  <a:pt x="182880" y="279009"/>
                </a:cubicBezTo>
                <a:cubicBezTo>
                  <a:pt x="213360" y="302455"/>
                  <a:pt x="157089" y="304800"/>
                  <a:pt x="182880" y="264942"/>
                </a:cubicBezTo>
                <a:cubicBezTo>
                  <a:pt x="208671" y="225084"/>
                  <a:pt x="311833" y="79718"/>
                  <a:pt x="337624" y="39859"/>
                </a:cubicBezTo>
                <a:cubicBezTo>
                  <a:pt x="363415" y="0"/>
                  <a:pt x="337624" y="25791"/>
                  <a:pt x="337624" y="25791"/>
                </a:cubicBezTo>
                <a:lnTo>
                  <a:pt x="337624" y="25791"/>
                </a:lnTo>
                <a:lnTo>
                  <a:pt x="337624" y="25791"/>
                </a:lnTo>
                <a:lnTo>
                  <a:pt x="337624" y="25791"/>
                </a:lnTo>
              </a:path>
            </a:pathLst>
          </a:custGeom>
          <a:ln/>
        </p:spPr>
        <p:style>
          <a:lnRef idx="3">
            <a:schemeClr val="accent3"/>
          </a:lnRef>
          <a:fillRef idx="0">
            <a:schemeClr val="accent3"/>
          </a:fillRef>
          <a:effectRef idx="2">
            <a:schemeClr val="accent3"/>
          </a:effectRef>
          <a:fontRef idx="minor">
            <a:schemeClr val="tx1"/>
          </a:fontRef>
        </p:style>
        <p:txBody>
          <a:bodyPr rtlCol="0" anchor="ctr"/>
          <a:lstStyle/>
          <a:p>
            <a:pPr algn="ctr"/>
            <a:endParaRPr lang="en-US"/>
          </a:p>
        </p:txBody>
      </p:sp>
      <p:sp>
        <p:nvSpPr>
          <p:cNvPr id="27" name="Freeform 26"/>
          <p:cNvSpPr/>
          <p:nvPr/>
        </p:nvSpPr>
        <p:spPr>
          <a:xfrm>
            <a:off x="2590800" y="4648200"/>
            <a:ext cx="309489" cy="267286"/>
          </a:xfrm>
          <a:custGeom>
            <a:avLst/>
            <a:gdLst>
              <a:gd name="connsiteX0" fmla="*/ 0 w 363415"/>
              <a:gd name="connsiteY0" fmla="*/ 124265 h 304800"/>
              <a:gd name="connsiteX1" fmla="*/ 182880 w 363415"/>
              <a:gd name="connsiteY1" fmla="*/ 279009 h 304800"/>
              <a:gd name="connsiteX2" fmla="*/ 182880 w 363415"/>
              <a:gd name="connsiteY2" fmla="*/ 264942 h 304800"/>
              <a:gd name="connsiteX3" fmla="*/ 337624 w 363415"/>
              <a:gd name="connsiteY3" fmla="*/ 39859 h 304800"/>
              <a:gd name="connsiteX4" fmla="*/ 337624 w 363415"/>
              <a:gd name="connsiteY4" fmla="*/ 25791 h 304800"/>
              <a:gd name="connsiteX5" fmla="*/ 337624 w 363415"/>
              <a:gd name="connsiteY5" fmla="*/ 25791 h 304800"/>
              <a:gd name="connsiteX6" fmla="*/ 337624 w 363415"/>
              <a:gd name="connsiteY6" fmla="*/ 25791 h 304800"/>
              <a:gd name="connsiteX7" fmla="*/ 337624 w 363415"/>
              <a:gd name="connsiteY7" fmla="*/ 25791 h 304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63415" h="304800">
                <a:moveTo>
                  <a:pt x="0" y="124265"/>
                </a:moveTo>
                <a:cubicBezTo>
                  <a:pt x="60960" y="175846"/>
                  <a:pt x="152400" y="255563"/>
                  <a:pt x="182880" y="279009"/>
                </a:cubicBezTo>
                <a:cubicBezTo>
                  <a:pt x="213360" y="302455"/>
                  <a:pt x="157089" y="304800"/>
                  <a:pt x="182880" y="264942"/>
                </a:cubicBezTo>
                <a:cubicBezTo>
                  <a:pt x="208671" y="225084"/>
                  <a:pt x="311833" y="79718"/>
                  <a:pt x="337624" y="39859"/>
                </a:cubicBezTo>
                <a:cubicBezTo>
                  <a:pt x="363415" y="0"/>
                  <a:pt x="337624" y="25791"/>
                  <a:pt x="337624" y="25791"/>
                </a:cubicBezTo>
                <a:lnTo>
                  <a:pt x="337624" y="25791"/>
                </a:lnTo>
                <a:lnTo>
                  <a:pt x="337624" y="25791"/>
                </a:lnTo>
                <a:lnTo>
                  <a:pt x="337624" y="25791"/>
                </a:lnTo>
              </a:path>
            </a:pathLst>
          </a:custGeom>
          <a:ln/>
        </p:spPr>
        <p:style>
          <a:lnRef idx="3">
            <a:schemeClr val="accent3"/>
          </a:lnRef>
          <a:fillRef idx="0">
            <a:schemeClr val="accent3"/>
          </a:fillRef>
          <a:effectRef idx="2">
            <a:schemeClr val="accent3"/>
          </a:effectRef>
          <a:fontRef idx="minor">
            <a:schemeClr val="tx1"/>
          </a:fontRef>
        </p:style>
        <p:txBody>
          <a:bodyPr rtlCol="0" anchor="ctr"/>
          <a:lstStyle/>
          <a:p>
            <a:pPr algn="ctr"/>
            <a:endParaRPr lang="en-US"/>
          </a:p>
        </p:txBody>
      </p:sp>
      <p:sp>
        <p:nvSpPr>
          <p:cNvPr id="28" name="Freeform 27"/>
          <p:cNvSpPr/>
          <p:nvPr/>
        </p:nvSpPr>
        <p:spPr>
          <a:xfrm>
            <a:off x="4953000" y="3581400"/>
            <a:ext cx="309489" cy="267286"/>
          </a:xfrm>
          <a:custGeom>
            <a:avLst/>
            <a:gdLst>
              <a:gd name="connsiteX0" fmla="*/ 0 w 363415"/>
              <a:gd name="connsiteY0" fmla="*/ 124265 h 304800"/>
              <a:gd name="connsiteX1" fmla="*/ 182880 w 363415"/>
              <a:gd name="connsiteY1" fmla="*/ 279009 h 304800"/>
              <a:gd name="connsiteX2" fmla="*/ 182880 w 363415"/>
              <a:gd name="connsiteY2" fmla="*/ 264942 h 304800"/>
              <a:gd name="connsiteX3" fmla="*/ 337624 w 363415"/>
              <a:gd name="connsiteY3" fmla="*/ 39859 h 304800"/>
              <a:gd name="connsiteX4" fmla="*/ 337624 w 363415"/>
              <a:gd name="connsiteY4" fmla="*/ 25791 h 304800"/>
              <a:gd name="connsiteX5" fmla="*/ 337624 w 363415"/>
              <a:gd name="connsiteY5" fmla="*/ 25791 h 304800"/>
              <a:gd name="connsiteX6" fmla="*/ 337624 w 363415"/>
              <a:gd name="connsiteY6" fmla="*/ 25791 h 304800"/>
              <a:gd name="connsiteX7" fmla="*/ 337624 w 363415"/>
              <a:gd name="connsiteY7" fmla="*/ 25791 h 304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63415" h="304800">
                <a:moveTo>
                  <a:pt x="0" y="124265"/>
                </a:moveTo>
                <a:cubicBezTo>
                  <a:pt x="60960" y="175846"/>
                  <a:pt x="152400" y="255563"/>
                  <a:pt x="182880" y="279009"/>
                </a:cubicBezTo>
                <a:cubicBezTo>
                  <a:pt x="213360" y="302455"/>
                  <a:pt x="157089" y="304800"/>
                  <a:pt x="182880" y="264942"/>
                </a:cubicBezTo>
                <a:cubicBezTo>
                  <a:pt x="208671" y="225084"/>
                  <a:pt x="311833" y="79718"/>
                  <a:pt x="337624" y="39859"/>
                </a:cubicBezTo>
                <a:cubicBezTo>
                  <a:pt x="363415" y="0"/>
                  <a:pt x="337624" y="25791"/>
                  <a:pt x="337624" y="25791"/>
                </a:cubicBezTo>
                <a:lnTo>
                  <a:pt x="337624" y="25791"/>
                </a:lnTo>
                <a:lnTo>
                  <a:pt x="337624" y="25791"/>
                </a:lnTo>
                <a:lnTo>
                  <a:pt x="337624" y="25791"/>
                </a:lnTo>
              </a:path>
            </a:pathLst>
          </a:custGeom>
          <a:ln/>
        </p:spPr>
        <p:style>
          <a:lnRef idx="3">
            <a:schemeClr val="accent3"/>
          </a:lnRef>
          <a:fillRef idx="0">
            <a:schemeClr val="accent3"/>
          </a:fillRef>
          <a:effectRef idx="2">
            <a:schemeClr val="accent3"/>
          </a:effectRef>
          <a:fontRef idx="minor">
            <a:schemeClr val="tx1"/>
          </a:fontRef>
        </p:style>
        <p:txBody>
          <a:bodyPr rtlCol="0" anchor="ctr"/>
          <a:lstStyle/>
          <a:p>
            <a:pPr algn="ctr"/>
            <a:endParaRPr lang="en-US"/>
          </a:p>
        </p:txBody>
      </p:sp>
      <p:sp>
        <p:nvSpPr>
          <p:cNvPr id="29" name="Freeform 28"/>
          <p:cNvSpPr/>
          <p:nvPr/>
        </p:nvSpPr>
        <p:spPr>
          <a:xfrm>
            <a:off x="3886200" y="4724400"/>
            <a:ext cx="309489" cy="267286"/>
          </a:xfrm>
          <a:custGeom>
            <a:avLst/>
            <a:gdLst>
              <a:gd name="connsiteX0" fmla="*/ 0 w 363415"/>
              <a:gd name="connsiteY0" fmla="*/ 124265 h 304800"/>
              <a:gd name="connsiteX1" fmla="*/ 182880 w 363415"/>
              <a:gd name="connsiteY1" fmla="*/ 279009 h 304800"/>
              <a:gd name="connsiteX2" fmla="*/ 182880 w 363415"/>
              <a:gd name="connsiteY2" fmla="*/ 264942 h 304800"/>
              <a:gd name="connsiteX3" fmla="*/ 337624 w 363415"/>
              <a:gd name="connsiteY3" fmla="*/ 39859 h 304800"/>
              <a:gd name="connsiteX4" fmla="*/ 337624 w 363415"/>
              <a:gd name="connsiteY4" fmla="*/ 25791 h 304800"/>
              <a:gd name="connsiteX5" fmla="*/ 337624 w 363415"/>
              <a:gd name="connsiteY5" fmla="*/ 25791 h 304800"/>
              <a:gd name="connsiteX6" fmla="*/ 337624 w 363415"/>
              <a:gd name="connsiteY6" fmla="*/ 25791 h 304800"/>
              <a:gd name="connsiteX7" fmla="*/ 337624 w 363415"/>
              <a:gd name="connsiteY7" fmla="*/ 25791 h 304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63415" h="304800">
                <a:moveTo>
                  <a:pt x="0" y="124265"/>
                </a:moveTo>
                <a:cubicBezTo>
                  <a:pt x="60960" y="175846"/>
                  <a:pt x="152400" y="255563"/>
                  <a:pt x="182880" y="279009"/>
                </a:cubicBezTo>
                <a:cubicBezTo>
                  <a:pt x="213360" y="302455"/>
                  <a:pt x="157089" y="304800"/>
                  <a:pt x="182880" y="264942"/>
                </a:cubicBezTo>
                <a:cubicBezTo>
                  <a:pt x="208671" y="225084"/>
                  <a:pt x="311833" y="79718"/>
                  <a:pt x="337624" y="39859"/>
                </a:cubicBezTo>
                <a:cubicBezTo>
                  <a:pt x="363415" y="0"/>
                  <a:pt x="337624" y="25791"/>
                  <a:pt x="337624" y="25791"/>
                </a:cubicBezTo>
                <a:lnTo>
                  <a:pt x="337624" y="25791"/>
                </a:lnTo>
                <a:lnTo>
                  <a:pt x="337624" y="25791"/>
                </a:lnTo>
                <a:lnTo>
                  <a:pt x="337624" y="25791"/>
                </a:lnTo>
              </a:path>
            </a:pathLst>
          </a:custGeom>
          <a:ln/>
        </p:spPr>
        <p:style>
          <a:lnRef idx="3">
            <a:schemeClr val="accent3"/>
          </a:lnRef>
          <a:fillRef idx="0">
            <a:schemeClr val="accent3"/>
          </a:fillRef>
          <a:effectRef idx="2">
            <a:schemeClr val="accent3"/>
          </a:effectRef>
          <a:fontRef idx="minor">
            <a:schemeClr val="tx1"/>
          </a:fontRef>
        </p:style>
        <p:txBody>
          <a:bodyPr rtlCol="0" anchor="ctr"/>
          <a:lstStyle/>
          <a:p>
            <a:pPr algn="ctr"/>
            <a:endParaRPr lang="en-US"/>
          </a:p>
        </p:txBody>
      </p:sp>
      <p:sp>
        <p:nvSpPr>
          <p:cNvPr id="30" name="Freeform 29"/>
          <p:cNvSpPr/>
          <p:nvPr/>
        </p:nvSpPr>
        <p:spPr>
          <a:xfrm>
            <a:off x="3886200" y="4191000"/>
            <a:ext cx="309489" cy="267286"/>
          </a:xfrm>
          <a:custGeom>
            <a:avLst/>
            <a:gdLst>
              <a:gd name="connsiteX0" fmla="*/ 0 w 363415"/>
              <a:gd name="connsiteY0" fmla="*/ 124265 h 304800"/>
              <a:gd name="connsiteX1" fmla="*/ 182880 w 363415"/>
              <a:gd name="connsiteY1" fmla="*/ 279009 h 304800"/>
              <a:gd name="connsiteX2" fmla="*/ 182880 w 363415"/>
              <a:gd name="connsiteY2" fmla="*/ 264942 h 304800"/>
              <a:gd name="connsiteX3" fmla="*/ 337624 w 363415"/>
              <a:gd name="connsiteY3" fmla="*/ 39859 h 304800"/>
              <a:gd name="connsiteX4" fmla="*/ 337624 w 363415"/>
              <a:gd name="connsiteY4" fmla="*/ 25791 h 304800"/>
              <a:gd name="connsiteX5" fmla="*/ 337624 w 363415"/>
              <a:gd name="connsiteY5" fmla="*/ 25791 h 304800"/>
              <a:gd name="connsiteX6" fmla="*/ 337624 w 363415"/>
              <a:gd name="connsiteY6" fmla="*/ 25791 h 304800"/>
              <a:gd name="connsiteX7" fmla="*/ 337624 w 363415"/>
              <a:gd name="connsiteY7" fmla="*/ 25791 h 304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63415" h="304800">
                <a:moveTo>
                  <a:pt x="0" y="124265"/>
                </a:moveTo>
                <a:cubicBezTo>
                  <a:pt x="60960" y="175846"/>
                  <a:pt x="152400" y="255563"/>
                  <a:pt x="182880" y="279009"/>
                </a:cubicBezTo>
                <a:cubicBezTo>
                  <a:pt x="213360" y="302455"/>
                  <a:pt x="157089" y="304800"/>
                  <a:pt x="182880" y="264942"/>
                </a:cubicBezTo>
                <a:cubicBezTo>
                  <a:pt x="208671" y="225084"/>
                  <a:pt x="311833" y="79718"/>
                  <a:pt x="337624" y="39859"/>
                </a:cubicBezTo>
                <a:cubicBezTo>
                  <a:pt x="363415" y="0"/>
                  <a:pt x="337624" y="25791"/>
                  <a:pt x="337624" y="25791"/>
                </a:cubicBezTo>
                <a:lnTo>
                  <a:pt x="337624" y="25791"/>
                </a:lnTo>
                <a:lnTo>
                  <a:pt x="337624" y="25791"/>
                </a:lnTo>
                <a:lnTo>
                  <a:pt x="337624" y="25791"/>
                </a:lnTo>
              </a:path>
            </a:pathLst>
          </a:custGeom>
          <a:ln/>
        </p:spPr>
        <p:style>
          <a:lnRef idx="3">
            <a:schemeClr val="accent3"/>
          </a:lnRef>
          <a:fillRef idx="0">
            <a:schemeClr val="accent3"/>
          </a:fillRef>
          <a:effectRef idx="2">
            <a:schemeClr val="accent3"/>
          </a:effectRef>
          <a:fontRef idx="minor">
            <a:schemeClr val="tx1"/>
          </a:fontRef>
        </p:style>
        <p:txBody>
          <a:bodyPr rtlCol="0" anchor="ctr"/>
          <a:lstStyle/>
          <a:p>
            <a:pPr algn="ctr"/>
            <a:endParaRPr lang="en-US"/>
          </a:p>
        </p:txBody>
      </p:sp>
      <p:sp>
        <p:nvSpPr>
          <p:cNvPr id="31" name="Freeform 30"/>
          <p:cNvSpPr/>
          <p:nvPr/>
        </p:nvSpPr>
        <p:spPr>
          <a:xfrm>
            <a:off x="6400800" y="4114800"/>
            <a:ext cx="309489" cy="267286"/>
          </a:xfrm>
          <a:custGeom>
            <a:avLst/>
            <a:gdLst>
              <a:gd name="connsiteX0" fmla="*/ 0 w 363415"/>
              <a:gd name="connsiteY0" fmla="*/ 124265 h 304800"/>
              <a:gd name="connsiteX1" fmla="*/ 182880 w 363415"/>
              <a:gd name="connsiteY1" fmla="*/ 279009 h 304800"/>
              <a:gd name="connsiteX2" fmla="*/ 182880 w 363415"/>
              <a:gd name="connsiteY2" fmla="*/ 264942 h 304800"/>
              <a:gd name="connsiteX3" fmla="*/ 337624 w 363415"/>
              <a:gd name="connsiteY3" fmla="*/ 39859 h 304800"/>
              <a:gd name="connsiteX4" fmla="*/ 337624 w 363415"/>
              <a:gd name="connsiteY4" fmla="*/ 25791 h 304800"/>
              <a:gd name="connsiteX5" fmla="*/ 337624 w 363415"/>
              <a:gd name="connsiteY5" fmla="*/ 25791 h 304800"/>
              <a:gd name="connsiteX6" fmla="*/ 337624 w 363415"/>
              <a:gd name="connsiteY6" fmla="*/ 25791 h 304800"/>
              <a:gd name="connsiteX7" fmla="*/ 337624 w 363415"/>
              <a:gd name="connsiteY7" fmla="*/ 25791 h 304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63415" h="304800">
                <a:moveTo>
                  <a:pt x="0" y="124265"/>
                </a:moveTo>
                <a:cubicBezTo>
                  <a:pt x="60960" y="175846"/>
                  <a:pt x="152400" y="255563"/>
                  <a:pt x="182880" y="279009"/>
                </a:cubicBezTo>
                <a:cubicBezTo>
                  <a:pt x="213360" y="302455"/>
                  <a:pt x="157089" y="304800"/>
                  <a:pt x="182880" y="264942"/>
                </a:cubicBezTo>
                <a:cubicBezTo>
                  <a:pt x="208671" y="225084"/>
                  <a:pt x="311833" y="79718"/>
                  <a:pt x="337624" y="39859"/>
                </a:cubicBezTo>
                <a:cubicBezTo>
                  <a:pt x="363415" y="0"/>
                  <a:pt x="337624" y="25791"/>
                  <a:pt x="337624" y="25791"/>
                </a:cubicBezTo>
                <a:lnTo>
                  <a:pt x="337624" y="25791"/>
                </a:lnTo>
                <a:lnTo>
                  <a:pt x="337624" y="25791"/>
                </a:lnTo>
                <a:lnTo>
                  <a:pt x="337624" y="25791"/>
                </a:lnTo>
              </a:path>
            </a:pathLst>
          </a:custGeom>
          <a:ln/>
        </p:spPr>
        <p:style>
          <a:lnRef idx="3">
            <a:schemeClr val="accent3"/>
          </a:lnRef>
          <a:fillRef idx="0">
            <a:schemeClr val="accent3"/>
          </a:fillRef>
          <a:effectRef idx="2">
            <a:schemeClr val="accent3"/>
          </a:effectRef>
          <a:fontRef idx="minor">
            <a:schemeClr val="tx1"/>
          </a:fontRef>
        </p:style>
        <p:txBody>
          <a:bodyPr rtlCol="0" anchor="ctr"/>
          <a:lstStyle/>
          <a:p>
            <a:pPr algn="ctr"/>
            <a:endParaRPr lang="en-US"/>
          </a:p>
        </p:txBody>
      </p:sp>
      <p:sp>
        <p:nvSpPr>
          <p:cNvPr id="32" name="Freeform 31"/>
          <p:cNvSpPr/>
          <p:nvPr/>
        </p:nvSpPr>
        <p:spPr>
          <a:xfrm>
            <a:off x="4876800" y="4648200"/>
            <a:ext cx="309489" cy="267286"/>
          </a:xfrm>
          <a:custGeom>
            <a:avLst/>
            <a:gdLst>
              <a:gd name="connsiteX0" fmla="*/ 0 w 363415"/>
              <a:gd name="connsiteY0" fmla="*/ 124265 h 304800"/>
              <a:gd name="connsiteX1" fmla="*/ 182880 w 363415"/>
              <a:gd name="connsiteY1" fmla="*/ 279009 h 304800"/>
              <a:gd name="connsiteX2" fmla="*/ 182880 w 363415"/>
              <a:gd name="connsiteY2" fmla="*/ 264942 h 304800"/>
              <a:gd name="connsiteX3" fmla="*/ 337624 w 363415"/>
              <a:gd name="connsiteY3" fmla="*/ 39859 h 304800"/>
              <a:gd name="connsiteX4" fmla="*/ 337624 w 363415"/>
              <a:gd name="connsiteY4" fmla="*/ 25791 h 304800"/>
              <a:gd name="connsiteX5" fmla="*/ 337624 w 363415"/>
              <a:gd name="connsiteY5" fmla="*/ 25791 h 304800"/>
              <a:gd name="connsiteX6" fmla="*/ 337624 w 363415"/>
              <a:gd name="connsiteY6" fmla="*/ 25791 h 304800"/>
              <a:gd name="connsiteX7" fmla="*/ 337624 w 363415"/>
              <a:gd name="connsiteY7" fmla="*/ 25791 h 304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63415" h="304800">
                <a:moveTo>
                  <a:pt x="0" y="124265"/>
                </a:moveTo>
                <a:cubicBezTo>
                  <a:pt x="60960" y="175846"/>
                  <a:pt x="152400" y="255563"/>
                  <a:pt x="182880" y="279009"/>
                </a:cubicBezTo>
                <a:cubicBezTo>
                  <a:pt x="213360" y="302455"/>
                  <a:pt x="157089" y="304800"/>
                  <a:pt x="182880" y="264942"/>
                </a:cubicBezTo>
                <a:cubicBezTo>
                  <a:pt x="208671" y="225084"/>
                  <a:pt x="311833" y="79718"/>
                  <a:pt x="337624" y="39859"/>
                </a:cubicBezTo>
                <a:cubicBezTo>
                  <a:pt x="363415" y="0"/>
                  <a:pt x="337624" y="25791"/>
                  <a:pt x="337624" y="25791"/>
                </a:cubicBezTo>
                <a:lnTo>
                  <a:pt x="337624" y="25791"/>
                </a:lnTo>
                <a:lnTo>
                  <a:pt x="337624" y="25791"/>
                </a:lnTo>
                <a:lnTo>
                  <a:pt x="337624" y="25791"/>
                </a:lnTo>
              </a:path>
            </a:pathLst>
          </a:custGeom>
          <a:ln/>
        </p:spPr>
        <p:style>
          <a:lnRef idx="3">
            <a:schemeClr val="accent3"/>
          </a:lnRef>
          <a:fillRef idx="0">
            <a:schemeClr val="accent3"/>
          </a:fillRef>
          <a:effectRef idx="2">
            <a:schemeClr val="accent3"/>
          </a:effectRef>
          <a:fontRef idx="minor">
            <a:schemeClr val="tx1"/>
          </a:fontRef>
        </p:style>
        <p:txBody>
          <a:bodyPr rtlCol="0" anchor="ctr"/>
          <a:lstStyle/>
          <a:p>
            <a:pPr algn="ctr"/>
            <a:endParaRPr lang="en-US"/>
          </a:p>
        </p:txBody>
      </p:sp>
      <p:sp>
        <p:nvSpPr>
          <p:cNvPr id="33" name="Freeform 32"/>
          <p:cNvSpPr/>
          <p:nvPr/>
        </p:nvSpPr>
        <p:spPr>
          <a:xfrm>
            <a:off x="4953000" y="4114800"/>
            <a:ext cx="309489" cy="267286"/>
          </a:xfrm>
          <a:custGeom>
            <a:avLst/>
            <a:gdLst>
              <a:gd name="connsiteX0" fmla="*/ 0 w 363415"/>
              <a:gd name="connsiteY0" fmla="*/ 124265 h 304800"/>
              <a:gd name="connsiteX1" fmla="*/ 182880 w 363415"/>
              <a:gd name="connsiteY1" fmla="*/ 279009 h 304800"/>
              <a:gd name="connsiteX2" fmla="*/ 182880 w 363415"/>
              <a:gd name="connsiteY2" fmla="*/ 264942 h 304800"/>
              <a:gd name="connsiteX3" fmla="*/ 337624 w 363415"/>
              <a:gd name="connsiteY3" fmla="*/ 39859 h 304800"/>
              <a:gd name="connsiteX4" fmla="*/ 337624 w 363415"/>
              <a:gd name="connsiteY4" fmla="*/ 25791 h 304800"/>
              <a:gd name="connsiteX5" fmla="*/ 337624 w 363415"/>
              <a:gd name="connsiteY5" fmla="*/ 25791 h 304800"/>
              <a:gd name="connsiteX6" fmla="*/ 337624 w 363415"/>
              <a:gd name="connsiteY6" fmla="*/ 25791 h 304800"/>
              <a:gd name="connsiteX7" fmla="*/ 337624 w 363415"/>
              <a:gd name="connsiteY7" fmla="*/ 25791 h 304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63415" h="304800">
                <a:moveTo>
                  <a:pt x="0" y="124265"/>
                </a:moveTo>
                <a:cubicBezTo>
                  <a:pt x="60960" y="175846"/>
                  <a:pt x="152400" y="255563"/>
                  <a:pt x="182880" y="279009"/>
                </a:cubicBezTo>
                <a:cubicBezTo>
                  <a:pt x="213360" y="302455"/>
                  <a:pt x="157089" y="304800"/>
                  <a:pt x="182880" y="264942"/>
                </a:cubicBezTo>
                <a:cubicBezTo>
                  <a:pt x="208671" y="225084"/>
                  <a:pt x="311833" y="79718"/>
                  <a:pt x="337624" y="39859"/>
                </a:cubicBezTo>
                <a:cubicBezTo>
                  <a:pt x="363415" y="0"/>
                  <a:pt x="337624" y="25791"/>
                  <a:pt x="337624" y="25791"/>
                </a:cubicBezTo>
                <a:lnTo>
                  <a:pt x="337624" y="25791"/>
                </a:lnTo>
                <a:lnTo>
                  <a:pt x="337624" y="25791"/>
                </a:lnTo>
                <a:lnTo>
                  <a:pt x="337624" y="25791"/>
                </a:lnTo>
              </a:path>
            </a:pathLst>
          </a:custGeom>
          <a:ln/>
        </p:spPr>
        <p:style>
          <a:lnRef idx="3">
            <a:schemeClr val="accent3"/>
          </a:lnRef>
          <a:fillRef idx="0">
            <a:schemeClr val="accent3"/>
          </a:fillRef>
          <a:effectRef idx="2">
            <a:schemeClr val="accent3"/>
          </a:effectRef>
          <a:fontRef idx="minor">
            <a:schemeClr val="tx1"/>
          </a:fontRef>
        </p:style>
        <p:txBody>
          <a:bodyPr rtlCol="0" anchor="ctr"/>
          <a:lstStyle/>
          <a:p>
            <a:pPr algn="ctr"/>
            <a:endParaRPr lang="en-US"/>
          </a:p>
        </p:txBody>
      </p:sp>
      <p:sp>
        <p:nvSpPr>
          <p:cNvPr id="34" name="Freeform 33"/>
          <p:cNvSpPr/>
          <p:nvPr/>
        </p:nvSpPr>
        <p:spPr>
          <a:xfrm>
            <a:off x="7620000" y="4648200"/>
            <a:ext cx="309489" cy="267286"/>
          </a:xfrm>
          <a:custGeom>
            <a:avLst/>
            <a:gdLst>
              <a:gd name="connsiteX0" fmla="*/ 0 w 363415"/>
              <a:gd name="connsiteY0" fmla="*/ 124265 h 304800"/>
              <a:gd name="connsiteX1" fmla="*/ 182880 w 363415"/>
              <a:gd name="connsiteY1" fmla="*/ 279009 h 304800"/>
              <a:gd name="connsiteX2" fmla="*/ 182880 w 363415"/>
              <a:gd name="connsiteY2" fmla="*/ 264942 h 304800"/>
              <a:gd name="connsiteX3" fmla="*/ 337624 w 363415"/>
              <a:gd name="connsiteY3" fmla="*/ 39859 h 304800"/>
              <a:gd name="connsiteX4" fmla="*/ 337624 w 363415"/>
              <a:gd name="connsiteY4" fmla="*/ 25791 h 304800"/>
              <a:gd name="connsiteX5" fmla="*/ 337624 w 363415"/>
              <a:gd name="connsiteY5" fmla="*/ 25791 h 304800"/>
              <a:gd name="connsiteX6" fmla="*/ 337624 w 363415"/>
              <a:gd name="connsiteY6" fmla="*/ 25791 h 304800"/>
              <a:gd name="connsiteX7" fmla="*/ 337624 w 363415"/>
              <a:gd name="connsiteY7" fmla="*/ 25791 h 304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63415" h="304800">
                <a:moveTo>
                  <a:pt x="0" y="124265"/>
                </a:moveTo>
                <a:cubicBezTo>
                  <a:pt x="60960" y="175846"/>
                  <a:pt x="152400" y="255563"/>
                  <a:pt x="182880" y="279009"/>
                </a:cubicBezTo>
                <a:cubicBezTo>
                  <a:pt x="213360" y="302455"/>
                  <a:pt x="157089" y="304800"/>
                  <a:pt x="182880" y="264942"/>
                </a:cubicBezTo>
                <a:cubicBezTo>
                  <a:pt x="208671" y="225084"/>
                  <a:pt x="311833" y="79718"/>
                  <a:pt x="337624" y="39859"/>
                </a:cubicBezTo>
                <a:cubicBezTo>
                  <a:pt x="363415" y="0"/>
                  <a:pt x="337624" y="25791"/>
                  <a:pt x="337624" y="25791"/>
                </a:cubicBezTo>
                <a:lnTo>
                  <a:pt x="337624" y="25791"/>
                </a:lnTo>
                <a:lnTo>
                  <a:pt x="337624" y="25791"/>
                </a:lnTo>
                <a:lnTo>
                  <a:pt x="337624" y="25791"/>
                </a:lnTo>
              </a:path>
            </a:pathLst>
          </a:custGeom>
          <a:ln/>
        </p:spPr>
        <p:style>
          <a:lnRef idx="3">
            <a:schemeClr val="accent3"/>
          </a:lnRef>
          <a:fillRef idx="0">
            <a:schemeClr val="accent3"/>
          </a:fillRef>
          <a:effectRef idx="2">
            <a:schemeClr val="accent3"/>
          </a:effectRef>
          <a:fontRef idx="minor">
            <a:schemeClr val="tx1"/>
          </a:fontRef>
        </p:style>
        <p:txBody>
          <a:bodyPr rtlCol="0" anchor="ctr"/>
          <a:lstStyle/>
          <a:p>
            <a:pPr algn="ctr"/>
            <a:endParaRPr lang="en-US"/>
          </a:p>
        </p:txBody>
      </p:sp>
      <p:sp>
        <p:nvSpPr>
          <p:cNvPr id="36" name="Freeform 35"/>
          <p:cNvSpPr/>
          <p:nvPr/>
        </p:nvSpPr>
        <p:spPr>
          <a:xfrm>
            <a:off x="6324600" y="4648200"/>
            <a:ext cx="309489" cy="267286"/>
          </a:xfrm>
          <a:custGeom>
            <a:avLst/>
            <a:gdLst>
              <a:gd name="connsiteX0" fmla="*/ 0 w 363415"/>
              <a:gd name="connsiteY0" fmla="*/ 124265 h 304800"/>
              <a:gd name="connsiteX1" fmla="*/ 182880 w 363415"/>
              <a:gd name="connsiteY1" fmla="*/ 279009 h 304800"/>
              <a:gd name="connsiteX2" fmla="*/ 182880 w 363415"/>
              <a:gd name="connsiteY2" fmla="*/ 264942 h 304800"/>
              <a:gd name="connsiteX3" fmla="*/ 337624 w 363415"/>
              <a:gd name="connsiteY3" fmla="*/ 39859 h 304800"/>
              <a:gd name="connsiteX4" fmla="*/ 337624 w 363415"/>
              <a:gd name="connsiteY4" fmla="*/ 25791 h 304800"/>
              <a:gd name="connsiteX5" fmla="*/ 337624 w 363415"/>
              <a:gd name="connsiteY5" fmla="*/ 25791 h 304800"/>
              <a:gd name="connsiteX6" fmla="*/ 337624 w 363415"/>
              <a:gd name="connsiteY6" fmla="*/ 25791 h 304800"/>
              <a:gd name="connsiteX7" fmla="*/ 337624 w 363415"/>
              <a:gd name="connsiteY7" fmla="*/ 25791 h 304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63415" h="304800">
                <a:moveTo>
                  <a:pt x="0" y="124265"/>
                </a:moveTo>
                <a:cubicBezTo>
                  <a:pt x="60960" y="175846"/>
                  <a:pt x="152400" y="255563"/>
                  <a:pt x="182880" y="279009"/>
                </a:cubicBezTo>
                <a:cubicBezTo>
                  <a:pt x="213360" y="302455"/>
                  <a:pt x="157089" y="304800"/>
                  <a:pt x="182880" y="264942"/>
                </a:cubicBezTo>
                <a:cubicBezTo>
                  <a:pt x="208671" y="225084"/>
                  <a:pt x="311833" y="79718"/>
                  <a:pt x="337624" y="39859"/>
                </a:cubicBezTo>
                <a:cubicBezTo>
                  <a:pt x="363415" y="0"/>
                  <a:pt x="337624" y="25791"/>
                  <a:pt x="337624" y="25791"/>
                </a:cubicBezTo>
                <a:lnTo>
                  <a:pt x="337624" y="25791"/>
                </a:lnTo>
                <a:lnTo>
                  <a:pt x="337624" y="25791"/>
                </a:lnTo>
                <a:lnTo>
                  <a:pt x="337624" y="25791"/>
                </a:lnTo>
              </a:path>
            </a:pathLst>
          </a:custGeom>
          <a:ln/>
        </p:spPr>
        <p:style>
          <a:lnRef idx="3">
            <a:schemeClr val="accent3"/>
          </a:lnRef>
          <a:fillRef idx="0">
            <a:schemeClr val="accent3"/>
          </a:fillRef>
          <a:effectRef idx="2">
            <a:schemeClr val="accent3"/>
          </a:effectRef>
          <a:fontRef idx="minor">
            <a:schemeClr val="tx1"/>
          </a:fontRef>
        </p:style>
        <p:txBody>
          <a:bodyPr rtlCol="0" anchor="ctr"/>
          <a:lstStyle/>
          <a:p>
            <a:pPr algn="ctr"/>
            <a:endParaRPr lang="en-US"/>
          </a:p>
        </p:txBody>
      </p:sp>
      <p:cxnSp>
        <p:nvCxnSpPr>
          <p:cNvPr id="38" name="Straight Connector 37"/>
          <p:cNvCxnSpPr/>
          <p:nvPr/>
        </p:nvCxnSpPr>
        <p:spPr>
          <a:xfrm rot="10800000" flipV="1">
            <a:off x="3962400" y="2895600"/>
            <a:ext cx="304800" cy="152400"/>
          </a:xfrm>
          <a:prstGeom prst="line">
            <a:avLst/>
          </a:prstGeom>
        </p:spPr>
        <p:style>
          <a:lnRef idx="2">
            <a:schemeClr val="accent2"/>
          </a:lnRef>
          <a:fillRef idx="0">
            <a:schemeClr val="accent2"/>
          </a:fillRef>
          <a:effectRef idx="1">
            <a:schemeClr val="accent2"/>
          </a:effectRef>
          <a:fontRef idx="minor">
            <a:schemeClr val="tx1"/>
          </a:fontRef>
        </p:style>
      </p:cxnSp>
      <p:cxnSp>
        <p:nvCxnSpPr>
          <p:cNvPr id="40" name="Straight Connector 39"/>
          <p:cNvCxnSpPr/>
          <p:nvPr/>
        </p:nvCxnSpPr>
        <p:spPr>
          <a:xfrm>
            <a:off x="3962400" y="2895600"/>
            <a:ext cx="304800" cy="228600"/>
          </a:xfrm>
          <a:prstGeom prst="line">
            <a:avLst/>
          </a:prstGeom>
        </p:spPr>
        <p:style>
          <a:lnRef idx="2">
            <a:schemeClr val="accent2"/>
          </a:lnRef>
          <a:fillRef idx="0">
            <a:schemeClr val="accent2"/>
          </a:fillRef>
          <a:effectRef idx="1">
            <a:schemeClr val="accent2"/>
          </a:effectRef>
          <a:fontRef idx="minor">
            <a:schemeClr val="tx1"/>
          </a:fontRef>
        </p:style>
      </p:cxnSp>
      <p:cxnSp>
        <p:nvCxnSpPr>
          <p:cNvPr id="41" name="Straight Connector 40"/>
          <p:cNvCxnSpPr/>
          <p:nvPr/>
        </p:nvCxnSpPr>
        <p:spPr>
          <a:xfrm rot="10800000" flipV="1">
            <a:off x="5105400" y="3276600"/>
            <a:ext cx="304800" cy="152400"/>
          </a:xfrm>
          <a:prstGeom prst="line">
            <a:avLst/>
          </a:prstGeom>
        </p:spPr>
        <p:style>
          <a:lnRef idx="2">
            <a:schemeClr val="accent2"/>
          </a:lnRef>
          <a:fillRef idx="0">
            <a:schemeClr val="accent2"/>
          </a:fillRef>
          <a:effectRef idx="1">
            <a:schemeClr val="accent2"/>
          </a:effectRef>
          <a:fontRef idx="minor">
            <a:schemeClr val="tx1"/>
          </a:fontRef>
        </p:style>
      </p:cxnSp>
      <p:cxnSp>
        <p:nvCxnSpPr>
          <p:cNvPr id="42" name="Straight Connector 41"/>
          <p:cNvCxnSpPr/>
          <p:nvPr/>
        </p:nvCxnSpPr>
        <p:spPr>
          <a:xfrm>
            <a:off x="5105400" y="3276600"/>
            <a:ext cx="304800" cy="228600"/>
          </a:xfrm>
          <a:prstGeom prst="line">
            <a:avLst/>
          </a:prstGeom>
        </p:spPr>
        <p:style>
          <a:lnRef idx="2">
            <a:schemeClr val="accent2"/>
          </a:lnRef>
          <a:fillRef idx="0">
            <a:schemeClr val="accent2"/>
          </a:fillRef>
          <a:effectRef idx="1">
            <a:schemeClr val="accent2"/>
          </a:effectRef>
          <a:fontRef idx="minor">
            <a:schemeClr val="tx1"/>
          </a:fontRef>
        </p:style>
      </p:cxnSp>
      <p:cxnSp>
        <p:nvCxnSpPr>
          <p:cNvPr id="43" name="Straight Connector 42"/>
          <p:cNvCxnSpPr/>
          <p:nvPr/>
        </p:nvCxnSpPr>
        <p:spPr>
          <a:xfrm rot="10800000" flipV="1">
            <a:off x="8001000" y="609600"/>
            <a:ext cx="304800" cy="152400"/>
          </a:xfrm>
          <a:prstGeom prst="line">
            <a:avLst/>
          </a:prstGeom>
        </p:spPr>
        <p:style>
          <a:lnRef idx="2">
            <a:schemeClr val="accent2"/>
          </a:lnRef>
          <a:fillRef idx="0">
            <a:schemeClr val="accent2"/>
          </a:fillRef>
          <a:effectRef idx="1">
            <a:schemeClr val="accent2"/>
          </a:effectRef>
          <a:fontRef idx="minor">
            <a:schemeClr val="tx1"/>
          </a:fontRef>
        </p:style>
      </p:cxnSp>
      <p:cxnSp>
        <p:nvCxnSpPr>
          <p:cNvPr id="44" name="Straight Connector 43"/>
          <p:cNvCxnSpPr/>
          <p:nvPr/>
        </p:nvCxnSpPr>
        <p:spPr>
          <a:xfrm>
            <a:off x="8001000" y="609600"/>
            <a:ext cx="304800" cy="228600"/>
          </a:xfrm>
          <a:prstGeom prst="line">
            <a:avLst/>
          </a:prstGeom>
        </p:spPr>
        <p:style>
          <a:lnRef idx="2">
            <a:schemeClr val="accent2"/>
          </a:lnRef>
          <a:fillRef idx="0">
            <a:schemeClr val="accent2"/>
          </a:fillRef>
          <a:effectRef idx="1">
            <a:schemeClr val="accent2"/>
          </a:effectRef>
          <a:fontRef idx="minor">
            <a:schemeClr val="tx1"/>
          </a:fontRef>
        </p:style>
      </p:cxnSp>
      <p:cxnSp>
        <p:nvCxnSpPr>
          <p:cNvPr id="45" name="Straight Connector 44"/>
          <p:cNvCxnSpPr/>
          <p:nvPr/>
        </p:nvCxnSpPr>
        <p:spPr>
          <a:xfrm rot="10800000" flipV="1">
            <a:off x="7543800" y="2895600"/>
            <a:ext cx="304800" cy="152400"/>
          </a:xfrm>
          <a:prstGeom prst="line">
            <a:avLst/>
          </a:prstGeom>
        </p:spPr>
        <p:style>
          <a:lnRef idx="2">
            <a:schemeClr val="accent2"/>
          </a:lnRef>
          <a:fillRef idx="0">
            <a:schemeClr val="accent2"/>
          </a:fillRef>
          <a:effectRef idx="1">
            <a:schemeClr val="accent2"/>
          </a:effectRef>
          <a:fontRef idx="minor">
            <a:schemeClr val="tx1"/>
          </a:fontRef>
        </p:style>
      </p:cxnSp>
      <p:cxnSp>
        <p:nvCxnSpPr>
          <p:cNvPr id="46" name="Straight Connector 45"/>
          <p:cNvCxnSpPr/>
          <p:nvPr/>
        </p:nvCxnSpPr>
        <p:spPr>
          <a:xfrm>
            <a:off x="7543800" y="2895600"/>
            <a:ext cx="304800" cy="228600"/>
          </a:xfrm>
          <a:prstGeom prst="line">
            <a:avLst/>
          </a:prstGeom>
        </p:spPr>
        <p:style>
          <a:lnRef idx="2">
            <a:schemeClr val="accent2"/>
          </a:lnRef>
          <a:fillRef idx="0">
            <a:schemeClr val="accent2"/>
          </a:fillRef>
          <a:effectRef idx="1">
            <a:schemeClr val="accent2"/>
          </a:effectRef>
          <a:fontRef idx="minor">
            <a:schemeClr val="tx1"/>
          </a:fontRef>
        </p:style>
      </p:cxnSp>
      <p:cxnSp>
        <p:nvCxnSpPr>
          <p:cNvPr id="47" name="Straight Connector 46"/>
          <p:cNvCxnSpPr/>
          <p:nvPr/>
        </p:nvCxnSpPr>
        <p:spPr>
          <a:xfrm rot="10800000" flipV="1">
            <a:off x="5029200" y="2895600"/>
            <a:ext cx="304800" cy="152400"/>
          </a:xfrm>
          <a:prstGeom prst="line">
            <a:avLst/>
          </a:prstGeom>
        </p:spPr>
        <p:style>
          <a:lnRef idx="2">
            <a:schemeClr val="accent2"/>
          </a:lnRef>
          <a:fillRef idx="0">
            <a:schemeClr val="accent2"/>
          </a:fillRef>
          <a:effectRef idx="1">
            <a:schemeClr val="accent2"/>
          </a:effectRef>
          <a:fontRef idx="minor">
            <a:schemeClr val="tx1"/>
          </a:fontRef>
        </p:style>
      </p:cxnSp>
      <p:cxnSp>
        <p:nvCxnSpPr>
          <p:cNvPr id="48" name="Straight Connector 47"/>
          <p:cNvCxnSpPr/>
          <p:nvPr/>
        </p:nvCxnSpPr>
        <p:spPr>
          <a:xfrm>
            <a:off x="5029200" y="2895600"/>
            <a:ext cx="304800" cy="228600"/>
          </a:xfrm>
          <a:prstGeom prst="line">
            <a:avLst/>
          </a:prstGeom>
        </p:spPr>
        <p:style>
          <a:lnRef idx="2">
            <a:schemeClr val="accent2"/>
          </a:lnRef>
          <a:fillRef idx="0">
            <a:schemeClr val="accent2"/>
          </a:fillRef>
          <a:effectRef idx="1">
            <a:schemeClr val="accent2"/>
          </a:effectRef>
          <a:fontRef idx="minor">
            <a:schemeClr val="tx1"/>
          </a:fontRef>
        </p:style>
      </p:cxnSp>
      <p:cxnSp>
        <p:nvCxnSpPr>
          <p:cNvPr id="49" name="Straight Connector 48"/>
          <p:cNvCxnSpPr/>
          <p:nvPr/>
        </p:nvCxnSpPr>
        <p:spPr>
          <a:xfrm rot="10800000" flipV="1">
            <a:off x="7543800" y="4191000"/>
            <a:ext cx="304800" cy="152400"/>
          </a:xfrm>
          <a:prstGeom prst="line">
            <a:avLst/>
          </a:prstGeom>
        </p:spPr>
        <p:style>
          <a:lnRef idx="2">
            <a:schemeClr val="accent2"/>
          </a:lnRef>
          <a:fillRef idx="0">
            <a:schemeClr val="accent2"/>
          </a:fillRef>
          <a:effectRef idx="1">
            <a:schemeClr val="accent2"/>
          </a:effectRef>
          <a:fontRef idx="minor">
            <a:schemeClr val="tx1"/>
          </a:fontRef>
        </p:style>
      </p:cxnSp>
      <p:cxnSp>
        <p:nvCxnSpPr>
          <p:cNvPr id="50" name="Straight Connector 49"/>
          <p:cNvCxnSpPr/>
          <p:nvPr/>
        </p:nvCxnSpPr>
        <p:spPr>
          <a:xfrm>
            <a:off x="7543800" y="4191000"/>
            <a:ext cx="304800" cy="228600"/>
          </a:xfrm>
          <a:prstGeom prst="line">
            <a:avLst/>
          </a:prstGeom>
        </p:spPr>
        <p:style>
          <a:lnRef idx="2">
            <a:schemeClr val="accent2"/>
          </a:lnRef>
          <a:fillRef idx="0">
            <a:schemeClr val="accent2"/>
          </a:fillRef>
          <a:effectRef idx="1">
            <a:schemeClr val="accent2"/>
          </a:effectRef>
          <a:fontRef idx="minor">
            <a:schemeClr val="tx1"/>
          </a:fontRef>
        </p:style>
      </p:cxnSp>
      <p:cxnSp>
        <p:nvCxnSpPr>
          <p:cNvPr id="51" name="Straight Connector 50"/>
          <p:cNvCxnSpPr/>
          <p:nvPr/>
        </p:nvCxnSpPr>
        <p:spPr>
          <a:xfrm rot="10800000" flipV="1">
            <a:off x="7543800" y="3657600"/>
            <a:ext cx="304800" cy="152400"/>
          </a:xfrm>
          <a:prstGeom prst="line">
            <a:avLst/>
          </a:prstGeom>
        </p:spPr>
        <p:style>
          <a:lnRef idx="2">
            <a:schemeClr val="accent2"/>
          </a:lnRef>
          <a:fillRef idx="0">
            <a:schemeClr val="accent2"/>
          </a:fillRef>
          <a:effectRef idx="1">
            <a:schemeClr val="accent2"/>
          </a:effectRef>
          <a:fontRef idx="minor">
            <a:schemeClr val="tx1"/>
          </a:fontRef>
        </p:style>
      </p:cxnSp>
      <p:cxnSp>
        <p:nvCxnSpPr>
          <p:cNvPr id="52" name="Straight Connector 51"/>
          <p:cNvCxnSpPr/>
          <p:nvPr/>
        </p:nvCxnSpPr>
        <p:spPr>
          <a:xfrm>
            <a:off x="7543800" y="3657600"/>
            <a:ext cx="304800" cy="228600"/>
          </a:xfrm>
          <a:prstGeom prst="line">
            <a:avLst/>
          </a:prstGeom>
        </p:spPr>
        <p:style>
          <a:lnRef idx="2">
            <a:schemeClr val="accent2"/>
          </a:lnRef>
          <a:fillRef idx="0">
            <a:schemeClr val="accent2"/>
          </a:fillRef>
          <a:effectRef idx="1">
            <a:schemeClr val="accent2"/>
          </a:effectRef>
          <a:fontRef idx="minor">
            <a:schemeClr val="tx1"/>
          </a:fontRef>
        </p:style>
      </p:cxnSp>
      <p:cxnSp>
        <p:nvCxnSpPr>
          <p:cNvPr id="53" name="Straight Connector 52"/>
          <p:cNvCxnSpPr/>
          <p:nvPr/>
        </p:nvCxnSpPr>
        <p:spPr>
          <a:xfrm rot="10800000" flipV="1">
            <a:off x="7543800" y="3276600"/>
            <a:ext cx="304800" cy="152400"/>
          </a:xfrm>
          <a:prstGeom prst="line">
            <a:avLst/>
          </a:prstGeom>
        </p:spPr>
        <p:style>
          <a:lnRef idx="2">
            <a:schemeClr val="accent2"/>
          </a:lnRef>
          <a:fillRef idx="0">
            <a:schemeClr val="accent2"/>
          </a:fillRef>
          <a:effectRef idx="1">
            <a:schemeClr val="accent2"/>
          </a:effectRef>
          <a:fontRef idx="minor">
            <a:schemeClr val="tx1"/>
          </a:fontRef>
        </p:style>
      </p:cxnSp>
      <p:cxnSp>
        <p:nvCxnSpPr>
          <p:cNvPr id="54" name="Straight Connector 53"/>
          <p:cNvCxnSpPr/>
          <p:nvPr/>
        </p:nvCxnSpPr>
        <p:spPr>
          <a:xfrm>
            <a:off x="7543800" y="3276600"/>
            <a:ext cx="304800" cy="228600"/>
          </a:xfrm>
          <a:prstGeom prst="line">
            <a:avLst/>
          </a:prstGeom>
        </p:spPr>
        <p:style>
          <a:lnRef idx="2">
            <a:schemeClr val="accent2"/>
          </a:lnRef>
          <a:fillRef idx="0">
            <a:schemeClr val="accent2"/>
          </a:fillRef>
          <a:effectRef idx="1">
            <a:schemeClr val="accent2"/>
          </a:effectRef>
          <a:fontRef idx="minor">
            <a:schemeClr val="tx1"/>
          </a:fontRef>
        </p:style>
      </p:cxnSp>
      <p:cxnSp>
        <p:nvCxnSpPr>
          <p:cNvPr id="55" name="Straight Connector 54"/>
          <p:cNvCxnSpPr/>
          <p:nvPr/>
        </p:nvCxnSpPr>
        <p:spPr>
          <a:xfrm rot="10800000" flipV="1">
            <a:off x="6400800" y="3657600"/>
            <a:ext cx="304800" cy="152400"/>
          </a:xfrm>
          <a:prstGeom prst="line">
            <a:avLst/>
          </a:prstGeom>
        </p:spPr>
        <p:style>
          <a:lnRef idx="2">
            <a:schemeClr val="accent2"/>
          </a:lnRef>
          <a:fillRef idx="0">
            <a:schemeClr val="accent2"/>
          </a:fillRef>
          <a:effectRef idx="1">
            <a:schemeClr val="accent2"/>
          </a:effectRef>
          <a:fontRef idx="minor">
            <a:schemeClr val="tx1"/>
          </a:fontRef>
        </p:style>
      </p:cxnSp>
      <p:cxnSp>
        <p:nvCxnSpPr>
          <p:cNvPr id="56" name="Straight Connector 55"/>
          <p:cNvCxnSpPr/>
          <p:nvPr/>
        </p:nvCxnSpPr>
        <p:spPr>
          <a:xfrm>
            <a:off x="6400800" y="3657600"/>
            <a:ext cx="304800" cy="228600"/>
          </a:xfrm>
          <a:prstGeom prst="line">
            <a:avLst/>
          </a:prstGeom>
        </p:spPr>
        <p:style>
          <a:lnRef idx="2">
            <a:schemeClr val="accent2"/>
          </a:lnRef>
          <a:fillRef idx="0">
            <a:schemeClr val="accent2"/>
          </a:fillRef>
          <a:effectRef idx="1">
            <a:schemeClr val="accent2"/>
          </a:effectRef>
          <a:fontRef idx="minor">
            <a:schemeClr val="tx1"/>
          </a:fontRef>
        </p:style>
      </p:cxnSp>
      <p:sp>
        <p:nvSpPr>
          <p:cNvPr id="57" name="Freeform 56"/>
          <p:cNvSpPr/>
          <p:nvPr/>
        </p:nvSpPr>
        <p:spPr>
          <a:xfrm>
            <a:off x="4800600" y="914400"/>
            <a:ext cx="309489" cy="267286"/>
          </a:xfrm>
          <a:custGeom>
            <a:avLst/>
            <a:gdLst>
              <a:gd name="connsiteX0" fmla="*/ 0 w 363415"/>
              <a:gd name="connsiteY0" fmla="*/ 124265 h 304800"/>
              <a:gd name="connsiteX1" fmla="*/ 182880 w 363415"/>
              <a:gd name="connsiteY1" fmla="*/ 279009 h 304800"/>
              <a:gd name="connsiteX2" fmla="*/ 182880 w 363415"/>
              <a:gd name="connsiteY2" fmla="*/ 264942 h 304800"/>
              <a:gd name="connsiteX3" fmla="*/ 337624 w 363415"/>
              <a:gd name="connsiteY3" fmla="*/ 39859 h 304800"/>
              <a:gd name="connsiteX4" fmla="*/ 337624 w 363415"/>
              <a:gd name="connsiteY4" fmla="*/ 25791 h 304800"/>
              <a:gd name="connsiteX5" fmla="*/ 337624 w 363415"/>
              <a:gd name="connsiteY5" fmla="*/ 25791 h 304800"/>
              <a:gd name="connsiteX6" fmla="*/ 337624 w 363415"/>
              <a:gd name="connsiteY6" fmla="*/ 25791 h 304800"/>
              <a:gd name="connsiteX7" fmla="*/ 337624 w 363415"/>
              <a:gd name="connsiteY7" fmla="*/ 25791 h 304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63415" h="304800">
                <a:moveTo>
                  <a:pt x="0" y="124265"/>
                </a:moveTo>
                <a:cubicBezTo>
                  <a:pt x="60960" y="175846"/>
                  <a:pt x="152400" y="255563"/>
                  <a:pt x="182880" y="279009"/>
                </a:cubicBezTo>
                <a:cubicBezTo>
                  <a:pt x="213360" y="302455"/>
                  <a:pt x="157089" y="304800"/>
                  <a:pt x="182880" y="264942"/>
                </a:cubicBezTo>
                <a:cubicBezTo>
                  <a:pt x="208671" y="225084"/>
                  <a:pt x="311833" y="79718"/>
                  <a:pt x="337624" y="39859"/>
                </a:cubicBezTo>
                <a:cubicBezTo>
                  <a:pt x="363415" y="0"/>
                  <a:pt x="337624" y="25791"/>
                  <a:pt x="337624" y="25791"/>
                </a:cubicBezTo>
                <a:lnTo>
                  <a:pt x="337624" y="25791"/>
                </a:lnTo>
                <a:lnTo>
                  <a:pt x="337624" y="25791"/>
                </a:lnTo>
                <a:lnTo>
                  <a:pt x="337624" y="25791"/>
                </a:lnTo>
              </a:path>
            </a:pathLst>
          </a:custGeom>
          <a:ln/>
        </p:spPr>
        <p:style>
          <a:lnRef idx="3">
            <a:schemeClr val="accent3"/>
          </a:lnRef>
          <a:fillRef idx="0">
            <a:schemeClr val="accent3"/>
          </a:fillRef>
          <a:effectRef idx="2">
            <a:schemeClr val="accent3"/>
          </a:effectRef>
          <a:fontRef idx="minor">
            <a:schemeClr val="tx1"/>
          </a:fontRef>
        </p:style>
        <p:txBody>
          <a:bodyPr rtlCol="0" anchor="ctr"/>
          <a:lstStyle/>
          <a:p>
            <a:pPr algn="ctr"/>
            <a:endParaRPr lang="en-US"/>
          </a:p>
        </p:txBody>
      </p:sp>
      <p:cxnSp>
        <p:nvCxnSpPr>
          <p:cNvPr id="58" name="Straight Connector 57">
            <a:extLst>
              <a:ext uri="{FF2B5EF4-FFF2-40B4-BE49-F238E27FC236}">
                <a16:creationId xmlns:a16="http://schemas.microsoft.com/office/drawing/2014/main" id="{93307ACC-D23C-446A-8B32-8AFF99AB9914}"/>
              </a:ext>
            </a:extLst>
          </p:cNvPr>
          <p:cNvCxnSpPr/>
          <p:nvPr/>
        </p:nvCxnSpPr>
        <p:spPr>
          <a:xfrm>
            <a:off x="6435969" y="2857500"/>
            <a:ext cx="304800" cy="228600"/>
          </a:xfrm>
          <a:prstGeom prst="line">
            <a:avLst/>
          </a:prstGeom>
        </p:spPr>
        <p:style>
          <a:lnRef idx="2">
            <a:schemeClr val="accent2"/>
          </a:lnRef>
          <a:fillRef idx="0">
            <a:schemeClr val="accent2"/>
          </a:fillRef>
          <a:effectRef idx="1">
            <a:schemeClr val="accent2"/>
          </a:effectRef>
          <a:fontRef idx="minor">
            <a:schemeClr val="tx1"/>
          </a:fontRef>
        </p:style>
      </p:cxnSp>
      <p:cxnSp>
        <p:nvCxnSpPr>
          <p:cNvPr id="59" name="Straight Connector 58">
            <a:extLst>
              <a:ext uri="{FF2B5EF4-FFF2-40B4-BE49-F238E27FC236}">
                <a16:creationId xmlns:a16="http://schemas.microsoft.com/office/drawing/2014/main" id="{E2813E7D-8C78-44C7-9367-8CFEE572E234}"/>
              </a:ext>
            </a:extLst>
          </p:cNvPr>
          <p:cNvCxnSpPr/>
          <p:nvPr/>
        </p:nvCxnSpPr>
        <p:spPr>
          <a:xfrm rot="10800000" flipV="1">
            <a:off x="6477000" y="2879701"/>
            <a:ext cx="304800" cy="152400"/>
          </a:xfrm>
          <a:prstGeom prst="line">
            <a:avLst/>
          </a:prstGeom>
        </p:spPr>
        <p:style>
          <a:lnRef idx="2">
            <a:schemeClr val="accent2"/>
          </a:lnRef>
          <a:fillRef idx="0">
            <a:schemeClr val="accent2"/>
          </a:fillRef>
          <a:effectRef idx="1">
            <a:schemeClr val="accent2"/>
          </a:effectRef>
          <a:fontRef idx="minor">
            <a:schemeClr val="tx1"/>
          </a:fontRef>
        </p:style>
      </p:cxn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3562"/>
          </a:xfrm>
        </p:spPr>
        <p:txBody>
          <a:bodyPr>
            <a:normAutofit fontScale="90000"/>
          </a:bodyPr>
          <a:lstStyle/>
          <a:p>
            <a:r>
              <a:rPr lang="en-US" dirty="0"/>
              <a:t>Implementing Multi level Inheritance</a:t>
            </a:r>
          </a:p>
        </p:txBody>
      </p:sp>
      <p:sp>
        <p:nvSpPr>
          <p:cNvPr id="3" name="Content Placeholder 2"/>
          <p:cNvSpPr>
            <a:spLocks noGrp="1"/>
          </p:cNvSpPr>
          <p:nvPr>
            <p:ph idx="1"/>
          </p:nvPr>
        </p:nvSpPr>
        <p:spPr>
          <a:xfrm>
            <a:off x="457200" y="838200"/>
            <a:ext cx="8229600" cy="5287963"/>
          </a:xfrm>
        </p:spPr>
        <p:txBody>
          <a:bodyPr/>
          <a:lstStyle/>
          <a:p>
            <a:r>
              <a:rPr lang="en-US" dirty="0"/>
              <a:t>In single Inheritance we have derived a new class </a:t>
            </a:r>
            <a:r>
              <a:rPr lang="en-US" dirty="0" err="1"/>
              <a:t>ClsEmployee</a:t>
            </a:r>
            <a:r>
              <a:rPr lang="en-US" dirty="0"/>
              <a:t> from </a:t>
            </a:r>
            <a:r>
              <a:rPr lang="en-US" dirty="0" err="1"/>
              <a:t>ClsBranch</a:t>
            </a:r>
            <a:r>
              <a:rPr lang="en-US" dirty="0"/>
              <a:t> class.</a:t>
            </a:r>
          </a:p>
          <a:p>
            <a:r>
              <a:rPr lang="en-US" dirty="0"/>
              <a:t>Later during period of time, let us say company asked to computerize salary details of an employee. </a:t>
            </a:r>
            <a:r>
              <a:rPr lang="en-US" dirty="0" err="1"/>
              <a:t>Then,for</a:t>
            </a:r>
            <a:r>
              <a:rPr lang="en-US" dirty="0"/>
              <a:t> every salary details we need to have respective employee details and for every employee we need to have respective branch details.</a:t>
            </a:r>
          </a:p>
          <a:p>
            <a:r>
              <a:rPr lang="en-US" dirty="0"/>
              <a:t>Then we derive a new class say </a:t>
            </a:r>
            <a:r>
              <a:rPr lang="en-US" dirty="0" err="1"/>
              <a:t>ClsSalary</a:t>
            </a:r>
            <a:r>
              <a:rPr lang="en-US" dirty="0"/>
              <a:t> from the </a:t>
            </a:r>
            <a:r>
              <a:rPr lang="en-US" dirty="0" err="1"/>
              <a:t>ClsEmployee</a:t>
            </a:r>
            <a:r>
              <a:rPr lang="en-US" dirty="0"/>
              <a:t> class like.</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87362"/>
          </a:xfrm>
        </p:spPr>
        <p:txBody>
          <a:bodyPr>
            <a:normAutofit fontScale="90000"/>
          </a:bodyPr>
          <a:lstStyle/>
          <a:p>
            <a:r>
              <a:rPr lang="en-US" dirty="0"/>
              <a:t>Multi </a:t>
            </a:r>
            <a:r>
              <a:rPr lang="en-US" dirty="0" err="1"/>
              <a:t>lelve</a:t>
            </a:r>
            <a:r>
              <a:rPr lang="en-US" dirty="0"/>
              <a:t> inheritance</a:t>
            </a:r>
          </a:p>
        </p:txBody>
      </p:sp>
      <p:sp>
        <p:nvSpPr>
          <p:cNvPr id="3" name="Content Placeholder 2"/>
          <p:cNvSpPr>
            <a:spLocks noGrp="1"/>
          </p:cNvSpPr>
          <p:nvPr>
            <p:ph idx="1"/>
          </p:nvPr>
        </p:nvSpPr>
        <p:spPr>
          <a:xfrm>
            <a:off x="457200" y="838200"/>
            <a:ext cx="8229600" cy="5287963"/>
          </a:xfrm>
        </p:spPr>
        <p:txBody>
          <a:bodyPr/>
          <a:lstStyle/>
          <a:p>
            <a:r>
              <a:rPr lang="en-US" dirty="0"/>
              <a:t>Create the classes according to the class </a:t>
            </a:r>
            <a:r>
              <a:rPr lang="en-US" dirty="0">
                <a:hlinkClick r:id="rId2" action="ppaction://hlinkfile"/>
              </a:rPr>
              <a:t>diagram</a:t>
            </a:r>
            <a:r>
              <a:rPr lang="en-US" dirty="0"/>
              <a:t>.</a:t>
            </a:r>
          </a:p>
        </p:txBody>
      </p:sp>
      <p:sp>
        <p:nvSpPr>
          <p:cNvPr id="4" name="Rectangle 3"/>
          <p:cNvSpPr/>
          <p:nvPr/>
        </p:nvSpPr>
        <p:spPr>
          <a:xfrm>
            <a:off x="5181600" y="1219200"/>
            <a:ext cx="2819400" cy="304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p:cNvSpPr/>
          <p:nvPr/>
        </p:nvSpPr>
        <p:spPr>
          <a:xfrm>
            <a:off x="5181600" y="1295400"/>
            <a:ext cx="2819400" cy="685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err="1"/>
              <a:t>ClsBranch</a:t>
            </a:r>
            <a:endParaRPr lang="en-US" dirty="0"/>
          </a:p>
        </p:txBody>
      </p:sp>
      <p:sp>
        <p:nvSpPr>
          <p:cNvPr id="6" name="Rectangle 5"/>
          <p:cNvSpPr/>
          <p:nvPr/>
        </p:nvSpPr>
        <p:spPr>
          <a:xfrm>
            <a:off x="5181600" y="1981200"/>
            <a:ext cx="2819400" cy="1143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err="1"/>
              <a:t>Int</a:t>
            </a:r>
            <a:r>
              <a:rPr lang="en-US" dirty="0"/>
              <a:t> </a:t>
            </a:r>
            <a:r>
              <a:rPr lang="en-US" dirty="0" err="1"/>
              <a:t>Bcode</a:t>
            </a:r>
            <a:endParaRPr lang="en-US" dirty="0"/>
          </a:p>
          <a:p>
            <a:r>
              <a:rPr lang="en-US" dirty="0"/>
              <a:t>String </a:t>
            </a:r>
            <a:r>
              <a:rPr lang="en-US" dirty="0" err="1"/>
              <a:t>Baddress</a:t>
            </a:r>
            <a:endParaRPr lang="en-US" dirty="0"/>
          </a:p>
          <a:p>
            <a:r>
              <a:rPr lang="en-US" dirty="0"/>
              <a:t>String </a:t>
            </a:r>
            <a:r>
              <a:rPr lang="en-US" dirty="0" err="1"/>
              <a:t>BName</a:t>
            </a:r>
            <a:endParaRPr lang="en-US" dirty="0"/>
          </a:p>
        </p:txBody>
      </p:sp>
      <p:sp>
        <p:nvSpPr>
          <p:cNvPr id="7" name="Rectangle 6"/>
          <p:cNvSpPr/>
          <p:nvPr/>
        </p:nvSpPr>
        <p:spPr>
          <a:xfrm>
            <a:off x="5181600" y="3124200"/>
            <a:ext cx="2819400" cy="1143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t>Public  Void </a:t>
            </a:r>
            <a:r>
              <a:rPr lang="en-US" dirty="0" err="1"/>
              <a:t>GetBData</a:t>
            </a:r>
            <a:r>
              <a:rPr lang="en-US" dirty="0"/>
              <a:t>()</a:t>
            </a:r>
          </a:p>
          <a:p>
            <a:r>
              <a:rPr lang="en-US" dirty="0"/>
              <a:t>Public void </a:t>
            </a:r>
            <a:r>
              <a:rPr lang="en-US" dirty="0" err="1"/>
              <a:t>DisplayData</a:t>
            </a:r>
            <a:r>
              <a:rPr lang="en-US" dirty="0"/>
              <a:t>()</a:t>
            </a:r>
          </a:p>
        </p:txBody>
      </p:sp>
      <p:sp>
        <p:nvSpPr>
          <p:cNvPr id="12" name="Rectangle 11"/>
          <p:cNvSpPr/>
          <p:nvPr/>
        </p:nvSpPr>
        <p:spPr>
          <a:xfrm>
            <a:off x="5105400" y="4495800"/>
            <a:ext cx="2895600" cy="304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err="1"/>
              <a:t>ClsEmployee</a:t>
            </a:r>
            <a:endParaRPr lang="en-US" dirty="0"/>
          </a:p>
        </p:txBody>
      </p:sp>
      <p:sp>
        <p:nvSpPr>
          <p:cNvPr id="13" name="Rectangle 12"/>
          <p:cNvSpPr/>
          <p:nvPr/>
        </p:nvSpPr>
        <p:spPr>
          <a:xfrm>
            <a:off x="5105400" y="4800600"/>
            <a:ext cx="2895600" cy="990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err="1"/>
              <a:t>Int</a:t>
            </a:r>
            <a:r>
              <a:rPr lang="en-US" dirty="0"/>
              <a:t> </a:t>
            </a:r>
            <a:r>
              <a:rPr lang="en-US" dirty="0" err="1"/>
              <a:t>EmpId</a:t>
            </a:r>
            <a:endParaRPr lang="en-US" dirty="0"/>
          </a:p>
          <a:p>
            <a:r>
              <a:rPr lang="en-US" dirty="0" err="1"/>
              <a:t>stringEName</a:t>
            </a:r>
            <a:endParaRPr lang="en-US" dirty="0"/>
          </a:p>
          <a:p>
            <a:r>
              <a:rPr lang="en-US" dirty="0"/>
              <a:t>String </a:t>
            </a:r>
            <a:r>
              <a:rPr lang="en-US" dirty="0" err="1"/>
              <a:t>Eaddress</a:t>
            </a:r>
            <a:endParaRPr lang="en-US" dirty="0"/>
          </a:p>
          <a:p>
            <a:r>
              <a:rPr lang="en-US" dirty="0" err="1"/>
              <a:t>Int</a:t>
            </a:r>
            <a:r>
              <a:rPr lang="en-US" dirty="0"/>
              <a:t> </a:t>
            </a:r>
            <a:r>
              <a:rPr lang="en-US" dirty="0" err="1"/>
              <a:t>EAge</a:t>
            </a:r>
            <a:endParaRPr lang="en-US" dirty="0"/>
          </a:p>
        </p:txBody>
      </p:sp>
      <p:sp>
        <p:nvSpPr>
          <p:cNvPr id="14" name="Rectangle 13"/>
          <p:cNvSpPr/>
          <p:nvPr/>
        </p:nvSpPr>
        <p:spPr>
          <a:xfrm>
            <a:off x="5105400" y="5791200"/>
            <a:ext cx="28956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t>Public void </a:t>
            </a:r>
            <a:r>
              <a:rPr lang="en-US" dirty="0" err="1"/>
              <a:t>GetEmpData</a:t>
            </a:r>
            <a:r>
              <a:rPr lang="en-US" dirty="0"/>
              <a:t>()</a:t>
            </a:r>
          </a:p>
          <a:p>
            <a:r>
              <a:rPr lang="en-US" dirty="0"/>
              <a:t>Public void </a:t>
            </a:r>
            <a:r>
              <a:rPr lang="en-US" dirty="0" err="1"/>
              <a:t>DisplayEmpdata</a:t>
            </a:r>
            <a:r>
              <a:rPr lang="en-US" dirty="0"/>
              <a:t>()</a:t>
            </a:r>
          </a:p>
        </p:txBody>
      </p:sp>
      <p:sp>
        <p:nvSpPr>
          <p:cNvPr id="15" name="Rectangle 14"/>
          <p:cNvSpPr/>
          <p:nvPr/>
        </p:nvSpPr>
        <p:spPr>
          <a:xfrm>
            <a:off x="1219200" y="4267200"/>
            <a:ext cx="2895600" cy="304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err="1"/>
              <a:t>ClsSalary</a:t>
            </a:r>
            <a:endParaRPr lang="en-US" dirty="0"/>
          </a:p>
        </p:txBody>
      </p:sp>
      <p:sp>
        <p:nvSpPr>
          <p:cNvPr id="16" name="Rectangle 15"/>
          <p:cNvSpPr/>
          <p:nvPr/>
        </p:nvSpPr>
        <p:spPr>
          <a:xfrm>
            <a:off x="1219200" y="4572000"/>
            <a:ext cx="2895600" cy="838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t>Double Basic</a:t>
            </a:r>
          </a:p>
          <a:p>
            <a:r>
              <a:rPr lang="en-US" dirty="0"/>
              <a:t>Double </a:t>
            </a:r>
            <a:r>
              <a:rPr lang="en-US" dirty="0" err="1"/>
              <a:t>HRA,DA,GRoss</a:t>
            </a:r>
            <a:endParaRPr lang="en-US" dirty="0"/>
          </a:p>
          <a:p>
            <a:r>
              <a:rPr lang="en-US" dirty="0"/>
              <a:t>String </a:t>
            </a:r>
            <a:r>
              <a:rPr lang="en-US" dirty="0" err="1"/>
              <a:t>Eaddress</a:t>
            </a:r>
            <a:endParaRPr lang="en-US" dirty="0"/>
          </a:p>
          <a:p>
            <a:endParaRPr lang="en-US" dirty="0"/>
          </a:p>
        </p:txBody>
      </p:sp>
      <p:sp>
        <p:nvSpPr>
          <p:cNvPr id="17" name="Rectangle 16"/>
          <p:cNvSpPr/>
          <p:nvPr/>
        </p:nvSpPr>
        <p:spPr>
          <a:xfrm>
            <a:off x="1219200" y="5410200"/>
            <a:ext cx="2895600" cy="762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t>Public void </a:t>
            </a:r>
            <a:r>
              <a:rPr lang="en-US" dirty="0" err="1"/>
              <a:t>GetSalData</a:t>
            </a:r>
            <a:r>
              <a:rPr lang="en-US" dirty="0"/>
              <a:t>()</a:t>
            </a:r>
          </a:p>
          <a:p>
            <a:r>
              <a:rPr lang="en-US" dirty="0"/>
              <a:t>Public void Calculate()</a:t>
            </a:r>
          </a:p>
          <a:p>
            <a:r>
              <a:rPr lang="en-US" dirty="0"/>
              <a:t>Public void </a:t>
            </a:r>
            <a:r>
              <a:rPr lang="en-US" dirty="0" err="1"/>
              <a:t>DisplaySaldata</a:t>
            </a:r>
            <a:r>
              <a:rPr lang="en-US" dirty="0"/>
              <a: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404</TotalTime>
  <Words>1217</Words>
  <Application>Microsoft Office PowerPoint</Application>
  <PresentationFormat>On-screen Show (4:3)</PresentationFormat>
  <Paragraphs>165</Paragraphs>
  <Slides>19</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Inheritance </vt:lpstr>
      <vt:lpstr>Inheritance </vt:lpstr>
      <vt:lpstr>Inheritance (cont..)</vt:lpstr>
      <vt:lpstr>Rules to adopted or consider incase of inheritance</vt:lpstr>
      <vt:lpstr>PowerPoint Presentation</vt:lpstr>
      <vt:lpstr>PowerPoint Presentation</vt:lpstr>
      <vt:lpstr>PowerPoint Presentation</vt:lpstr>
      <vt:lpstr>PowerPoint Presentation</vt:lpstr>
      <vt:lpstr>Situation where to implement inheritance</vt:lpstr>
      <vt:lpstr>PowerPoint Presentation</vt:lpstr>
      <vt:lpstr>PowerPoint Presentation</vt:lpstr>
      <vt:lpstr>PowerPoint Presentation</vt:lpstr>
      <vt:lpstr>PowerPoint Presentation</vt:lpstr>
      <vt:lpstr>PowerPoint Presentation</vt:lpstr>
      <vt:lpstr>Access Modifiers</vt:lpstr>
      <vt:lpstr>PowerPoint Presentation</vt:lpstr>
      <vt:lpstr>We can summaries all these in a table like given below, in his table      ‘            ’  represent not accessible and ‘        ’  represent accessible.</vt:lpstr>
      <vt:lpstr>Implementing Multi level Inheritance</vt:lpstr>
      <vt:lpstr>Multi lelve inheritance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Inheritance</dc:title>
  <dc:creator>krishna</dc:creator>
  <cp:lastModifiedBy>krishnakumari mallapa reddy</cp:lastModifiedBy>
  <cp:revision>45</cp:revision>
  <dcterms:created xsi:type="dcterms:W3CDTF">2011-11-07T01:23:57Z</dcterms:created>
  <dcterms:modified xsi:type="dcterms:W3CDTF">2019-01-11T15:53:11Z</dcterms:modified>
</cp:coreProperties>
</file>