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34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D467B4A-5081-45DB-930E-188B90925220}" type="datetimeFigureOut">
              <a:rPr lang="en-US" smtClean="0"/>
              <a:pPr/>
              <a:t>11/27/2018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23E84-5696-4314-97FF-837899A79FD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467B4A-5081-45DB-930E-188B90925220}" type="datetimeFigureOut">
              <a:rPr lang="en-US" smtClean="0"/>
              <a:pPr/>
              <a:t>11/27/2018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23E84-5696-4314-97FF-837899A79FD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467B4A-5081-45DB-930E-188B90925220}" type="datetimeFigureOut">
              <a:rPr lang="en-US" smtClean="0"/>
              <a:pPr/>
              <a:t>11/27/2018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23E84-5696-4314-97FF-837899A79FD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D467B4A-5081-45DB-930E-188B90925220}" type="datetimeFigureOut">
              <a:rPr lang="en-US" smtClean="0"/>
              <a:pPr/>
              <a:t>11/27/2018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523E84-5696-4314-97FF-837899A79FD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D467B4A-5081-45DB-930E-188B90925220}" type="datetimeFigureOut">
              <a:rPr lang="en-US" smtClean="0"/>
              <a:pPr/>
              <a:t>11/27/2018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523E84-5696-4314-97FF-837899A79FD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D467B4A-5081-45DB-930E-188B90925220}" type="datetimeFigureOut">
              <a:rPr lang="en-US" smtClean="0"/>
              <a:pPr/>
              <a:t>11/27/2018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523E84-5696-4314-97FF-837899A79FD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467B4A-5081-45DB-930E-188B90925220}" type="datetimeFigureOut">
              <a:rPr lang="en-US" smtClean="0"/>
              <a:pPr/>
              <a:t>11/27/2018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523E84-5696-4314-97FF-837899A79FD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467B4A-5081-45DB-930E-188B90925220}" type="datetimeFigureOut">
              <a:rPr lang="en-US" smtClean="0"/>
              <a:pPr/>
              <a:t>11/27/2018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523E84-5696-4314-97FF-837899A79FD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467B4A-5081-45DB-930E-188B90925220}" type="datetimeFigureOut">
              <a:rPr lang="en-US" smtClean="0"/>
              <a:pPr/>
              <a:t>11/27/2018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523E84-5696-4314-97FF-837899A79FD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467B4A-5081-45DB-930E-188B90925220}" type="datetimeFigureOut">
              <a:rPr lang="en-US" smtClean="0"/>
              <a:pPr/>
              <a:t>11/27/2018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23E84-5696-4314-97FF-837899A79FD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467B4A-5081-45DB-930E-188B90925220}" type="datetimeFigureOut">
              <a:rPr lang="en-US" smtClean="0"/>
              <a:pPr/>
              <a:t>11/27/2018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23E84-5696-4314-97FF-837899A79FD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467B4A-5081-45DB-930E-188B90925220}" type="datetimeFigureOut">
              <a:rPr lang="en-US" smtClean="0"/>
              <a:pPr/>
              <a:t>11/27/2018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523E84-5696-4314-97FF-837899A79FD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classClsEmployeeS.docx"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ParticalEmp.docx" TargetMode="External"/><Relationship Id="rId2" Type="http://schemas.openxmlformats.org/officeDocument/2006/relationships/hyperlink" Target="Partialclass.docx"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classGenerics2.docx" TargetMode="External"/><Relationship Id="rId2" Type="http://schemas.openxmlformats.org/officeDocument/2006/relationships/hyperlink" Target="classClsgenerics.docx"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classClsException1.docx"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classClsException2.docx"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classClsException3.docx"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classClsException4.docx"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Sealed class and partial classes</a:t>
            </a:r>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Sealed class</a:t>
            </a:r>
          </a:p>
        </p:txBody>
      </p:sp>
      <p:sp>
        <p:nvSpPr>
          <p:cNvPr id="3" name="Content Placeholder 2"/>
          <p:cNvSpPr>
            <a:spLocks noGrp="1"/>
          </p:cNvSpPr>
          <p:nvPr>
            <p:ph idx="1"/>
          </p:nvPr>
        </p:nvSpPr>
        <p:spPr>
          <a:xfrm>
            <a:off x="457200" y="990600"/>
            <a:ext cx="8229600" cy="5135563"/>
          </a:xfrm>
        </p:spPr>
        <p:txBody>
          <a:bodyPr>
            <a:normAutofit/>
          </a:bodyPr>
          <a:lstStyle/>
          <a:p>
            <a:r>
              <a:rPr lang="en-US" dirty="0"/>
              <a:t>A class from which it is not possible to create /derive a new class is know as sealed class</a:t>
            </a:r>
          </a:p>
          <a:p>
            <a:r>
              <a:rPr lang="en-US" dirty="0"/>
              <a:t>To make any class as sealed we use sealed keyword.</a:t>
            </a:r>
          </a:p>
          <a:p>
            <a:r>
              <a:rPr lang="en-US" dirty="0"/>
              <a:t>A sealed class is completely opposite to an abstract class.</a:t>
            </a:r>
          </a:p>
          <a:p>
            <a:r>
              <a:rPr lang="en-US" dirty="0"/>
              <a:t>A sealed class can’t contain abstract functions.</a:t>
            </a:r>
          </a:p>
          <a:p>
            <a:r>
              <a:rPr lang="en-US" dirty="0"/>
              <a:t>A sealed class can’t contain virtual functions.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Sealed class (cont..)</a:t>
            </a:r>
          </a:p>
        </p:txBody>
      </p:sp>
      <p:sp>
        <p:nvSpPr>
          <p:cNvPr id="3" name="Content Placeholder 2"/>
          <p:cNvSpPr>
            <a:spLocks noGrp="1"/>
          </p:cNvSpPr>
          <p:nvPr>
            <p:ph idx="1"/>
          </p:nvPr>
        </p:nvSpPr>
        <p:spPr>
          <a:xfrm>
            <a:off x="457200" y="762000"/>
            <a:ext cx="8229600" cy="5364163"/>
          </a:xfrm>
        </p:spPr>
        <p:txBody>
          <a:bodyPr/>
          <a:lstStyle/>
          <a:p>
            <a:r>
              <a:rPr lang="en-US" dirty="0"/>
              <a:t>A sealed class should be the bottom most class with in the inheritance hierarchy.</a:t>
            </a:r>
          </a:p>
          <a:p>
            <a:r>
              <a:rPr lang="en-US" dirty="0"/>
              <a:t>A sealed class can never be used as a base class.</a:t>
            </a:r>
          </a:p>
          <a:p>
            <a:r>
              <a:rPr lang="en-US" dirty="0"/>
              <a:t>A sealed class is especially used to avoid further inheritance.</a:t>
            </a:r>
          </a:p>
          <a:p>
            <a:r>
              <a:rPr lang="en-US" dirty="0"/>
              <a:t>The sealed keyword can be used with classes, instance method and properties.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Sealed method </a:t>
            </a:r>
          </a:p>
        </p:txBody>
      </p:sp>
      <p:sp>
        <p:nvSpPr>
          <p:cNvPr id="3" name="Content Placeholder 2"/>
          <p:cNvSpPr>
            <a:spLocks noGrp="1"/>
          </p:cNvSpPr>
          <p:nvPr>
            <p:ph idx="1"/>
          </p:nvPr>
        </p:nvSpPr>
        <p:spPr>
          <a:xfrm>
            <a:off x="457200" y="838200"/>
            <a:ext cx="8229600" cy="5287963"/>
          </a:xfrm>
        </p:spPr>
        <p:txBody>
          <a:bodyPr/>
          <a:lstStyle/>
          <a:p>
            <a:r>
              <a:rPr lang="en-US" dirty="0"/>
              <a:t>A method which can’t be overridden under it’s child class is a sealed method. because overriding of a method is not possible unless it declare as virtual.</a:t>
            </a:r>
          </a:p>
          <a:p>
            <a:r>
              <a:rPr lang="en-US" dirty="0"/>
              <a:t>If at all a method declare as virtual under a class any of it child classes can override the method.</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20000"/>
          </a:bodyPr>
          <a:lstStyle/>
          <a:p>
            <a:pPr>
              <a:buNone/>
            </a:pPr>
            <a:r>
              <a:rPr lang="en-US" dirty="0"/>
              <a:t>Class 1</a:t>
            </a:r>
          </a:p>
          <a:p>
            <a:pPr>
              <a:buNone/>
            </a:pPr>
            <a:r>
              <a:rPr lang="en-US" dirty="0"/>
              <a:t>{</a:t>
            </a:r>
          </a:p>
          <a:p>
            <a:pPr>
              <a:buNone/>
            </a:pPr>
            <a:r>
              <a:rPr lang="en-US" dirty="0"/>
              <a:t>	public virtual void show();</a:t>
            </a:r>
          </a:p>
          <a:p>
            <a:pPr>
              <a:buNone/>
            </a:pPr>
            <a:r>
              <a:rPr lang="en-US" dirty="0"/>
              <a:t>}</a:t>
            </a:r>
          </a:p>
          <a:p>
            <a:pPr>
              <a:buNone/>
            </a:pPr>
            <a:r>
              <a:rPr lang="en-US" dirty="0"/>
              <a:t>Class2:class1</a:t>
            </a:r>
          </a:p>
          <a:p>
            <a:pPr>
              <a:buNone/>
            </a:pPr>
            <a:r>
              <a:rPr lang="en-US" dirty="0"/>
              <a:t>{</a:t>
            </a:r>
          </a:p>
          <a:p>
            <a:pPr>
              <a:buNone/>
            </a:pPr>
            <a:r>
              <a:rPr lang="en-US" dirty="0"/>
              <a:t>	public override void show();</a:t>
            </a:r>
          </a:p>
          <a:p>
            <a:pPr>
              <a:buNone/>
            </a:pPr>
            <a:r>
              <a:rPr lang="en-US" dirty="0"/>
              <a:t>}</a:t>
            </a:r>
          </a:p>
          <a:p>
            <a:pPr>
              <a:buNone/>
            </a:pPr>
            <a:r>
              <a:rPr lang="en-US" dirty="0"/>
              <a:t>Class3:class2</a:t>
            </a:r>
          </a:p>
          <a:p>
            <a:pPr>
              <a:buNone/>
            </a:pPr>
            <a:r>
              <a:rPr lang="en-US" dirty="0"/>
              <a:t>{</a:t>
            </a:r>
          </a:p>
          <a:p>
            <a:pPr>
              <a:buNone/>
            </a:pPr>
            <a:r>
              <a:rPr lang="en-US" dirty="0"/>
              <a:t>	public override void show();</a:t>
            </a:r>
          </a:p>
          <a:p>
            <a:pPr>
              <a:buNone/>
            </a:pPr>
            <a:r>
              <a:rPr lang="en-US"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If at all a child class want to restrict further overriding of it’s parents class method under it ‘s child class it can be done by applying sealed modifier an the method while overriding.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20000"/>
          </a:bodyPr>
          <a:lstStyle/>
          <a:p>
            <a:pPr>
              <a:buNone/>
            </a:pPr>
            <a:r>
              <a:rPr lang="en-US" dirty="0"/>
              <a:t>Class 1</a:t>
            </a:r>
          </a:p>
          <a:p>
            <a:pPr>
              <a:buNone/>
            </a:pPr>
            <a:r>
              <a:rPr lang="en-US" dirty="0"/>
              <a:t>{</a:t>
            </a:r>
          </a:p>
          <a:p>
            <a:pPr>
              <a:buNone/>
            </a:pPr>
            <a:r>
              <a:rPr lang="en-US" dirty="0"/>
              <a:t>	public virtual void show();</a:t>
            </a:r>
          </a:p>
          <a:p>
            <a:pPr>
              <a:buNone/>
            </a:pPr>
            <a:r>
              <a:rPr lang="en-US" dirty="0"/>
              <a:t>}</a:t>
            </a:r>
          </a:p>
          <a:p>
            <a:pPr>
              <a:buNone/>
            </a:pPr>
            <a:r>
              <a:rPr lang="en-US" dirty="0"/>
              <a:t>Class2:class1</a:t>
            </a:r>
          </a:p>
          <a:p>
            <a:pPr>
              <a:buNone/>
            </a:pPr>
            <a:r>
              <a:rPr lang="en-US" dirty="0"/>
              <a:t>{</a:t>
            </a:r>
          </a:p>
          <a:p>
            <a:pPr>
              <a:buNone/>
            </a:pPr>
            <a:r>
              <a:rPr lang="en-US" dirty="0"/>
              <a:t>	public sealed overriding void show();</a:t>
            </a:r>
          </a:p>
          <a:p>
            <a:pPr>
              <a:buNone/>
            </a:pPr>
            <a:r>
              <a:rPr lang="en-US" dirty="0"/>
              <a:t>}</a:t>
            </a:r>
          </a:p>
          <a:p>
            <a:pPr>
              <a:buNone/>
            </a:pPr>
            <a:r>
              <a:rPr lang="en-US" dirty="0"/>
              <a:t>Class3:class2</a:t>
            </a:r>
          </a:p>
          <a:p>
            <a:pPr>
              <a:buNone/>
            </a:pPr>
            <a:r>
              <a:rPr lang="en-US" dirty="0"/>
              <a:t>{</a:t>
            </a:r>
          </a:p>
          <a:p>
            <a:pPr>
              <a:buNone/>
            </a:pPr>
            <a:r>
              <a:rPr lang="en-US" dirty="0"/>
              <a:t>	public overriding void show();//</a:t>
            </a:r>
            <a:r>
              <a:rPr lang="en-US" dirty="0" err="1"/>
              <a:t>invalied</a:t>
            </a:r>
            <a:endParaRPr lang="en-US" dirty="0"/>
          </a:p>
          <a:p>
            <a:pPr>
              <a:buNone/>
            </a:pPr>
            <a:r>
              <a:rPr lang="en-US"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Class diagram</a:t>
            </a:r>
          </a:p>
        </p:txBody>
      </p:sp>
      <p:sp>
        <p:nvSpPr>
          <p:cNvPr id="3" name="Content Placeholder 2"/>
          <p:cNvSpPr>
            <a:spLocks noGrp="1"/>
          </p:cNvSpPr>
          <p:nvPr>
            <p:ph idx="1"/>
          </p:nvPr>
        </p:nvSpPr>
        <p:spPr>
          <a:xfrm>
            <a:off x="457200" y="762000"/>
            <a:ext cx="8229600" cy="5364163"/>
          </a:xfrm>
        </p:spPr>
        <p:txBody>
          <a:bodyPr/>
          <a:lstStyle/>
          <a:p>
            <a:r>
              <a:rPr lang="en-US" dirty="0">
                <a:hlinkClick r:id="rId2" action="ppaction://hlinkfile"/>
              </a:rPr>
              <a:t>ex</a:t>
            </a:r>
            <a:endParaRPr lang="en-US" dirty="0"/>
          </a:p>
        </p:txBody>
      </p:sp>
      <p:sp>
        <p:nvSpPr>
          <p:cNvPr id="4" name="Rectangle 3"/>
          <p:cNvSpPr/>
          <p:nvPr/>
        </p:nvSpPr>
        <p:spPr>
          <a:xfrm>
            <a:off x="4572000" y="914400"/>
            <a:ext cx="3581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ClsEmployee</a:t>
            </a:r>
            <a:endParaRPr lang="en-US" dirty="0"/>
          </a:p>
        </p:txBody>
      </p:sp>
      <p:sp>
        <p:nvSpPr>
          <p:cNvPr id="5" name="Rectangle 4"/>
          <p:cNvSpPr/>
          <p:nvPr/>
        </p:nvSpPr>
        <p:spPr>
          <a:xfrm>
            <a:off x="4572000" y="1295400"/>
            <a:ext cx="35814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Protected </a:t>
            </a:r>
            <a:r>
              <a:rPr lang="en-US" dirty="0" err="1"/>
              <a:t>int</a:t>
            </a:r>
            <a:r>
              <a:rPr lang="en-US" dirty="0"/>
              <a:t> </a:t>
            </a:r>
            <a:r>
              <a:rPr lang="en-US" dirty="0" err="1"/>
              <a:t>EmpId</a:t>
            </a:r>
            <a:endParaRPr lang="en-US" dirty="0"/>
          </a:p>
          <a:p>
            <a:r>
              <a:rPr lang="en-US" dirty="0"/>
              <a:t>Protected string </a:t>
            </a:r>
            <a:r>
              <a:rPr lang="en-US" dirty="0" err="1"/>
              <a:t>Ename</a:t>
            </a:r>
            <a:endParaRPr lang="en-US" dirty="0"/>
          </a:p>
          <a:p>
            <a:r>
              <a:rPr lang="en-US" dirty="0"/>
              <a:t>Protected string </a:t>
            </a:r>
            <a:r>
              <a:rPr lang="en-US" dirty="0" err="1"/>
              <a:t>Eaddress</a:t>
            </a:r>
            <a:endParaRPr lang="en-US" dirty="0"/>
          </a:p>
          <a:p>
            <a:r>
              <a:rPr lang="en-US" dirty="0"/>
              <a:t>Protected </a:t>
            </a:r>
            <a:r>
              <a:rPr lang="en-US" dirty="0" err="1"/>
              <a:t>int</a:t>
            </a:r>
            <a:r>
              <a:rPr lang="en-US" dirty="0"/>
              <a:t> </a:t>
            </a:r>
            <a:r>
              <a:rPr lang="en-US" dirty="0" err="1"/>
              <a:t>EAge</a:t>
            </a:r>
            <a:endParaRPr lang="en-US" dirty="0"/>
          </a:p>
        </p:txBody>
      </p:sp>
      <p:sp>
        <p:nvSpPr>
          <p:cNvPr id="6" name="Rectangle 5"/>
          <p:cNvSpPr/>
          <p:nvPr/>
        </p:nvSpPr>
        <p:spPr>
          <a:xfrm>
            <a:off x="4572000" y="2667000"/>
            <a:ext cx="35814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Public virtual void </a:t>
            </a:r>
            <a:r>
              <a:rPr lang="en-US" dirty="0" err="1"/>
              <a:t>GetEmpData</a:t>
            </a:r>
            <a:r>
              <a:rPr lang="en-US" dirty="0"/>
              <a:t>()</a:t>
            </a:r>
          </a:p>
          <a:p>
            <a:r>
              <a:rPr lang="en-US" dirty="0"/>
              <a:t>Public virtual void </a:t>
            </a:r>
            <a:r>
              <a:rPr lang="en-US" dirty="0" err="1"/>
              <a:t>DisplayEmpData</a:t>
            </a:r>
            <a:r>
              <a:rPr lang="en-US" dirty="0"/>
              <a:t>()</a:t>
            </a:r>
          </a:p>
        </p:txBody>
      </p:sp>
      <p:sp>
        <p:nvSpPr>
          <p:cNvPr id="7" name="Rectangle 6"/>
          <p:cNvSpPr/>
          <p:nvPr/>
        </p:nvSpPr>
        <p:spPr>
          <a:xfrm>
            <a:off x="4495800" y="4191000"/>
            <a:ext cx="3810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ClsManager</a:t>
            </a:r>
            <a:endParaRPr lang="en-US" dirty="0"/>
          </a:p>
        </p:txBody>
      </p:sp>
      <p:sp>
        <p:nvSpPr>
          <p:cNvPr id="8" name="Rectangle 7"/>
          <p:cNvSpPr/>
          <p:nvPr/>
        </p:nvSpPr>
        <p:spPr>
          <a:xfrm>
            <a:off x="4495800" y="4572000"/>
            <a:ext cx="3810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Double CA</a:t>
            </a:r>
          </a:p>
          <a:p>
            <a:r>
              <a:rPr lang="en-US" dirty="0"/>
              <a:t>Double Bonus</a:t>
            </a:r>
          </a:p>
        </p:txBody>
      </p:sp>
      <p:sp>
        <p:nvSpPr>
          <p:cNvPr id="9" name="Rectangle 8"/>
          <p:cNvSpPr/>
          <p:nvPr/>
        </p:nvSpPr>
        <p:spPr>
          <a:xfrm>
            <a:off x="4495800" y="5257800"/>
            <a:ext cx="3810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Public override void </a:t>
            </a:r>
            <a:r>
              <a:rPr lang="en-US" dirty="0" err="1"/>
              <a:t>GetEmpData</a:t>
            </a:r>
            <a:r>
              <a:rPr lang="en-US" dirty="0"/>
              <a:t>()</a:t>
            </a:r>
          </a:p>
          <a:p>
            <a:r>
              <a:rPr lang="en-US" dirty="0"/>
              <a:t>Public override  void </a:t>
            </a:r>
            <a:r>
              <a:rPr lang="en-US" dirty="0" err="1"/>
              <a:t>DisplayEmpData</a:t>
            </a:r>
            <a:r>
              <a:rPr lang="en-US" dirty="0"/>
              <a:t>()</a:t>
            </a:r>
          </a:p>
        </p:txBody>
      </p:sp>
      <p:cxnSp>
        <p:nvCxnSpPr>
          <p:cNvPr id="13" name="Straight Arrow Connector 12"/>
          <p:cNvCxnSpPr>
            <a:stCxn id="7" idx="0"/>
            <a:endCxn id="6" idx="2"/>
          </p:cNvCxnSpPr>
          <p:nvPr/>
        </p:nvCxnSpPr>
        <p:spPr>
          <a:xfrm rot="16200000" flipV="1">
            <a:off x="5962650" y="3752850"/>
            <a:ext cx="838200" cy="3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381000" y="86360"/>
          <a:ext cx="8229600" cy="6771640"/>
        </p:xfrm>
        <a:graphic>
          <a:graphicData uri="http://schemas.openxmlformats.org/drawingml/2006/table">
            <a:tbl>
              <a:tblPr firstRow="1" bandRow="1">
                <a:tableStyleId>{F5AB1C69-6EDB-4FF4-983F-18BD219EF322}</a:tableStyleId>
              </a:tblPr>
              <a:tblGrid>
                <a:gridCol w="11430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81400">
                  <a:extLst>
                    <a:ext uri="{9D8B030D-6E8A-4147-A177-3AD203B41FA5}">
                      <a16:colId xmlns:a16="http://schemas.microsoft.com/office/drawing/2014/main" val="20002"/>
                    </a:ext>
                  </a:extLst>
                </a:gridCol>
              </a:tblGrid>
              <a:tr h="370840">
                <a:tc>
                  <a:txBody>
                    <a:bodyPr/>
                    <a:lstStyle/>
                    <a:p>
                      <a:r>
                        <a:rPr lang="en-US" dirty="0" err="1"/>
                        <a:t>Sr</a:t>
                      </a:r>
                      <a:r>
                        <a:rPr lang="en-US" dirty="0"/>
                        <a:t> no</a:t>
                      </a:r>
                    </a:p>
                  </a:txBody>
                  <a:tcPr/>
                </a:tc>
                <a:tc>
                  <a:txBody>
                    <a:bodyPr/>
                    <a:lstStyle/>
                    <a:p>
                      <a:r>
                        <a:rPr lang="en-US" dirty="0"/>
                        <a:t>Abstract class</a:t>
                      </a:r>
                    </a:p>
                  </a:txBody>
                  <a:tcPr/>
                </a:tc>
                <a:tc>
                  <a:txBody>
                    <a:bodyPr/>
                    <a:lstStyle/>
                    <a:p>
                      <a:r>
                        <a:rPr lang="en-US" dirty="0"/>
                        <a:t>Sealed</a:t>
                      </a:r>
                      <a:r>
                        <a:rPr lang="en-US" baseline="0" dirty="0"/>
                        <a:t> class</a:t>
                      </a:r>
                      <a:endParaRPr lang="en-US" dirty="0"/>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A class which contain one or</a:t>
                      </a:r>
                      <a:r>
                        <a:rPr lang="en-US" baseline="0" dirty="0"/>
                        <a:t> more abstract function is know as an abstract class</a:t>
                      </a:r>
                      <a:endParaRPr lang="en-US" dirty="0"/>
                    </a:p>
                  </a:txBody>
                  <a:tcPr/>
                </a:tc>
                <a:tc>
                  <a:txBody>
                    <a:bodyPr/>
                    <a:lstStyle/>
                    <a:p>
                      <a:r>
                        <a:rPr lang="en-US" dirty="0"/>
                        <a:t>A class from which</a:t>
                      </a:r>
                      <a:r>
                        <a:rPr lang="en-US" baseline="0" dirty="0"/>
                        <a:t> it is not possible to derive a new class is known as a sealed class.</a:t>
                      </a:r>
                      <a:endParaRPr lang="en-US" dirty="0"/>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Abstract class can contain non-abstract and abstract functions</a:t>
                      </a:r>
                    </a:p>
                  </a:txBody>
                  <a:tcPr/>
                </a:tc>
                <a:tc>
                  <a:txBody>
                    <a:bodyPr/>
                    <a:lstStyle/>
                    <a:p>
                      <a:r>
                        <a:rPr lang="en-US" dirty="0"/>
                        <a:t>Sealed class can contain</a:t>
                      </a:r>
                      <a:r>
                        <a:rPr lang="en-US" baseline="0" dirty="0"/>
                        <a:t> non-abstract functions, can not contain abstract/virtual functions.</a:t>
                      </a:r>
                      <a:endParaRPr lang="en-US" dirty="0"/>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r>
                        <a:rPr lang="en-US" dirty="0"/>
                        <a:t>Creating a new class from an abstract class is compulsory to consume</a:t>
                      </a:r>
                      <a:r>
                        <a:rPr lang="en-US" baseline="0" dirty="0"/>
                        <a:t> it</a:t>
                      </a:r>
                      <a:endParaRPr lang="en-US" dirty="0"/>
                    </a:p>
                  </a:txBody>
                  <a:tcPr/>
                </a:tc>
                <a:tc>
                  <a:txBody>
                    <a:bodyPr/>
                    <a:lstStyle/>
                    <a:p>
                      <a:r>
                        <a:rPr lang="en-US" dirty="0"/>
                        <a:t>It is no possible to create a new class from sealed class</a:t>
                      </a:r>
                    </a:p>
                  </a:txBody>
                  <a:tcPr/>
                </a:tc>
                <a:extLst>
                  <a:ext uri="{0D108BD9-81ED-4DB2-BD59-A6C34878D82A}">
                    <a16:rowId xmlns:a16="http://schemas.microsoft.com/office/drawing/2014/main" val="10003"/>
                  </a:ext>
                </a:extLst>
              </a:tr>
              <a:tr h="370840">
                <a:tc>
                  <a:txBody>
                    <a:bodyPr/>
                    <a:lstStyle/>
                    <a:p>
                      <a:r>
                        <a:rPr lang="en-US" dirty="0"/>
                        <a:t>4</a:t>
                      </a:r>
                    </a:p>
                  </a:txBody>
                  <a:tcPr/>
                </a:tc>
                <a:tc>
                  <a:txBody>
                    <a:bodyPr/>
                    <a:lstStyle/>
                    <a:p>
                      <a:r>
                        <a:rPr lang="en-US" dirty="0"/>
                        <a:t>An abstract class can not be Instantiated directly, we need to create object</a:t>
                      </a:r>
                      <a:r>
                        <a:rPr lang="en-US" baseline="0" dirty="0"/>
                        <a:t> for derived class to consume an abstract class</a:t>
                      </a:r>
                      <a:endParaRPr lang="en-US" dirty="0"/>
                    </a:p>
                  </a:txBody>
                  <a:tcPr/>
                </a:tc>
                <a:tc>
                  <a:txBody>
                    <a:bodyPr/>
                    <a:lstStyle/>
                    <a:p>
                      <a:r>
                        <a:rPr lang="en-US" dirty="0"/>
                        <a:t>We should create an object for sealed class only to consume it.</a:t>
                      </a:r>
                    </a:p>
                  </a:txBody>
                  <a:tcPr/>
                </a:tc>
                <a:extLst>
                  <a:ext uri="{0D108BD9-81ED-4DB2-BD59-A6C34878D82A}">
                    <a16:rowId xmlns:a16="http://schemas.microsoft.com/office/drawing/2014/main" val="10004"/>
                  </a:ext>
                </a:extLst>
              </a:tr>
              <a:tr h="370840">
                <a:tc>
                  <a:txBody>
                    <a:bodyPr/>
                    <a:lstStyle/>
                    <a:p>
                      <a:r>
                        <a:rPr lang="en-US" dirty="0"/>
                        <a:t>5</a:t>
                      </a:r>
                    </a:p>
                  </a:txBody>
                  <a:tcPr/>
                </a:tc>
                <a:tc>
                  <a:txBody>
                    <a:bodyPr/>
                    <a:lstStyle/>
                    <a:p>
                      <a:r>
                        <a:rPr lang="en-US" dirty="0"/>
                        <a:t>Use abstract keyword to</a:t>
                      </a:r>
                      <a:r>
                        <a:rPr lang="en-US" baseline="0" dirty="0"/>
                        <a:t> make any class as abstract.</a:t>
                      </a:r>
                      <a:endParaRPr lang="en-US" dirty="0"/>
                    </a:p>
                  </a:txBody>
                  <a:tcPr/>
                </a:tc>
                <a:tc>
                  <a:txBody>
                    <a:bodyPr/>
                    <a:lstStyle/>
                    <a:p>
                      <a:r>
                        <a:rPr lang="en-US" dirty="0"/>
                        <a:t>Use sealed keyword to make any class as sealed </a:t>
                      </a:r>
                    </a:p>
                  </a:txBody>
                  <a:tcPr/>
                </a:tc>
                <a:extLst>
                  <a:ext uri="{0D108BD9-81ED-4DB2-BD59-A6C34878D82A}">
                    <a16:rowId xmlns:a16="http://schemas.microsoft.com/office/drawing/2014/main" val="10005"/>
                  </a:ext>
                </a:extLst>
              </a:tr>
              <a:tr h="370840">
                <a:tc>
                  <a:txBody>
                    <a:bodyPr/>
                    <a:lstStyle/>
                    <a:p>
                      <a:r>
                        <a:rPr lang="en-US" dirty="0"/>
                        <a:t>6</a:t>
                      </a:r>
                    </a:p>
                  </a:txBody>
                  <a:tcPr/>
                </a:tc>
                <a:tc>
                  <a:txBody>
                    <a:bodyPr/>
                    <a:lstStyle/>
                    <a:p>
                      <a:r>
                        <a:rPr lang="en-US" dirty="0"/>
                        <a:t>An abstract class can not be the bottom most</a:t>
                      </a:r>
                      <a:r>
                        <a:rPr lang="en-US" baseline="0" dirty="0"/>
                        <a:t> class with in the inheritance hierarchy.</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Sealed class should be the </a:t>
                      </a:r>
                      <a:r>
                        <a:rPr lang="en-US" dirty="0" err="1"/>
                        <a:t>buttom</a:t>
                      </a:r>
                      <a:r>
                        <a:rPr lang="en-US" baseline="0" dirty="0"/>
                        <a:t> most class with in the inheritance hierarchy.</a:t>
                      </a:r>
                      <a:endParaRPr lang="en-US" dirty="0"/>
                    </a:p>
                    <a:p>
                      <a:endParaRPr lang="en-US" dirty="0"/>
                    </a:p>
                  </a:txBody>
                  <a:tcPr/>
                </a:tc>
                <a:extLst>
                  <a:ext uri="{0D108BD9-81ED-4DB2-BD59-A6C34878D82A}">
                    <a16:rowId xmlns:a16="http://schemas.microsoft.com/office/drawing/2014/main" val="10006"/>
                  </a:ext>
                </a:extLst>
              </a:tr>
              <a:tr h="370840">
                <a:tc>
                  <a:txBody>
                    <a:bodyPr/>
                    <a:lstStyle/>
                    <a:p>
                      <a:r>
                        <a:rPr lang="en-US" dirty="0"/>
                        <a:t>7</a:t>
                      </a:r>
                    </a:p>
                  </a:txBody>
                  <a:tcPr/>
                </a:tc>
                <a:tc>
                  <a:txBody>
                    <a:bodyPr/>
                    <a:lstStyle/>
                    <a:p>
                      <a:r>
                        <a:rPr lang="en-US" dirty="0"/>
                        <a:t>An abstract class should be used as base class only</a:t>
                      </a:r>
                    </a:p>
                  </a:txBody>
                  <a:tcPr/>
                </a:tc>
                <a:tc>
                  <a:txBody>
                    <a:bodyPr/>
                    <a:lstStyle/>
                    <a:p>
                      <a:r>
                        <a:rPr lang="en-US" dirty="0"/>
                        <a:t>A sealed class can not be used as base class</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Partial class </a:t>
            </a:r>
          </a:p>
        </p:txBody>
      </p:sp>
      <p:sp>
        <p:nvSpPr>
          <p:cNvPr id="3" name="Content Placeholder 2"/>
          <p:cNvSpPr>
            <a:spLocks noGrp="1"/>
          </p:cNvSpPr>
          <p:nvPr>
            <p:ph idx="1"/>
          </p:nvPr>
        </p:nvSpPr>
        <p:spPr>
          <a:xfrm>
            <a:off x="457200" y="990600"/>
            <a:ext cx="8229600" cy="5135563"/>
          </a:xfrm>
        </p:spPr>
        <p:txBody>
          <a:bodyPr/>
          <a:lstStyle/>
          <a:p>
            <a:r>
              <a:rPr lang="en-US" dirty="0"/>
              <a:t>A class which code can be written in two or more file is known as partial class.</a:t>
            </a:r>
          </a:p>
          <a:p>
            <a:r>
              <a:rPr lang="en-US" dirty="0"/>
              <a:t>To make any class as partial use partial keyword.</a:t>
            </a:r>
          </a:p>
          <a:p>
            <a:r>
              <a:rPr lang="en-US" dirty="0"/>
              <a:t>Partial classes will provide flexibility in application development.</a:t>
            </a:r>
          </a:p>
          <a:p>
            <a:r>
              <a:rPr lang="en-US" dirty="0"/>
              <a:t>It is possible to split the definition of a class or a </a:t>
            </a:r>
            <a:r>
              <a:rPr lang="en-US" dirty="0" err="1"/>
              <a:t>struct</a:t>
            </a:r>
            <a:r>
              <a:rPr lang="en-US" dirty="0"/>
              <a:t>, or an inter face over two or more source file.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Partial class (cont..)</a:t>
            </a:r>
          </a:p>
        </p:txBody>
      </p:sp>
      <p:sp>
        <p:nvSpPr>
          <p:cNvPr id="3" name="Content Placeholder 2"/>
          <p:cNvSpPr>
            <a:spLocks noGrp="1"/>
          </p:cNvSpPr>
          <p:nvPr>
            <p:ph idx="1"/>
          </p:nvPr>
        </p:nvSpPr>
        <p:spPr>
          <a:xfrm>
            <a:off x="457200" y="838200"/>
            <a:ext cx="8229600" cy="5287963"/>
          </a:xfrm>
        </p:spPr>
        <p:txBody>
          <a:bodyPr/>
          <a:lstStyle/>
          <a:p>
            <a:r>
              <a:rPr lang="en-US" dirty="0"/>
              <a:t>Each source file contains a section of the class definition and all parts are combined when the application is complied .there are several situations when splitting a class definition is desirable:</a:t>
            </a:r>
          </a:p>
          <a:p>
            <a:pPr marL="571500" indent="-571500">
              <a:buAutoNum type="romanLcParenBoth"/>
            </a:pPr>
            <a:r>
              <a:rPr lang="en-US" dirty="0"/>
              <a:t>When working on large projects, spreading a class over separate files allows multiple programmers to work on it simultaneously.</a:t>
            </a:r>
          </a:p>
          <a:p>
            <a:pPr marL="571500" indent="-57150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Partial class(cont..)</a:t>
            </a:r>
          </a:p>
        </p:txBody>
      </p:sp>
      <p:sp>
        <p:nvSpPr>
          <p:cNvPr id="3" name="Content Placeholder 2"/>
          <p:cNvSpPr>
            <a:spLocks noGrp="1"/>
          </p:cNvSpPr>
          <p:nvPr>
            <p:ph idx="1"/>
          </p:nvPr>
        </p:nvSpPr>
        <p:spPr>
          <a:xfrm>
            <a:off x="457200" y="838200"/>
            <a:ext cx="8229600" cy="5287963"/>
          </a:xfrm>
        </p:spPr>
        <p:txBody>
          <a:bodyPr/>
          <a:lstStyle/>
          <a:p>
            <a:pPr>
              <a:buNone/>
            </a:pPr>
            <a:r>
              <a:rPr lang="en-US" dirty="0"/>
              <a:t>(ii) When working with automatically generated source  code can be added to the class without having to recreate the source file. visual studio uses this approach when creating windows forms, web service wrapper code, and so on. You can create code that uses these classes without having to edit the file created by Visual studio.</a:t>
            </a:r>
          </a:p>
          <a:p>
            <a:pPr>
              <a:buNone/>
            </a:pPr>
            <a:r>
              <a:rPr lang="en-US" dirty="0">
                <a:hlinkClick r:id="rId2" action="ppaction://hlinkfile"/>
              </a:rPr>
              <a:t>Ex1</a:t>
            </a:r>
            <a:r>
              <a:rPr lang="en-US" dirty="0"/>
              <a:t> ,</a:t>
            </a:r>
            <a:r>
              <a:rPr lang="en-US" dirty="0">
                <a:hlinkClick r:id="rId3" action="ppaction://hlinkfile"/>
              </a:rPr>
              <a:t>ex2</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Generics </a:t>
            </a:r>
          </a:p>
        </p:txBody>
      </p:sp>
      <p:sp>
        <p:nvSpPr>
          <p:cNvPr id="3" name="Content Placeholder 2"/>
          <p:cNvSpPr>
            <a:spLocks noGrp="1"/>
          </p:cNvSpPr>
          <p:nvPr>
            <p:ph idx="1"/>
          </p:nvPr>
        </p:nvSpPr>
        <p:spPr>
          <a:xfrm>
            <a:off x="457200" y="1066800"/>
            <a:ext cx="8229600" cy="5059363"/>
          </a:xfrm>
        </p:spPr>
        <p:txBody>
          <a:bodyPr>
            <a:normAutofit lnSpcReduction="10000"/>
          </a:bodyPr>
          <a:lstStyle/>
          <a:p>
            <a:r>
              <a:rPr lang="en-US" dirty="0"/>
              <a:t>These are known as General Data types</a:t>
            </a:r>
          </a:p>
          <a:p>
            <a:r>
              <a:rPr lang="en-US" dirty="0"/>
              <a:t>Using generics, we will write generic functions and generics classes.</a:t>
            </a:r>
          </a:p>
          <a:p>
            <a:r>
              <a:rPr lang="en-US" dirty="0"/>
              <a:t>Generics are introduced in </a:t>
            </a:r>
            <a:r>
              <a:rPr lang="en-US" dirty="0" err="1"/>
              <a:t>.net</a:t>
            </a:r>
            <a:r>
              <a:rPr lang="en-US" dirty="0"/>
              <a:t> framework version 2.0</a:t>
            </a:r>
          </a:p>
          <a:p>
            <a:r>
              <a:rPr lang="en-US" dirty="0"/>
              <a:t>Namespaces related to Generics are </a:t>
            </a:r>
            <a:r>
              <a:rPr lang="en-US" dirty="0" err="1"/>
              <a:t>System.Collections.Generic</a:t>
            </a:r>
            <a:r>
              <a:rPr lang="en-US" dirty="0"/>
              <a:t>, </a:t>
            </a:r>
            <a:r>
              <a:rPr lang="en-US" dirty="0" err="1"/>
              <a:t>System.Collections</a:t>
            </a:r>
            <a:r>
              <a:rPr lang="en-US" dirty="0"/>
              <a:t> . </a:t>
            </a:r>
            <a:r>
              <a:rPr lang="en-US" dirty="0" err="1"/>
              <a:t>ObjectModel</a:t>
            </a:r>
            <a:r>
              <a:rPr lang="en-US" dirty="0"/>
              <a:t>, these namespaces contain generic collection classes that will allow working with Generic Types.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lnSpcReduction="10000"/>
          </a:bodyPr>
          <a:lstStyle/>
          <a:p>
            <a:r>
              <a:rPr lang="en-US" dirty="0"/>
              <a:t>Generic interfaces that will provide sorting and equality comparisons are present in system namespace.</a:t>
            </a:r>
          </a:p>
          <a:p>
            <a:r>
              <a:rPr lang="en-US" dirty="0"/>
              <a:t>Generics can be implemented with classes, structures, interfaces, methods, Events and Delegates.</a:t>
            </a:r>
          </a:p>
          <a:p>
            <a:r>
              <a:rPr lang="en-US" dirty="0"/>
              <a:t>The data types used in Generics can be obtained with the help of Reflection at runtime.</a:t>
            </a:r>
          </a:p>
          <a:p>
            <a:r>
              <a:rPr lang="en-US" dirty="0"/>
              <a:t>Generics will maximize code Reusability , Type Safety and performance.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a:t>Generics are used to avoid function overloading ,when data types of arguments are changed.</a:t>
            </a:r>
          </a:p>
          <a:p>
            <a:r>
              <a:rPr lang="en-US" dirty="0"/>
              <a:t>To work with generics, we use two things,</a:t>
            </a:r>
          </a:p>
          <a:p>
            <a:pPr marL="571500" indent="-571500">
              <a:buAutoNum type="romanLcParenBoth"/>
            </a:pPr>
            <a:r>
              <a:rPr lang="en-US" dirty="0"/>
              <a:t>Place holder represented by&lt;&gt;</a:t>
            </a:r>
          </a:p>
          <a:p>
            <a:pPr marL="571500" indent="-571500">
              <a:buAutoNum type="romanLcParenBoth"/>
            </a:pPr>
            <a:r>
              <a:rPr lang="en-US" dirty="0"/>
              <a:t>Type parameter</a:t>
            </a:r>
          </a:p>
          <a:p>
            <a:pPr marL="571500" indent="-571500"/>
            <a:r>
              <a:rPr lang="en-US" dirty="0"/>
              <a:t>Always type parameter should be enclosed within the place holder, like &lt;type parameter&gt;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4114800" cy="5897563"/>
          </a:xfrm>
        </p:spPr>
        <p:txBody>
          <a:bodyPr/>
          <a:lstStyle/>
          <a:p>
            <a:pPr>
              <a:buNone/>
            </a:pPr>
            <a:r>
              <a:rPr lang="en-US" dirty="0"/>
              <a:t>Non-Generic Method</a:t>
            </a:r>
          </a:p>
          <a:p>
            <a:pPr>
              <a:buNone/>
            </a:pPr>
            <a:r>
              <a:rPr lang="en-US" dirty="0"/>
              <a:t>Public Display(string s)</a:t>
            </a:r>
          </a:p>
          <a:p>
            <a:pPr>
              <a:buNone/>
            </a:pPr>
            <a:r>
              <a:rPr lang="en-US" dirty="0"/>
              <a:t>{</a:t>
            </a:r>
          </a:p>
          <a:p>
            <a:pPr>
              <a:buNone/>
            </a:pPr>
            <a:r>
              <a:rPr lang="en-US" dirty="0"/>
              <a:t>	code..</a:t>
            </a:r>
          </a:p>
          <a:p>
            <a:pPr>
              <a:buNone/>
            </a:pPr>
            <a:r>
              <a:rPr lang="en-US" dirty="0"/>
              <a:t>}</a:t>
            </a:r>
          </a:p>
          <a:p>
            <a:pPr>
              <a:buNone/>
            </a:pPr>
            <a:r>
              <a:rPr lang="en-US" dirty="0" err="1"/>
              <a:t>Calling:Display</a:t>
            </a:r>
            <a:r>
              <a:rPr lang="en-US" dirty="0"/>
              <a:t>(“</a:t>
            </a:r>
            <a:r>
              <a:rPr lang="en-US" dirty="0" err="1"/>
              <a:t>wel</a:t>
            </a:r>
            <a:r>
              <a:rPr lang="en-US" dirty="0"/>
              <a:t> come”);</a:t>
            </a:r>
          </a:p>
        </p:txBody>
      </p:sp>
      <p:sp>
        <p:nvSpPr>
          <p:cNvPr id="4" name="Content Placeholder 2"/>
          <p:cNvSpPr txBox="1">
            <a:spLocks/>
          </p:cNvSpPr>
          <p:nvPr/>
        </p:nvSpPr>
        <p:spPr>
          <a:xfrm>
            <a:off x="4724400" y="381000"/>
            <a:ext cx="4114800" cy="5897563"/>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Generic Method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Public Display&lt;G&gt;(</a:t>
            </a:r>
            <a:r>
              <a:rPr lang="en-US" sz="3200" dirty="0"/>
              <a:t>G</a:t>
            </a:r>
            <a:r>
              <a:rPr kumimoji="0" lang="en-US" sz="3200" b="0" i="0" u="none" strike="noStrike" kern="1200" cap="none" spc="0" normalizeH="0" baseline="0" noProof="0" dirty="0">
                <a:ln>
                  <a:noFill/>
                </a:ln>
                <a:solidFill>
                  <a:schemeClr val="tx1"/>
                </a:solidFill>
                <a:effectLst/>
                <a:uLnTx/>
                <a:uFillTx/>
                <a:latin typeface="+mn-lt"/>
                <a:ea typeface="+mn-ea"/>
                <a:cs typeface="+mn-cs"/>
              </a:rPr>
              <a:t> 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	code..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err="1">
                <a:ln>
                  <a:noFill/>
                </a:ln>
                <a:solidFill>
                  <a:schemeClr val="tx1"/>
                </a:solidFill>
                <a:effectLst/>
                <a:uLnTx/>
                <a:uFillTx/>
                <a:latin typeface="+mn-lt"/>
                <a:ea typeface="+mn-ea"/>
                <a:cs typeface="+mn-cs"/>
              </a:rPr>
              <a:t>Calling:Display</a:t>
            </a:r>
            <a:r>
              <a:rPr kumimoji="0" lang="en-US" sz="3200" b="0" i="0" u="none" strike="noStrike" kern="1200" cap="none" spc="0" normalizeH="0" baseline="0" noProof="0" dirty="0">
                <a:ln>
                  <a:noFill/>
                </a:ln>
                <a:solidFill>
                  <a:schemeClr val="tx1"/>
                </a:solidFill>
                <a:effectLst/>
                <a:uLnTx/>
                <a:uFillTx/>
                <a:latin typeface="+mn-lt"/>
                <a:ea typeface="+mn-ea"/>
                <a:cs typeface="+mn-cs"/>
              </a:rPr>
              <a:t>&lt;string&gt;(“</a:t>
            </a:r>
            <a:r>
              <a:rPr kumimoji="0" lang="en-US" sz="3200" b="0" i="0" u="none" strike="noStrike" kern="1200" cap="none" spc="0" normalizeH="0" baseline="0" noProof="0" dirty="0" err="1">
                <a:ln>
                  <a:noFill/>
                </a:ln>
                <a:solidFill>
                  <a:schemeClr val="tx1"/>
                </a:solidFill>
                <a:effectLst/>
                <a:uLnTx/>
                <a:uFillTx/>
                <a:latin typeface="+mn-lt"/>
                <a:ea typeface="+mn-ea"/>
                <a:cs typeface="+mn-cs"/>
              </a:rPr>
              <a:t>wel</a:t>
            </a:r>
            <a:r>
              <a:rPr kumimoji="0" lang="en-US" sz="3200" b="0" i="0" u="none" strike="noStrike" kern="1200" cap="none" spc="0" normalizeH="0" baseline="0" noProof="0" dirty="0">
                <a:ln>
                  <a:noFill/>
                </a:ln>
                <a:solidFill>
                  <a:schemeClr val="tx1"/>
                </a:solidFill>
                <a:effectLst/>
                <a:uLnTx/>
                <a:uFillTx/>
                <a:latin typeface="+mn-lt"/>
                <a:ea typeface="+mn-ea"/>
                <a:cs typeface="+mn-cs"/>
              </a:rPr>
              <a:t> come”);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3200" dirty="0" err="1"/>
              <a:t>Calling:Display</a:t>
            </a:r>
            <a:r>
              <a:rPr lang="en-US" sz="3200" dirty="0"/>
              <a:t>&lt;</a:t>
            </a:r>
            <a:r>
              <a:rPr lang="en-US" sz="3200" dirty="0" err="1"/>
              <a:t>int</a:t>
            </a:r>
            <a:r>
              <a:rPr lang="en-US" sz="3200" dirty="0"/>
              <a:t>&gt;(10);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err="1">
                <a:ln>
                  <a:noFill/>
                </a:ln>
                <a:solidFill>
                  <a:schemeClr val="tx1"/>
                </a:solidFill>
                <a:effectLst/>
                <a:uLnTx/>
                <a:uFillTx/>
                <a:latin typeface="+mn-lt"/>
                <a:ea typeface="+mn-ea"/>
                <a:cs typeface="+mn-cs"/>
              </a:rPr>
              <a:t>Calling:Display</a:t>
            </a:r>
            <a:r>
              <a:rPr kumimoji="0" lang="en-US" sz="3200" b="0" i="0" u="none" strike="noStrike" kern="1200" cap="none" spc="0" normalizeH="0" baseline="0" noProof="0" dirty="0">
                <a:ln>
                  <a:noFill/>
                </a:ln>
                <a:solidFill>
                  <a:schemeClr val="tx1"/>
                </a:solidFill>
                <a:effectLst/>
                <a:uLnTx/>
                <a:uFillTx/>
                <a:latin typeface="+mn-lt"/>
                <a:ea typeface="+mn-ea"/>
                <a:cs typeface="+mn-cs"/>
              </a:rPr>
              <a:t>&lt;double&gt; (10.5);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Passing multiple Data type to a Generic function.</a:t>
            </a:r>
          </a:p>
        </p:txBody>
      </p:sp>
      <p:sp>
        <p:nvSpPr>
          <p:cNvPr id="3" name="Content Placeholder 2"/>
          <p:cNvSpPr>
            <a:spLocks noGrp="1"/>
          </p:cNvSpPr>
          <p:nvPr>
            <p:ph idx="1"/>
          </p:nvPr>
        </p:nvSpPr>
        <p:spPr/>
        <p:txBody>
          <a:bodyPr>
            <a:normAutofit fontScale="92500" lnSpcReduction="10000"/>
          </a:bodyPr>
          <a:lstStyle/>
          <a:p>
            <a:r>
              <a:rPr lang="en-US" dirty="0"/>
              <a:t>In above examples, we passed only single data type to the generic function.</a:t>
            </a:r>
          </a:p>
          <a:p>
            <a:r>
              <a:rPr lang="en-US" dirty="0"/>
              <a:t>If at all we want to pass multiple data types to a generic function at once. We declare the function like….</a:t>
            </a:r>
          </a:p>
          <a:p>
            <a:pPr>
              <a:buNone/>
            </a:pPr>
            <a:r>
              <a:rPr lang="en-US" dirty="0"/>
              <a:t>Public void display &lt;TP1,TP2</a:t>
            </a:r>
            <a:r>
              <a:rPr lang="en-US"/>
              <a:t>&gt;(TP1 a,TP2 b</a:t>
            </a:r>
            <a:r>
              <a:rPr lang="en-US" dirty="0"/>
              <a:t>)</a:t>
            </a:r>
          </a:p>
          <a:p>
            <a:pPr>
              <a:buNone/>
            </a:pPr>
            <a:r>
              <a:rPr lang="en-US" dirty="0"/>
              <a:t>{</a:t>
            </a:r>
          </a:p>
          <a:p>
            <a:pPr>
              <a:buNone/>
            </a:pPr>
            <a:r>
              <a:rPr lang="en-US" dirty="0"/>
              <a:t>	code…</a:t>
            </a:r>
          </a:p>
          <a:p>
            <a:pPr>
              <a:buNone/>
            </a:pPr>
            <a:r>
              <a:rPr lang="en-US"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a:t>Calling :</a:t>
            </a:r>
          </a:p>
          <a:p>
            <a:pPr>
              <a:buNone/>
            </a:pPr>
            <a:r>
              <a:rPr lang="en-US" dirty="0"/>
              <a:t>Display&lt;</a:t>
            </a:r>
            <a:r>
              <a:rPr lang="en-US" dirty="0" err="1"/>
              <a:t>int,int</a:t>
            </a:r>
            <a:r>
              <a:rPr lang="en-US" dirty="0"/>
              <a:t>&gt; (10,20);</a:t>
            </a:r>
          </a:p>
          <a:p>
            <a:pPr>
              <a:buNone/>
            </a:pPr>
            <a:r>
              <a:rPr lang="en-US" dirty="0"/>
              <a:t>Display&lt;</a:t>
            </a:r>
            <a:r>
              <a:rPr lang="en-US" dirty="0" err="1"/>
              <a:t>int</a:t>
            </a:r>
            <a:r>
              <a:rPr lang="en-US" dirty="0"/>
              <a:t>, string&gt; (10, “</a:t>
            </a:r>
            <a:r>
              <a:rPr lang="en-US" dirty="0" err="1"/>
              <a:t>sai</a:t>
            </a:r>
            <a:r>
              <a:rPr lang="en-US" dirty="0"/>
              <a:t>”);</a:t>
            </a:r>
          </a:p>
          <a:p>
            <a:pPr>
              <a:buNone/>
            </a:pPr>
            <a:r>
              <a:rPr lang="en-US" dirty="0"/>
              <a:t>Display&lt;</a:t>
            </a:r>
            <a:r>
              <a:rPr lang="en-US" dirty="0" err="1"/>
              <a:t>string,string</a:t>
            </a:r>
            <a:r>
              <a:rPr lang="en-US" dirty="0"/>
              <a:t>&gt; (“welcome”, “Hello”);</a:t>
            </a:r>
          </a:p>
          <a:p>
            <a:pPr>
              <a:buNone/>
            </a:pPr>
            <a:r>
              <a:rPr lang="en-US" dirty="0">
                <a:hlinkClick r:id="rId2" action="ppaction://hlinkfile"/>
              </a:rPr>
              <a:t>Ex:1</a:t>
            </a:r>
            <a:r>
              <a:rPr lang="en-US" dirty="0"/>
              <a:t>, </a:t>
            </a:r>
            <a:r>
              <a:rPr lang="en-US" dirty="0">
                <a:hlinkClick r:id="rId3" action="ppaction://hlinkfile"/>
              </a:rPr>
              <a:t>ex:2</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Exception Handling Mechanism</a:t>
            </a:r>
          </a:p>
        </p:txBody>
      </p:sp>
      <p:sp>
        <p:nvSpPr>
          <p:cNvPr id="3" name="Content Placeholder 2"/>
          <p:cNvSpPr>
            <a:spLocks noGrp="1"/>
          </p:cNvSpPr>
          <p:nvPr>
            <p:ph idx="1"/>
          </p:nvPr>
        </p:nvSpPr>
        <p:spPr>
          <a:xfrm>
            <a:off x="457200" y="838200"/>
            <a:ext cx="8229600" cy="5287963"/>
          </a:xfrm>
        </p:spPr>
        <p:txBody>
          <a:bodyPr/>
          <a:lstStyle/>
          <a:p>
            <a:pPr>
              <a:buNone/>
            </a:pPr>
            <a:r>
              <a:rPr lang="en-US" dirty="0"/>
              <a:t>When we write and execute in our code in .NET, there is possibility of three types of error occurrence.</a:t>
            </a:r>
          </a:p>
          <a:p>
            <a:r>
              <a:rPr lang="en-US" dirty="0"/>
              <a:t>Syntactical errors</a:t>
            </a:r>
          </a:p>
          <a:p>
            <a:r>
              <a:rPr lang="en-US" dirty="0"/>
              <a:t>Compilation errors</a:t>
            </a:r>
          </a:p>
          <a:p>
            <a:r>
              <a:rPr lang="en-US" dirty="0"/>
              <a:t>Runtime errors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Syntactical errors</a:t>
            </a:r>
          </a:p>
        </p:txBody>
      </p:sp>
      <p:sp>
        <p:nvSpPr>
          <p:cNvPr id="3" name="Content Placeholder 2"/>
          <p:cNvSpPr>
            <a:spLocks noGrp="1"/>
          </p:cNvSpPr>
          <p:nvPr>
            <p:ph idx="1"/>
          </p:nvPr>
        </p:nvSpPr>
        <p:spPr>
          <a:xfrm>
            <a:off x="457200" y="990600"/>
            <a:ext cx="8229600" cy="5135563"/>
          </a:xfrm>
        </p:spPr>
        <p:txBody>
          <a:bodyPr/>
          <a:lstStyle/>
          <a:p>
            <a:r>
              <a:rPr lang="en-US" dirty="0"/>
              <a:t>These errors occurs by typing wrong syntax like , missing double quotes, terminators, typing wrong spelling for keywords etc.</a:t>
            </a:r>
          </a:p>
          <a:p>
            <a:r>
              <a:rPr lang="en-US" dirty="0"/>
              <a:t>Programmer can identify these errors, while writing the code and can be rectified.</a:t>
            </a:r>
          </a:p>
          <a:p>
            <a:r>
              <a:rPr lang="en-US" dirty="0"/>
              <a:t>These errors do not cause any harm to the program execution.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Compilation errors </a:t>
            </a:r>
          </a:p>
        </p:txBody>
      </p:sp>
      <p:sp>
        <p:nvSpPr>
          <p:cNvPr id="3" name="Content Placeholder 2"/>
          <p:cNvSpPr>
            <a:spLocks noGrp="1"/>
          </p:cNvSpPr>
          <p:nvPr>
            <p:ph idx="1"/>
          </p:nvPr>
        </p:nvSpPr>
        <p:spPr>
          <a:xfrm>
            <a:off x="457200" y="838200"/>
            <a:ext cx="8229600" cy="5287963"/>
          </a:xfrm>
        </p:spPr>
        <p:txBody>
          <a:bodyPr/>
          <a:lstStyle/>
          <a:p>
            <a:r>
              <a:rPr lang="en-US" dirty="0"/>
              <a:t>These errors occurs when the program is compiled.</a:t>
            </a:r>
          </a:p>
          <a:p>
            <a:r>
              <a:rPr lang="en-US" dirty="0"/>
              <a:t>These errors are like , assigning wrong data to a variable, trying to creating object for abstract class or interface etc.</a:t>
            </a:r>
          </a:p>
          <a:p>
            <a:r>
              <a:rPr lang="en-US" dirty="0"/>
              <a:t>These errors can be identified by the programmer and can be rectified before execution of the program only.</a:t>
            </a:r>
          </a:p>
          <a:p>
            <a:r>
              <a:rPr lang="en-US" dirty="0"/>
              <a:t>These errors do not cause any harm to program execution.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Run time errors</a:t>
            </a:r>
          </a:p>
        </p:txBody>
      </p:sp>
      <p:sp>
        <p:nvSpPr>
          <p:cNvPr id="3" name="Content Placeholder 2"/>
          <p:cNvSpPr>
            <a:spLocks noGrp="1"/>
          </p:cNvSpPr>
          <p:nvPr>
            <p:ph idx="1"/>
          </p:nvPr>
        </p:nvSpPr>
        <p:spPr>
          <a:xfrm>
            <a:off x="457200" y="762000"/>
            <a:ext cx="8229600" cy="5364163"/>
          </a:xfrm>
        </p:spPr>
        <p:txBody>
          <a:bodyPr/>
          <a:lstStyle/>
          <a:p>
            <a:r>
              <a:rPr lang="en-US" dirty="0"/>
              <a:t>These errors will occur at the time of executing the program.</a:t>
            </a:r>
          </a:p>
          <a:p>
            <a:r>
              <a:rPr lang="en-US" dirty="0"/>
              <a:t>These errors are like ..entering wrong data into a variable trying to open a file for which there is no permission, trying to connect to database with wrong user id and password etc.</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Exception</a:t>
            </a:r>
          </a:p>
        </p:txBody>
      </p:sp>
      <p:sp>
        <p:nvSpPr>
          <p:cNvPr id="3" name="Content Placeholder 2"/>
          <p:cNvSpPr>
            <a:spLocks noGrp="1"/>
          </p:cNvSpPr>
          <p:nvPr>
            <p:ph idx="1"/>
          </p:nvPr>
        </p:nvSpPr>
        <p:spPr>
          <a:xfrm>
            <a:off x="457200" y="762000"/>
            <a:ext cx="8229600" cy="5364163"/>
          </a:xfrm>
        </p:spPr>
        <p:txBody>
          <a:bodyPr/>
          <a:lstStyle/>
          <a:p>
            <a:r>
              <a:rPr lang="en-US" dirty="0"/>
              <a:t>A runtime error is known as an exception.</a:t>
            </a:r>
          </a:p>
          <a:p>
            <a:r>
              <a:rPr lang="en-US" dirty="0"/>
              <a:t>Exception can’t be identified and rectified by the programmer.</a:t>
            </a:r>
          </a:p>
          <a:p>
            <a:r>
              <a:rPr lang="en-US" dirty="0"/>
              <a:t>Exception will cause abnormal termination of the program execution.</a:t>
            </a:r>
          </a:p>
          <a:p>
            <a:r>
              <a:rPr lang="en-US" dirty="0"/>
              <a:t>So, to avoid abnormal termination of program execution, we need  to handle the exceptions.</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Methods to handle exception </a:t>
            </a:r>
          </a:p>
        </p:txBody>
      </p:sp>
      <p:sp>
        <p:nvSpPr>
          <p:cNvPr id="3" name="Content Placeholder 2"/>
          <p:cNvSpPr>
            <a:spLocks noGrp="1"/>
          </p:cNvSpPr>
          <p:nvPr>
            <p:ph idx="1"/>
          </p:nvPr>
        </p:nvSpPr>
        <p:spPr>
          <a:xfrm>
            <a:off x="457200" y="762000"/>
            <a:ext cx="8229600" cy="5364163"/>
          </a:xfrm>
        </p:spPr>
        <p:txBody>
          <a:bodyPr/>
          <a:lstStyle/>
          <a:p>
            <a:pPr>
              <a:buNone/>
            </a:pPr>
            <a:r>
              <a:rPr lang="en-US" dirty="0"/>
              <a:t>There are three methods to handle the exception.</a:t>
            </a:r>
          </a:p>
          <a:p>
            <a:r>
              <a:rPr lang="en-US" dirty="0"/>
              <a:t>Logical implementation.</a:t>
            </a:r>
          </a:p>
          <a:p>
            <a:r>
              <a:rPr lang="en-US" dirty="0"/>
              <a:t>Try catch implementation.</a:t>
            </a:r>
          </a:p>
          <a:p>
            <a:r>
              <a:rPr lang="en-US" dirty="0"/>
              <a:t>On error go to implementation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hlinkClick r:id="rId2" action="ppaction://hlinkfile"/>
              </a:rPr>
              <a:t>Logical</a:t>
            </a:r>
            <a:r>
              <a:rPr lang="en-US" dirty="0"/>
              <a:t> implementation</a:t>
            </a:r>
          </a:p>
        </p:txBody>
      </p:sp>
      <p:sp>
        <p:nvSpPr>
          <p:cNvPr id="3" name="Content Placeholder 2"/>
          <p:cNvSpPr>
            <a:spLocks noGrp="1"/>
          </p:cNvSpPr>
          <p:nvPr>
            <p:ph idx="1"/>
          </p:nvPr>
        </p:nvSpPr>
        <p:spPr>
          <a:xfrm>
            <a:off x="457200" y="762000"/>
            <a:ext cx="8229600" cy="5364163"/>
          </a:xfrm>
        </p:spPr>
        <p:txBody>
          <a:bodyPr>
            <a:normAutofit lnSpcReduction="10000"/>
          </a:bodyPr>
          <a:lstStyle/>
          <a:p>
            <a:r>
              <a:rPr lang="en-US" dirty="0"/>
              <a:t>In this method we handle the exceptions by using logical statements.</a:t>
            </a:r>
          </a:p>
          <a:p>
            <a:r>
              <a:rPr lang="en-US" dirty="0"/>
              <a:t>In real time programming first and fore most importance should be given for logical implementation only.</a:t>
            </a:r>
          </a:p>
          <a:p>
            <a:r>
              <a:rPr lang="en-US" dirty="0"/>
              <a:t>If it’s no possible to handle any exception using logical implementation the we use , try catch implementation.</a:t>
            </a:r>
            <a:endParaRPr lang="en-US" b="1" dirty="0"/>
          </a:p>
          <a:p>
            <a:r>
              <a:rPr lang="en-US" b="1" dirty="0"/>
              <a:t>Note </a:t>
            </a:r>
            <a:r>
              <a:rPr lang="en-US" dirty="0"/>
              <a:t>:-when use enters second number as zero, exception will be raised, this is handle using logical implementation.</a:t>
            </a:r>
            <a:endParaRPr lang="en-US"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Try catch implementation</a:t>
            </a:r>
          </a:p>
        </p:txBody>
      </p:sp>
      <p:sp>
        <p:nvSpPr>
          <p:cNvPr id="3" name="Content Placeholder 2"/>
          <p:cNvSpPr>
            <a:spLocks noGrp="1"/>
          </p:cNvSpPr>
          <p:nvPr>
            <p:ph idx="1"/>
          </p:nvPr>
        </p:nvSpPr>
        <p:spPr>
          <a:xfrm>
            <a:off x="457200" y="762000"/>
            <a:ext cx="8229600" cy="5364163"/>
          </a:xfrm>
        </p:spPr>
        <p:txBody>
          <a:bodyPr/>
          <a:lstStyle/>
          <a:p>
            <a:pPr>
              <a:buNone/>
            </a:pPr>
            <a:r>
              <a:rPr lang="en-US" dirty="0"/>
              <a:t>Try</a:t>
            </a:r>
          </a:p>
          <a:p>
            <a:pPr>
              <a:buNone/>
            </a:pPr>
            <a:r>
              <a:rPr lang="en-US" dirty="0"/>
              <a:t>{	code }</a:t>
            </a:r>
          </a:p>
          <a:p>
            <a:pPr>
              <a:buNone/>
            </a:pPr>
            <a:r>
              <a:rPr lang="en-US" dirty="0"/>
              <a:t>	catch[Exception class object]</a:t>
            </a:r>
          </a:p>
          <a:p>
            <a:pPr>
              <a:buNone/>
            </a:pPr>
            <a:r>
              <a:rPr lang="en-US" dirty="0"/>
              <a:t>{ code}</a:t>
            </a:r>
          </a:p>
          <a:p>
            <a:pPr>
              <a:buNone/>
            </a:pPr>
            <a:r>
              <a:rPr lang="en-US" dirty="0"/>
              <a:t>…</a:t>
            </a:r>
          </a:p>
          <a:p>
            <a:pPr>
              <a:buNone/>
            </a:pPr>
            <a:r>
              <a:rPr lang="en-US" dirty="0"/>
              <a:t>Finally</a:t>
            </a:r>
          </a:p>
          <a:p>
            <a:pPr>
              <a:buNone/>
            </a:pPr>
            <a:r>
              <a:rPr lang="en-US" dirty="0"/>
              <a:t>{ code..}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dirty="0"/>
              <a:t>Try catch implementation (cont..)</a:t>
            </a:r>
          </a:p>
        </p:txBody>
      </p:sp>
      <p:sp>
        <p:nvSpPr>
          <p:cNvPr id="3" name="Content Placeholder 2"/>
          <p:cNvSpPr>
            <a:spLocks noGrp="1"/>
          </p:cNvSpPr>
          <p:nvPr>
            <p:ph idx="1"/>
          </p:nvPr>
        </p:nvSpPr>
        <p:spPr>
          <a:xfrm>
            <a:off x="457200" y="685800"/>
            <a:ext cx="8229600" cy="5440363"/>
          </a:xfrm>
        </p:spPr>
        <p:txBody>
          <a:bodyPr/>
          <a:lstStyle/>
          <a:p>
            <a:r>
              <a:rPr lang="en-US" dirty="0"/>
              <a:t>A try block can be followed by any number of catch blocks, writing finally block is optional.</a:t>
            </a:r>
          </a:p>
          <a:p>
            <a:r>
              <a:rPr lang="en-US" dirty="0"/>
              <a:t>Writing an exception class with in the catch block is optional</a:t>
            </a:r>
          </a:p>
          <a:p>
            <a:r>
              <a:rPr lang="en-US" dirty="0"/>
              <a:t>If catch block is used with out an exception class the it is known as generic catch block.</a:t>
            </a:r>
          </a:p>
          <a:p>
            <a:r>
              <a:rPr lang="en-US" b="1" dirty="0"/>
              <a:t>Try </a:t>
            </a:r>
            <a:r>
              <a:rPr lang="en-US" dirty="0"/>
              <a:t>: this block contains all the statements in which there is possibility of exception occurrence.</a:t>
            </a:r>
          </a:p>
          <a:p>
            <a:pPr>
              <a:buNone/>
            </a:pPr>
            <a:endParaRPr lang="en-US"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r>
              <a:rPr lang="en-US" b="1" dirty="0"/>
              <a:t>Catch </a:t>
            </a:r>
            <a:r>
              <a:rPr lang="en-US" dirty="0"/>
              <a:t>:- this block contains all thee statements to handle exception that is raised with in the try block.</a:t>
            </a:r>
          </a:p>
          <a:p>
            <a:r>
              <a:rPr lang="en-US" b="1" dirty="0"/>
              <a:t>Finally</a:t>
            </a:r>
            <a:r>
              <a:rPr lang="en-US" dirty="0"/>
              <a:t>:- this contains the statements to be executed compulsory, though try block is executed or catch block is executed.</a:t>
            </a:r>
          </a:p>
          <a:p>
            <a:r>
              <a:rPr lang="en-US" b="1" dirty="0"/>
              <a:t>Execution </a:t>
            </a:r>
            <a:r>
              <a:rPr lang="en-US" dirty="0"/>
              <a:t>:- execution starts from try block, if there any exception occurs in any statement of try block the following lines of exception statement are ignored and control jumps to catch block, catch block is executed and the finally block.</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If no exception occurs in any statement of try block the all statement of try block are executed an catch block is ignored then finally block is executed. </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85000" lnSpcReduction="20000"/>
          </a:bodyPr>
          <a:lstStyle/>
          <a:p>
            <a:pPr>
              <a:buNone/>
            </a:pPr>
            <a:r>
              <a:rPr lang="en-US" dirty="0"/>
              <a:t>Try</a:t>
            </a:r>
          </a:p>
          <a:p>
            <a:pPr>
              <a:buNone/>
            </a:pPr>
            <a:r>
              <a:rPr lang="en-US" dirty="0"/>
              <a:t>{</a:t>
            </a:r>
          </a:p>
          <a:p>
            <a:pPr>
              <a:buNone/>
            </a:pPr>
            <a:r>
              <a:rPr lang="en-US" dirty="0"/>
              <a:t>Try{statement}</a:t>
            </a:r>
          </a:p>
          <a:p>
            <a:pPr>
              <a:buNone/>
            </a:pPr>
            <a:r>
              <a:rPr lang="en-US" dirty="0"/>
              <a:t>Catch[(</a:t>
            </a:r>
            <a:r>
              <a:rPr lang="en-US"/>
              <a:t>ExecptionClass</a:t>
            </a:r>
            <a:r>
              <a:rPr lang="en-US" dirty="0"/>
              <a:t> object)]</a:t>
            </a:r>
          </a:p>
          <a:p>
            <a:pPr>
              <a:buNone/>
            </a:pPr>
            <a:r>
              <a:rPr lang="en-US" dirty="0"/>
              <a:t>{statement}</a:t>
            </a:r>
          </a:p>
          <a:p>
            <a:pPr>
              <a:buNone/>
            </a:pPr>
            <a:r>
              <a:rPr lang="en-US" dirty="0"/>
              <a:t>Finally {statement}</a:t>
            </a:r>
          </a:p>
          <a:p>
            <a:pPr>
              <a:buNone/>
            </a:pPr>
            <a:r>
              <a:rPr lang="en-US" dirty="0"/>
              <a:t>}</a:t>
            </a:r>
          </a:p>
          <a:p>
            <a:pPr>
              <a:buNone/>
            </a:pPr>
            <a:r>
              <a:rPr lang="en-US" dirty="0"/>
              <a:t>Catch[(</a:t>
            </a:r>
            <a:r>
              <a:rPr lang="en-US" dirty="0" err="1"/>
              <a:t>ExceptionClass</a:t>
            </a:r>
            <a:r>
              <a:rPr lang="en-US" dirty="0"/>
              <a:t> object)]</a:t>
            </a:r>
          </a:p>
          <a:p>
            <a:pPr>
              <a:buNone/>
            </a:pPr>
            <a:r>
              <a:rPr lang="en-US" dirty="0"/>
              <a:t>{</a:t>
            </a:r>
          </a:p>
          <a:p>
            <a:pPr>
              <a:buNone/>
            </a:pPr>
            <a:r>
              <a:rPr lang="en-US" dirty="0"/>
              <a:t>Try{</a:t>
            </a:r>
            <a:r>
              <a:rPr lang="en-US" dirty="0" err="1"/>
              <a:t>statemenet</a:t>
            </a:r>
            <a:r>
              <a:rPr lang="en-US" dirty="0"/>
              <a:t>}</a:t>
            </a:r>
          </a:p>
          <a:p>
            <a:pPr>
              <a:buNone/>
            </a:pPr>
            <a:r>
              <a:rPr lang="en-US" dirty="0"/>
              <a:t>Catch[(</a:t>
            </a:r>
            <a:r>
              <a:rPr lang="en-US" dirty="0" err="1"/>
              <a:t>exceptionClass</a:t>
            </a:r>
            <a:r>
              <a:rPr lang="en-US" dirty="0"/>
              <a:t> object)]</a:t>
            </a:r>
          </a:p>
          <a:p>
            <a:pPr>
              <a:buNone/>
            </a:pPr>
            <a:r>
              <a:rPr lang="en-US" dirty="0"/>
              <a:t>{statement}</a:t>
            </a:r>
          </a:p>
          <a:p>
            <a:pPr>
              <a:buNone/>
            </a:pPr>
            <a:r>
              <a:rPr lang="en-US" dirty="0"/>
              <a:t>Finally{statement}</a:t>
            </a:r>
          </a:p>
          <a:p>
            <a:pPr>
              <a:buNone/>
            </a:pPr>
            <a:r>
              <a:rPr lang="en-US"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sz="2800" dirty="0">
                <a:hlinkClick r:id="rId2" action="ppaction://hlinkfile"/>
              </a:rPr>
              <a:t>Program</a:t>
            </a:r>
            <a:r>
              <a:rPr lang="en-US" sz="2800" dirty="0"/>
              <a:t> to handle an Exception using try-catch Implementation with generic catch block</a:t>
            </a:r>
          </a:p>
        </p:txBody>
      </p:sp>
      <p:sp>
        <p:nvSpPr>
          <p:cNvPr id="3" name="Content Placeholder 2"/>
          <p:cNvSpPr>
            <a:spLocks noGrp="1"/>
          </p:cNvSpPr>
          <p:nvPr>
            <p:ph idx="1"/>
          </p:nvPr>
        </p:nvSpPr>
        <p:spPr>
          <a:xfrm>
            <a:off x="457200" y="1219200"/>
            <a:ext cx="8229600" cy="4906963"/>
          </a:xfrm>
        </p:spPr>
        <p:txBody>
          <a:bodyPr>
            <a:normAutofit fontScale="92500"/>
          </a:bodyPr>
          <a:lstStyle/>
          <a:p>
            <a:r>
              <a:rPr lang="en-US" dirty="0"/>
              <a:t>In the above example there is no exception class used in catch block, so it is known as generic catch block.</a:t>
            </a:r>
          </a:p>
          <a:p>
            <a:r>
              <a:rPr lang="en-US" dirty="0"/>
              <a:t>But in the above example any kind of exception may occurs same message will be displayed to the user and user can not understand why error has occurred, to over come this specification catch blocks are used.</a:t>
            </a:r>
          </a:p>
          <a:p>
            <a:r>
              <a:rPr lang="en-US" dirty="0"/>
              <a:t>Using specific catch blocks it is possible to known more information about the exceptions.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Some important exception classes</a:t>
            </a:r>
          </a:p>
        </p:txBody>
      </p:sp>
      <p:graphicFrame>
        <p:nvGraphicFramePr>
          <p:cNvPr id="4" name="Content Placeholder 3"/>
          <p:cNvGraphicFramePr>
            <a:graphicFrameLocks noGrp="1"/>
          </p:cNvGraphicFramePr>
          <p:nvPr>
            <p:ph idx="1"/>
          </p:nvPr>
        </p:nvGraphicFramePr>
        <p:xfrm>
          <a:off x="457200" y="838200"/>
          <a:ext cx="8229600" cy="3708400"/>
        </p:xfrm>
        <a:graphic>
          <a:graphicData uri="http://schemas.openxmlformats.org/drawingml/2006/table">
            <a:tbl>
              <a:tblPr firstRow="1" bandRow="1">
                <a:tableStyleId>{F5AB1C69-6EDB-4FF4-983F-18BD219EF322}</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dirty="0"/>
                        <a:t>Argument</a:t>
                      </a:r>
                      <a:r>
                        <a:rPr lang="en-US" baseline="0" dirty="0"/>
                        <a:t>  Exception</a:t>
                      </a:r>
                      <a:endParaRPr lang="en-US" dirty="0"/>
                    </a:p>
                  </a:txBody>
                  <a:tcPr/>
                </a:tc>
                <a:tc>
                  <a:txBody>
                    <a:bodyPr/>
                    <a:lstStyle/>
                    <a:p>
                      <a:r>
                        <a:rPr lang="en-US" dirty="0" err="1"/>
                        <a:t>ArgumentNullException</a:t>
                      </a:r>
                      <a:r>
                        <a:rPr lang="en-US" dirty="0"/>
                        <a:t> </a:t>
                      </a:r>
                    </a:p>
                  </a:txBody>
                  <a:tcPr/>
                </a:tc>
                <a:extLst>
                  <a:ext uri="{0D108BD9-81ED-4DB2-BD59-A6C34878D82A}">
                    <a16:rowId xmlns:a16="http://schemas.microsoft.com/office/drawing/2014/main" val="10000"/>
                  </a:ext>
                </a:extLst>
              </a:tr>
              <a:tr h="370840">
                <a:tc>
                  <a:txBody>
                    <a:bodyPr/>
                    <a:lstStyle/>
                    <a:p>
                      <a:r>
                        <a:rPr lang="en-US" dirty="0" err="1"/>
                        <a:t>ArgumentOutRangeException</a:t>
                      </a:r>
                      <a:endParaRPr lang="en-US" dirty="0"/>
                    </a:p>
                  </a:txBody>
                  <a:tcPr/>
                </a:tc>
                <a:tc>
                  <a:txBody>
                    <a:bodyPr/>
                    <a:lstStyle/>
                    <a:p>
                      <a:r>
                        <a:rPr lang="en-US" dirty="0" err="1"/>
                        <a:t>ArithmeticException</a:t>
                      </a:r>
                      <a:endParaRPr lang="en-US" dirty="0"/>
                    </a:p>
                  </a:txBody>
                  <a:tcPr/>
                </a:tc>
                <a:extLst>
                  <a:ext uri="{0D108BD9-81ED-4DB2-BD59-A6C34878D82A}">
                    <a16:rowId xmlns:a16="http://schemas.microsoft.com/office/drawing/2014/main" val="10001"/>
                  </a:ext>
                </a:extLst>
              </a:tr>
              <a:tr h="370840">
                <a:tc>
                  <a:txBody>
                    <a:bodyPr/>
                    <a:lstStyle/>
                    <a:p>
                      <a:r>
                        <a:rPr lang="en-US" dirty="0" err="1"/>
                        <a:t>ArrayTypeMismatchException</a:t>
                      </a:r>
                      <a:endParaRPr lang="en-US" dirty="0"/>
                    </a:p>
                  </a:txBody>
                  <a:tcPr/>
                </a:tc>
                <a:tc>
                  <a:txBody>
                    <a:bodyPr/>
                    <a:lstStyle/>
                    <a:p>
                      <a:r>
                        <a:rPr lang="en-US" dirty="0" err="1"/>
                        <a:t>BadImageFormatException</a:t>
                      </a:r>
                      <a:endParaRPr lang="en-US" dirty="0"/>
                    </a:p>
                  </a:txBody>
                  <a:tcPr/>
                </a:tc>
                <a:extLst>
                  <a:ext uri="{0D108BD9-81ED-4DB2-BD59-A6C34878D82A}">
                    <a16:rowId xmlns:a16="http://schemas.microsoft.com/office/drawing/2014/main" val="10002"/>
                  </a:ext>
                </a:extLst>
              </a:tr>
              <a:tr h="370840">
                <a:tc>
                  <a:txBody>
                    <a:bodyPr/>
                    <a:lstStyle/>
                    <a:p>
                      <a:r>
                        <a:rPr lang="en-US" dirty="0" err="1"/>
                        <a:t>DivideByZeroException</a:t>
                      </a:r>
                      <a:endParaRPr lang="en-US" dirty="0"/>
                    </a:p>
                  </a:txBody>
                  <a:tcPr/>
                </a:tc>
                <a:tc>
                  <a:txBody>
                    <a:bodyPr/>
                    <a:lstStyle/>
                    <a:p>
                      <a:r>
                        <a:rPr lang="en-US" dirty="0" err="1"/>
                        <a:t>DllNotFoundException</a:t>
                      </a:r>
                      <a:endParaRPr lang="en-US" dirty="0"/>
                    </a:p>
                  </a:txBody>
                  <a:tcPr/>
                </a:tc>
                <a:extLst>
                  <a:ext uri="{0D108BD9-81ED-4DB2-BD59-A6C34878D82A}">
                    <a16:rowId xmlns:a16="http://schemas.microsoft.com/office/drawing/2014/main" val="10003"/>
                  </a:ext>
                </a:extLst>
              </a:tr>
              <a:tr h="370840">
                <a:tc>
                  <a:txBody>
                    <a:bodyPr/>
                    <a:lstStyle/>
                    <a:p>
                      <a:r>
                        <a:rPr lang="en-US" dirty="0" err="1"/>
                        <a:t>EntryPointNotFoundException</a:t>
                      </a:r>
                      <a:endParaRPr lang="en-US" dirty="0"/>
                    </a:p>
                  </a:txBody>
                  <a:tcPr/>
                </a:tc>
                <a:tc>
                  <a:txBody>
                    <a:bodyPr/>
                    <a:lstStyle/>
                    <a:p>
                      <a:r>
                        <a:rPr lang="en-US" dirty="0"/>
                        <a:t>Exception (SUPER CLASS)</a:t>
                      </a:r>
                    </a:p>
                  </a:txBody>
                  <a:tcPr/>
                </a:tc>
                <a:extLst>
                  <a:ext uri="{0D108BD9-81ED-4DB2-BD59-A6C34878D82A}">
                    <a16:rowId xmlns:a16="http://schemas.microsoft.com/office/drawing/2014/main" val="10004"/>
                  </a:ext>
                </a:extLst>
              </a:tr>
              <a:tr h="370840">
                <a:tc>
                  <a:txBody>
                    <a:bodyPr/>
                    <a:lstStyle/>
                    <a:p>
                      <a:r>
                        <a:rPr lang="en-US" dirty="0" err="1"/>
                        <a:t>FormatException</a:t>
                      </a:r>
                      <a:endParaRPr lang="en-US" dirty="0"/>
                    </a:p>
                  </a:txBody>
                  <a:tcPr/>
                </a:tc>
                <a:tc>
                  <a:txBody>
                    <a:bodyPr/>
                    <a:lstStyle/>
                    <a:p>
                      <a:r>
                        <a:rPr lang="en-US" dirty="0" err="1"/>
                        <a:t>IndexOutRangeException</a:t>
                      </a:r>
                      <a:endParaRPr lang="en-US" dirty="0"/>
                    </a:p>
                  </a:txBody>
                  <a:tcPr/>
                </a:tc>
                <a:extLst>
                  <a:ext uri="{0D108BD9-81ED-4DB2-BD59-A6C34878D82A}">
                    <a16:rowId xmlns:a16="http://schemas.microsoft.com/office/drawing/2014/main" val="10005"/>
                  </a:ext>
                </a:extLst>
              </a:tr>
              <a:tr h="370840">
                <a:tc>
                  <a:txBody>
                    <a:bodyPr/>
                    <a:lstStyle/>
                    <a:p>
                      <a:r>
                        <a:rPr lang="en-US" dirty="0" err="1"/>
                        <a:t>InsufficientMemoryException</a:t>
                      </a:r>
                      <a:endParaRPr lang="en-US" dirty="0"/>
                    </a:p>
                  </a:txBody>
                  <a:tcPr/>
                </a:tc>
                <a:tc>
                  <a:txBody>
                    <a:bodyPr/>
                    <a:lstStyle/>
                    <a:p>
                      <a:r>
                        <a:rPr lang="en-US" dirty="0" err="1"/>
                        <a:t>InvalidCastException</a:t>
                      </a:r>
                      <a:endParaRPr lang="en-US" dirty="0"/>
                    </a:p>
                  </a:txBody>
                  <a:tcPr/>
                </a:tc>
                <a:extLst>
                  <a:ext uri="{0D108BD9-81ED-4DB2-BD59-A6C34878D82A}">
                    <a16:rowId xmlns:a16="http://schemas.microsoft.com/office/drawing/2014/main" val="10006"/>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10007"/>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10008"/>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Properties with Exception Classes</a:t>
            </a:r>
          </a:p>
        </p:txBody>
      </p:sp>
      <p:sp>
        <p:nvSpPr>
          <p:cNvPr id="3" name="Content Placeholder 2"/>
          <p:cNvSpPr>
            <a:spLocks noGrp="1"/>
          </p:cNvSpPr>
          <p:nvPr>
            <p:ph idx="1"/>
          </p:nvPr>
        </p:nvSpPr>
        <p:spPr>
          <a:xfrm>
            <a:off x="457200" y="838200"/>
            <a:ext cx="8229600" cy="5287963"/>
          </a:xfrm>
        </p:spPr>
        <p:txBody>
          <a:bodyPr/>
          <a:lstStyle/>
          <a:p>
            <a:r>
              <a:rPr lang="en-US" dirty="0"/>
              <a:t>Message: this property will store about the reason, why exception has occurred</a:t>
            </a:r>
          </a:p>
          <a:p>
            <a:r>
              <a:rPr lang="en-US" dirty="0"/>
              <a:t>Source: this stores name of the application from which exception has been raised.</a:t>
            </a:r>
          </a:p>
          <a:p>
            <a:r>
              <a:rPr lang="en-US" dirty="0" err="1"/>
              <a:t>Helplink</a:t>
            </a:r>
            <a:r>
              <a:rPr lang="en-US" dirty="0"/>
              <a:t>: this is used to provide link to any file/URL to give help information to the user, when exception is raised.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sz="2800" dirty="0">
                <a:hlinkClick r:id="rId2" action="ppaction://hlinkfile"/>
              </a:rPr>
              <a:t>Program</a:t>
            </a:r>
            <a:r>
              <a:rPr lang="en-US" sz="2800" dirty="0"/>
              <a:t> to handle an Exception using try-catch implementing with specific catch block</a:t>
            </a:r>
          </a:p>
        </p:txBody>
      </p:sp>
      <p:sp>
        <p:nvSpPr>
          <p:cNvPr id="3" name="Content Placeholder 2"/>
          <p:cNvSpPr>
            <a:spLocks noGrp="1"/>
          </p:cNvSpPr>
          <p:nvPr>
            <p:ph idx="1"/>
          </p:nvPr>
        </p:nvSpPr>
        <p:spPr>
          <a:xfrm>
            <a:off x="457200" y="1143000"/>
            <a:ext cx="8229600" cy="4983163"/>
          </a:xfrm>
        </p:spPr>
        <p:txBody>
          <a:bodyPr/>
          <a:lstStyle/>
          <a:p>
            <a:r>
              <a:rPr lang="en-US" dirty="0"/>
              <a:t>In the above example, super class exception is used to handle the exception, but, if we use super class of any exception class when there is any relevant class is available, it will kill the execution performance of the program.</a:t>
            </a:r>
          </a:p>
          <a:p>
            <a:r>
              <a:rPr lang="en-US" dirty="0"/>
              <a:t>So any time don’t use super class of any exception class to handle any exception when there is relevant exception class is </a:t>
            </a:r>
            <a:r>
              <a:rPr lang="en-US" dirty="0" err="1"/>
              <a:t>avilable</a:t>
            </a:r>
            <a:r>
              <a:rPr lang="en-US" dirty="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hlinkClick r:id="rId2" action="ppaction://hlinkfile"/>
              </a:rPr>
              <a:t>Program</a:t>
            </a:r>
            <a:r>
              <a:rPr lang="en-US" dirty="0"/>
              <a:t> with multiple catch blocks</a:t>
            </a:r>
          </a:p>
        </p:txBody>
      </p:sp>
      <p:sp>
        <p:nvSpPr>
          <p:cNvPr id="3" name="Content Placeholder 2"/>
          <p:cNvSpPr>
            <a:spLocks noGrp="1"/>
          </p:cNvSpPr>
          <p:nvPr>
            <p:ph idx="1"/>
          </p:nvPr>
        </p:nvSpPr>
        <p:spPr>
          <a:xfrm>
            <a:off x="457200" y="838200"/>
            <a:ext cx="8229600" cy="5287963"/>
          </a:xfrm>
        </p:spPr>
        <p:txBody>
          <a:bodyPr/>
          <a:lstStyle/>
          <a:p>
            <a:r>
              <a:rPr lang="en-US" dirty="0"/>
              <a:t>When we write multiple catch blocks, at any point of time only one catch block will be executed and other catch blocks will be ignored.</a:t>
            </a:r>
          </a:p>
          <a:p>
            <a:r>
              <a:rPr lang="en-US" dirty="0"/>
              <a:t>Whenever multiple catch blocks are used, it is not possible to write the catch blocks in the following way and raised compilation error because first catch block exception class only handles all the exceptions.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Try</a:t>
            </a:r>
          </a:p>
          <a:p>
            <a:pPr>
              <a:buNone/>
            </a:pPr>
            <a:r>
              <a:rPr lang="en-US"/>
              <a:t>{ code ..}</a:t>
            </a:r>
            <a:endParaRPr lang="en-US" dirty="0"/>
          </a:p>
          <a:p>
            <a:pPr>
              <a:buNone/>
            </a:pPr>
            <a:r>
              <a:rPr lang="en-US" dirty="0"/>
              <a:t>Catch(Exception ex)</a:t>
            </a:r>
          </a:p>
          <a:p>
            <a:pPr>
              <a:buNone/>
            </a:pPr>
            <a:r>
              <a:rPr lang="en-US" dirty="0"/>
              <a:t>{code…}</a:t>
            </a:r>
          </a:p>
          <a:p>
            <a:pPr>
              <a:buNone/>
            </a:pPr>
            <a:r>
              <a:rPr lang="en-US" dirty="0"/>
              <a:t>Catch(</a:t>
            </a:r>
            <a:r>
              <a:rPr lang="en-US" dirty="0" err="1"/>
              <a:t>DivideByZeroException</a:t>
            </a:r>
            <a:r>
              <a:rPr lang="en-US" dirty="0"/>
              <a:t> ex)</a:t>
            </a:r>
          </a:p>
          <a:p>
            <a:pPr>
              <a:buNone/>
            </a:pPr>
            <a:r>
              <a:rPr lang="en-US" dirty="0"/>
              <a:t>{code…}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422</TotalTime>
  <Words>1858</Words>
  <Application>Microsoft Office PowerPoint</Application>
  <PresentationFormat>On-screen Show (4:3)</PresentationFormat>
  <Paragraphs>227</Paragraphs>
  <Slides>36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Sealed class and partial classes</vt:lpstr>
      <vt:lpstr>Sealed class</vt:lpstr>
      <vt:lpstr>Sealed class (cont..)</vt:lpstr>
      <vt:lpstr>Sealed method </vt:lpstr>
      <vt:lpstr>PowerPoint Presentation</vt:lpstr>
      <vt:lpstr>PowerPoint Presentation</vt:lpstr>
      <vt:lpstr>PowerPoint Presentation</vt:lpstr>
      <vt:lpstr>Class diagram</vt:lpstr>
      <vt:lpstr>PowerPoint Presentation</vt:lpstr>
      <vt:lpstr>Partial class </vt:lpstr>
      <vt:lpstr>Partial class (cont..)</vt:lpstr>
      <vt:lpstr>Partial class(cont..)</vt:lpstr>
      <vt:lpstr>Generics </vt:lpstr>
      <vt:lpstr>PowerPoint Presentation</vt:lpstr>
      <vt:lpstr>PowerPoint Presentation</vt:lpstr>
      <vt:lpstr>PowerPoint Presentation</vt:lpstr>
      <vt:lpstr>Passing multiple Data type to a Generic function.</vt:lpstr>
      <vt:lpstr>PowerPoint Presentation</vt:lpstr>
      <vt:lpstr>Exception Handling Mechanism</vt:lpstr>
      <vt:lpstr>Syntactical errors</vt:lpstr>
      <vt:lpstr>Compilation errors </vt:lpstr>
      <vt:lpstr>Run time errors</vt:lpstr>
      <vt:lpstr>Exception</vt:lpstr>
      <vt:lpstr>Methods to handle exception </vt:lpstr>
      <vt:lpstr>Logical implementation</vt:lpstr>
      <vt:lpstr>Try catch implementation</vt:lpstr>
      <vt:lpstr>Try catch implementation (cont..)</vt:lpstr>
      <vt:lpstr>PowerPoint Presentation</vt:lpstr>
      <vt:lpstr>PowerPoint Presentation</vt:lpstr>
      <vt:lpstr>PowerPoint Presentation</vt:lpstr>
      <vt:lpstr>Program to handle an Exception using try-catch Implementation with generic catch block</vt:lpstr>
      <vt:lpstr>Some important exception classes</vt:lpstr>
      <vt:lpstr>Properties with Exception Classes</vt:lpstr>
      <vt:lpstr>Program to handle an Exception using try-catch implementing with specific catch block</vt:lpstr>
      <vt:lpstr>Program with multiple catch blocks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Sealed class and partial classes</dc:title>
  <dc:creator>krishna</dc:creator>
  <cp:lastModifiedBy>krishnakumari mallapa reddy</cp:lastModifiedBy>
  <cp:revision>57</cp:revision>
  <dcterms:created xsi:type="dcterms:W3CDTF">2011-11-11T20:56:48Z</dcterms:created>
  <dcterms:modified xsi:type="dcterms:W3CDTF">2018-11-27T06:55:06Z</dcterms:modified>
</cp:coreProperties>
</file>