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7" r:id="rId10"/>
    <p:sldId id="264" r:id="rId11"/>
    <p:sldId id="265"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3" r:id="rId27"/>
    <p:sldId id="28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0C180F6-F608-4DC9-8883-0623C7ED63A4}" type="datetimeFigureOut">
              <a:rPr lang="en-US" smtClean="0"/>
              <a:pPr/>
              <a:t>11/26/2011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0B57F1-E0F6-43DF-A92C-6DDA0E582A27}"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C180F6-F608-4DC9-8883-0623C7ED63A4}" type="datetimeFigureOut">
              <a:rPr lang="en-US" smtClean="0"/>
              <a:pPr/>
              <a:t>11/26/2011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0B57F1-E0F6-43DF-A92C-6DDA0E582A2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New%20folder/structItem.docx"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New%20folder/structRectangleMethod.docx"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New%20folder/EnumShape.docx"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New%20folder/classDestDemo.docx"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New%20folder/ThreadDemo.docx"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New%20folder/TreadDemo2.docx"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Structures and Enumeration</a:t>
            </a:r>
            <a:endParaRPr lang="en-US" dirty="0"/>
          </a:p>
        </p:txBody>
      </p:sp>
      <p:sp>
        <p:nvSpPr>
          <p:cNvPr id="3" name="Subtitle 2"/>
          <p:cNvSpPr>
            <a:spLocks noGrp="1"/>
          </p:cNvSpPr>
          <p:nvPr>
            <p:ph type="subTitle" idx="1"/>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609600"/>
          </a:xfrm>
        </p:spPr>
        <p:txBody>
          <a:bodyPr>
            <a:normAutofit fontScale="90000"/>
          </a:bodyPr>
          <a:lstStyle/>
          <a:p>
            <a:r>
              <a:rPr lang="en-US" dirty="0" smtClean="0"/>
              <a:t>Structures </a:t>
            </a:r>
            <a:endParaRPr lang="en-US" dirty="0"/>
          </a:p>
        </p:txBody>
      </p:sp>
      <p:sp>
        <p:nvSpPr>
          <p:cNvPr id="3" name="Content Placeholder 2"/>
          <p:cNvSpPr>
            <a:spLocks noGrp="1"/>
          </p:cNvSpPr>
          <p:nvPr>
            <p:ph idx="1"/>
          </p:nvPr>
        </p:nvSpPr>
        <p:spPr>
          <a:xfrm>
            <a:off x="457200" y="914400"/>
            <a:ext cx="8229600" cy="5211763"/>
          </a:xfrm>
        </p:spPr>
        <p:txBody>
          <a:bodyPr/>
          <a:lstStyle/>
          <a:p>
            <a:pPr>
              <a:buNone/>
            </a:pPr>
            <a:r>
              <a:rPr lang="en-US" dirty="0" smtClean="0"/>
              <a:t>Structure are similar to classes in c#. Although classes will be used to implement most object, it is use where simple composite data type are required. Because they are value types stored on the stack, they have the following advantages compared to class objects stored on the heap.</a:t>
            </a:r>
          </a:p>
          <a:p>
            <a:r>
              <a:rPr lang="en-US" dirty="0" smtClean="0"/>
              <a:t>They are created much more quickly then heap allocated types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Structures (cont..)</a:t>
            </a:r>
            <a:endParaRPr lang="en-US" dirty="0"/>
          </a:p>
        </p:txBody>
      </p:sp>
      <p:sp>
        <p:nvSpPr>
          <p:cNvPr id="3" name="Content Placeholder 2"/>
          <p:cNvSpPr>
            <a:spLocks noGrp="1"/>
          </p:cNvSpPr>
          <p:nvPr>
            <p:ph idx="1"/>
          </p:nvPr>
        </p:nvSpPr>
        <p:spPr>
          <a:xfrm>
            <a:off x="457200" y="914400"/>
            <a:ext cx="8229600" cy="5211763"/>
          </a:xfrm>
        </p:spPr>
        <p:txBody>
          <a:bodyPr/>
          <a:lstStyle/>
          <a:p>
            <a:r>
              <a:rPr lang="en-US" dirty="0" smtClean="0"/>
              <a:t>They are instantly and automatically </a:t>
            </a:r>
            <a:r>
              <a:rPr lang="en-US" dirty="0" err="1" smtClean="0"/>
              <a:t>deallocated</a:t>
            </a:r>
            <a:r>
              <a:rPr lang="en-US" dirty="0" smtClean="0"/>
              <a:t> once they go out of scope.</a:t>
            </a:r>
          </a:p>
          <a:p>
            <a:r>
              <a:rPr lang="en-US" dirty="0" smtClean="0"/>
              <a:t>It is easy to copy value type variables on the stack.</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Defining a </a:t>
            </a:r>
            <a:r>
              <a:rPr lang="en-US" dirty="0" err="1" smtClean="0"/>
              <a:t>struct</a:t>
            </a: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A </a:t>
            </a:r>
            <a:r>
              <a:rPr lang="en-US" dirty="0" err="1" smtClean="0"/>
              <a:t>struct</a:t>
            </a:r>
            <a:r>
              <a:rPr lang="en-US" dirty="0" smtClean="0"/>
              <a:t> in c# provides a unique way of packing together data of different types. It is a convenient tool for handling a group of logically related data items. It creates a template that may be used to define its data properties. Once the structure type has been defined, we can create variable of that type using declarations that are similar to the built- in type declarations.</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hlinkClick r:id="rId2" action="ppaction://hlinkfile"/>
              </a:rPr>
              <a:t>Defining</a:t>
            </a:r>
            <a:r>
              <a:rPr lang="en-US" dirty="0" smtClean="0"/>
              <a:t> a </a:t>
            </a:r>
            <a:r>
              <a:rPr lang="en-US" dirty="0" err="1" smtClean="0"/>
              <a:t>struct</a:t>
            </a:r>
            <a:r>
              <a:rPr lang="en-US" dirty="0" smtClean="0"/>
              <a:t> </a:t>
            </a:r>
            <a:endParaRPr lang="en-US" dirty="0"/>
          </a:p>
        </p:txBody>
      </p:sp>
      <p:sp>
        <p:nvSpPr>
          <p:cNvPr id="3" name="Content Placeholder 2"/>
          <p:cNvSpPr>
            <a:spLocks noGrp="1"/>
          </p:cNvSpPr>
          <p:nvPr>
            <p:ph idx="1"/>
          </p:nvPr>
        </p:nvSpPr>
        <p:spPr>
          <a:xfrm>
            <a:off x="457200" y="914400"/>
            <a:ext cx="3733800" cy="5211763"/>
          </a:xfrm>
        </p:spPr>
        <p:txBody>
          <a:bodyPr/>
          <a:lstStyle/>
          <a:p>
            <a:pPr>
              <a:buNone/>
            </a:pPr>
            <a:r>
              <a:rPr lang="en-US" dirty="0" err="1" smtClean="0"/>
              <a:t>Struct</a:t>
            </a:r>
            <a:r>
              <a:rPr lang="en-US" dirty="0" smtClean="0"/>
              <a:t> </a:t>
            </a:r>
            <a:r>
              <a:rPr lang="en-US" dirty="0" err="1" smtClean="0"/>
              <a:t>struct</a:t>
            </a:r>
            <a:r>
              <a:rPr lang="en-US" dirty="0" smtClean="0"/>
              <a:t>-name</a:t>
            </a:r>
          </a:p>
          <a:p>
            <a:pPr>
              <a:buNone/>
            </a:pPr>
            <a:r>
              <a:rPr lang="en-US" dirty="0" smtClean="0"/>
              <a:t>{</a:t>
            </a:r>
          </a:p>
          <a:p>
            <a:pPr>
              <a:buNone/>
            </a:pPr>
            <a:r>
              <a:rPr lang="en-US" dirty="0" smtClean="0"/>
              <a:t>	data member1;</a:t>
            </a:r>
          </a:p>
          <a:p>
            <a:pPr>
              <a:buNone/>
            </a:pPr>
            <a:r>
              <a:rPr lang="en-US" dirty="0" smtClean="0"/>
              <a:t>	data member2;</a:t>
            </a:r>
          </a:p>
          <a:p>
            <a:pPr>
              <a:buNone/>
            </a:pPr>
            <a:r>
              <a:rPr lang="en-US" dirty="0" smtClean="0"/>
              <a:t>	………………………</a:t>
            </a:r>
          </a:p>
          <a:p>
            <a:pPr>
              <a:buNone/>
            </a:pPr>
            <a:r>
              <a:rPr lang="en-US" dirty="0" smtClean="0"/>
              <a:t>	……………………..</a:t>
            </a:r>
          </a:p>
          <a:p>
            <a:pPr>
              <a:buNone/>
            </a:pPr>
            <a:r>
              <a:rPr lang="en-US" dirty="0" smtClean="0"/>
              <a:t>}</a:t>
            </a:r>
            <a:endParaRPr lang="en-US" dirty="0"/>
          </a:p>
        </p:txBody>
      </p:sp>
      <p:sp>
        <p:nvSpPr>
          <p:cNvPr id="4" name="Content Placeholder 2"/>
          <p:cNvSpPr txBox="1">
            <a:spLocks/>
          </p:cNvSpPr>
          <p:nvPr/>
        </p:nvSpPr>
        <p:spPr>
          <a:xfrm>
            <a:off x="4419600" y="1066800"/>
            <a:ext cx="4267200" cy="5211763"/>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Struct</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 student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public string Name;</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en-US" sz="3200" dirty="0" smtClean="0"/>
              <a:t>	public </a:t>
            </a:r>
            <a:r>
              <a:rPr lang="en-US" sz="3200" dirty="0" err="1" smtClean="0"/>
              <a:t>int</a:t>
            </a:r>
            <a:r>
              <a:rPr lang="en-US" sz="3200" dirty="0" smtClean="0"/>
              <a:t> </a:t>
            </a:r>
            <a:r>
              <a:rPr lang="en-US" sz="3200" dirty="0" err="1" smtClean="0"/>
              <a:t>rollNumber</a:t>
            </a:r>
            <a:r>
              <a:rPr lang="en-US" sz="3200" dirty="0" smtClean="0"/>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	public double </a:t>
            </a:r>
            <a:r>
              <a:rPr kumimoji="0" lang="en-US" sz="3200" b="0" i="0" u="none" strike="noStrike" kern="1200" cap="none" spc="0" normalizeH="0" baseline="0" noProof="0" dirty="0" err="1" smtClean="0">
                <a:ln>
                  <a:noFill/>
                </a:ln>
                <a:solidFill>
                  <a:schemeClr val="tx1"/>
                </a:solidFill>
                <a:effectLst/>
                <a:uLnTx/>
                <a:uFillTx/>
                <a:latin typeface="+mn-lt"/>
                <a:ea typeface="+mn-ea"/>
                <a:cs typeface="+mn-cs"/>
              </a:rPr>
              <a:t>totalMarks</a:t>
            </a: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r>
              <a:rPr lang="en-US" dirty="0" smtClean="0"/>
              <a:t>Note:- we cannot initialize the data fields inside the </a:t>
            </a:r>
            <a:r>
              <a:rPr lang="en-US" dirty="0" err="1" smtClean="0"/>
              <a:t>struct</a:t>
            </a:r>
            <a:r>
              <a:rPr lang="en-US" dirty="0" smtClean="0"/>
              <a:t> definition.</a:t>
            </a:r>
          </a:p>
          <a:p>
            <a:r>
              <a:rPr lang="en-US" dirty="0" err="1" smtClean="0"/>
              <a:t>Struct</a:t>
            </a:r>
            <a:r>
              <a:rPr lang="en-US" dirty="0" smtClean="0"/>
              <a:t> may also contain methods, properties, operator, indexers and nested types.</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Structs</a:t>
            </a:r>
            <a:r>
              <a:rPr lang="en-US" dirty="0" smtClean="0"/>
              <a:t> with </a:t>
            </a:r>
            <a:r>
              <a:rPr lang="en-US" dirty="0" smtClean="0">
                <a:hlinkClick r:id="rId2" action="ppaction://hlinkfile"/>
              </a:rPr>
              <a:t>methods</a:t>
            </a:r>
            <a:endParaRPr lang="en-US" dirty="0"/>
          </a:p>
        </p:txBody>
      </p:sp>
      <p:sp>
        <p:nvSpPr>
          <p:cNvPr id="3" name="Content Placeholder 2"/>
          <p:cNvSpPr>
            <a:spLocks noGrp="1"/>
          </p:cNvSpPr>
          <p:nvPr>
            <p:ph idx="1"/>
          </p:nvPr>
        </p:nvSpPr>
        <p:spPr/>
        <p:txBody>
          <a:bodyPr>
            <a:normAutofit lnSpcReduction="10000"/>
          </a:bodyPr>
          <a:lstStyle/>
          <a:p>
            <a:r>
              <a:rPr lang="en-US" dirty="0" smtClean="0"/>
              <a:t>A constructor is a method which is used to set values of data members at the time of declaration. </a:t>
            </a:r>
          </a:p>
          <a:p>
            <a:r>
              <a:rPr lang="en-US" dirty="0" err="1" smtClean="0"/>
              <a:t>Structs</a:t>
            </a:r>
            <a:r>
              <a:rPr lang="en-US" dirty="0" smtClean="0"/>
              <a:t> can also have other methods as members. These methods may be designed to perform certain operations on the data stored in </a:t>
            </a:r>
            <a:r>
              <a:rPr lang="en-US" dirty="0" err="1" smtClean="0"/>
              <a:t>struct</a:t>
            </a:r>
            <a:r>
              <a:rPr lang="en-US" dirty="0" smtClean="0"/>
              <a:t> objects.</a:t>
            </a:r>
          </a:p>
          <a:p>
            <a:r>
              <a:rPr lang="en-US" dirty="0" smtClean="0"/>
              <a:t>Notes:-</a:t>
            </a:r>
            <a:r>
              <a:rPr lang="en-US" dirty="0" err="1" smtClean="0"/>
              <a:t>struct</a:t>
            </a:r>
            <a:r>
              <a:rPr lang="en-US" dirty="0" smtClean="0"/>
              <a:t> is not permitted to declare a destructor.</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dirty="0" smtClean="0"/>
              <a:t>Differences between classes and </a:t>
            </a:r>
            <a:r>
              <a:rPr lang="en-US" sz="3600" dirty="0" err="1" smtClean="0"/>
              <a:t>structs</a:t>
            </a:r>
            <a:endParaRPr lang="en-US" sz="3600" dirty="0"/>
          </a:p>
        </p:txBody>
      </p:sp>
      <p:graphicFrame>
        <p:nvGraphicFramePr>
          <p:cNvPr id="4" name="Content Placeholder 3"/>
          <p:cNvGraphicFramePr>
            <a:graphicFrameLocks noGrp="1"/>
          </p:cNvGraphicFramePr>
          <p:nvPr>
            <p:ph idx="1"/>
          </p:nvPr>
        </p:nvGraphicFramePr>
        <p:xfrm>
          <a:off x="457200" y="838200"/>
          <a:ext cx="8229600" cy="4861560"/>
        </p:xfrm>
        <a:graphic>
          <a:graphicData uri="http://schemas.openxmlformats.org/drawingml/2006/table">
            <a:tbl>
              <a:tblPr firstRow="1" bandRow="1">
                <a:tableStyleId>{5C22544A-7EE6-4342-B048-85BDC9FD1C3A}</a:tableStyleId>
              </a:tblPr>
              <a:tblGrid>
                <a:gridCol w="1828800"/>
                <a:gridCol w="3124200"/>
                <a:gridCol w="3276600"/>
              </a:tblGrid>
              <a:tr h="370840">
                <a:tc>
                  <a:txBody>
                    <a:bodyPr/>
                    <a:lstStyle/>
                    <a:p>
                      <a:r>
                        <a:rPr lang="en-US" dirty="0" smtClean="0"/>
                        <a:t>Category</a:t>
                      </a:r>
                      <a:endParaRPr lang="en-US" dirty="0"/>
                    </a:p>
                  </a:txBody>
                  <a:tcPr/>
                </a:tc>
                <a:tc>
                  <a:txBody>
                    <a:bodyPr/>
                    <a:lstStyle/>
                    <a:p>
                      <a:r>
                        <a:rPr lang="en-US" dirty="0" smtClean="0"/>
                        <a:t>Classes</a:t>
                      </a:r>
                      <a:endParaRPr lang="en-US" dirty="0"/>
                    </a:p>
                  </a:txBody>
                  <a:tcPr/>
                </a:tc>
                <a:tc>
                  <a:txBody>
                    <a:bodyPr/>
                    <a:lstStyle/>
                    <a:p>
                      <a:r>
                        <a:rPr lang="en-US" dirty="0" err="1" smtClean="0"/>
                        <a:t>Structs</a:t>
                      </a:r>
                      <a:endParaRPr lang="en-US" dirty="0"/>
                    </a:p>
                  </a:txBody>
                  <a:tcPr/>
                </a:tc>
              </a:tr>
              <a:tr h="370840">
                <a:tc>
                  <a:txBody>
                    <a:bodyPr/>
                    <a:lstStyle/>
                    <a:p>
                      <a:r>
                        <a:rPr lang="en-US" dirty="0" smtClean="0"/>
                        <a:t>Data</a:t>
                      </a:r>
                      <a:r>
                        <a:rPr lang="en-US" baseline="0" dirty="0" smtClean="0"/>
                        <a:t> type</a:t>
                      </a:r>
                      <a:endParaRPr lang="en-US" dirty="0"/>
                    </a:p>
                  </a:txBody>
                  <a:tcPr/>
                </a:tc>
                <a:tc>
                  <a:txBody>
                    <a:bodyPr/>
                    <a:lstStyle/>
                    <a:p>
                      <a:r>
                        <a:rPr lang="en-US" dirty="0" smtClean="0"/>
                        <a:t>Reference type and therefore stored on the heap</a:t>
                      </a:r>
                      <a:endParaRPr lang="en-US" dirty="0"/>
                    </a:p>
                  </a:txBody>
                  <a:tcPr/>
                </a:tc>
                <a:tc>
                  <a:txBody>
                    <a:bodyPr/>
                    <a:lstStyle/>
                    <a:p>
                      <a:r>
                        <a:rPr lang="en-US" dirty="0" smtClean="0"/>
                        <a:t>Value type and therefore stored on the stack. behave like simple data types.</a:t>
                      </a:r>
                      <a:endParaRPr lang="en-US" dirty="0"/>
                    </a:p>
                  </a:txBody>
                  <a:tcPr/>
                </a:tc>
              </a:tr>
              <a:tr h="370840">
                <a:tc>
                  <a:txBody>
                    <a:bodyPr/>
                    <a:lstStyle/>
                    <a:p>
                      <a:r>
                        <a:rPr lang="en-US" dirty="0" smtClean="0"/>
                        <a:t>Inheritance</a:t>
                      </a:r>
                      <a:endParaRPr lang="en-US" dirty="0"/>
                    </a:p>
                  </a:txBody>
                  <a:tcPr/>
                </a:tc>
                <a:tc>
                  <a:txBody>
                    <a:bodyPr/>
                    <a:lstStyle/>
                    <a:p>
                      <a:r>
                        <a:rPr lang="en-US" dirty="0" smtClean="0"/>
                        <a:t>Support Inheritance</a:t>
                      </a:r>
                      <a:endParaRPr lang="en-US" dirty="0"/>
                    </a:p>
                  </a:txBody>
                  <a:tcPr/>
                </a:tc>
                <a:tc>
                  <a:txBody>
                    <a:bodyPr/>
                    <a:lstStyle/>
                    <a:p>
                      <a:r>
                        <a:rPr lang="en-US" dirty="0" smtClean="0"/>
                        <a:t>Do not support inheritance</a:t>
                      </a:r>
                      <a:endParaRPr lang="en-US" dirty="0"/>
                    </a:p>
                  </a:txBody>
                  <a:tcPr/>
                </a:tc>
              </a:tr>
              <a:tr h="370840">
                <a:tc>
                  <a:txBody>
                    <a:bodyPr/>
                    <a:lstStyle/>
                    <a:p>
                      <a:r>
                        <a:rPr lang="en-US" dirty="0" smtClean="0"/>
                        <a:t>Default</a:t>
                      </a:r>
                      <a:r>
                        <a:rPr lang="en-US" baseline="0" dirty="0" smtClean="0"/>
                        <a:t> values</a:t>
                      </a:r>
                      <a:endParaRPr lang="en-US" dirty="0"/>
                    </a:p>
                  </a:txBody>
                  <a:tcPr/>
                </a:tc>
                <a:tc>
                  <a:txBody>
                    <a:bodyPr/>
                    <a:lstStyle/>
                    <a:p>
                      <a:r>
                        <a:rPr lang="en-US" dirty="0" smtClean="0"/>
                        <a:t>Default value of a class type is null</a:t>
                      </a:r>
                      <a:endParaRPr lang="en-US" dirty="0"/>
                    </a:p>
                  </a:txBody>
                  <a:tcPr/>
                </a:tc>
                <a:tc>
                  <a:txBody>
                    <a:bodyPr/>
                    <a:lstStyle/>
                    <a:p>
                      <a:r>
                        <a:rPr lang="en-US" dirty="0" smtClean="0"/>
                        <a:t>Default value is the value produced by</a:t>
                      </a:r>
                      <a:r>
                        <a:rPr lang="en-US" baseline="0" dirty="0" smtClean="0"/>
                        <a:t> ‘zeroing out’ the fields of </a:t>
                      </a:r>
                      <a:r>
                        <a:rPr lang="en-US" baseline="0" dirty="0" err="1" smtClean="0"/>
                        <a:t>structs</a:t>
                      </a:r>
                      <a:endParaRPr lang="en-US" dirty="0"/>
                    </a:p>
                  </a:txBody>
                  <a:tcPr/>
                </a:tc>
              </a:tr>
              <a:tr h="370840">
                <a:tc>
                  <a:txBody>
                    <a:bodyPr/>
                    <a:lstStyle/>
                    <a:p>
                      <a:r>
                        <a:rPr lang="en-US" dirty="0" smtClean="0"/>
                        <a:t>Field </a:t>
                      </a:r>
                      <a:r>
                        <a:rPr lang="en-US" dirty="0" err="1" smtClean="0"/>
                        <a:t>initialzation</a:t>
                      </a:r>
                      <a:r>
                        <a:rPr lang="en-US" dirty="0" smtClean="0"/>
                        <a:t> </a:t>
                      </a:r>
                      <a:endParaRPr lang="en-US" dirty="0"/>
                    </a:p>
                  </a:txBody>
                  <a:tcPr/>
                </a:tc>
                <a:tc>
                  <a:txBody>
                    <a:bodyPr/>
                    <a:lstStyle/>
                    <a:p>
                      <a:r>
                        <a:rPr lang="en-US" dirty="0" smtClean="0"/>
                        <a:t>Permit</a:t>
                      </a:r>
                      <a:r>
                        <a:rPr lang="en-US" baseline="0" dirty="0" smtClean="0"/>
                        <a:t> initialization of instance fields</a:t>
                      </a:r>
                      <a:endParaRPr lang="en-US" dirty="0"/>
                    </a:p>
                  </a:txBody>
                  <a:tcPr/>
                </a:tc>
                <a:tc>
                  <a:txBody>
                    <a:bodyPr/>
                    <a:lstStyle/>
                    <a:p>
                      <a:r>
                        <a:rPr lang="en-US" dirty="0" smtClean="0"/>
                        <a:t>Do not permit initialization of instance fields</a:t>
                      </a:r>
                      <a:endParaRPr lang="en-US" dirty="0"/>
                    </a:p>
                  </a:txBody>
                  <a:tcPr/>
                </a:tc>
              </a:tr>
              <a:tr h="370840">
                <a:tc>
                  <a:txBody>
                    <a:bodyPr/>
                    <a:lstStyle/>
                    <a:p>
                      <a:r>
                        <a:rPr lang="en-US" dirty="0" smtClean="0"/>
                        <a:t>Constructors</a:t>
                      </a:r>
                      <a:endParaRPr lang="en-US" dirty="0"/>
                    </a:p>
                  </a:txBody>
                  <a:tcPr/>
                </a:tc>
                <a:tc>
                  <a:txBody>
                    <a:bodyPr/>
                    <a:lstStyle/>
                    <a:p>
                      <a:r>
                        <a:rPr lang="en-US" dirty="0" smtClean="0"/>
                        <a:t>Permit declaration of parameter less constructors</a:t>
                      </a:r>
                      <a:endParaRPr lang="en-US" dirty="0"/>
                    </a:p>
                  </a:txBody>
                  <a:tcPr/>
                </a:tc>
                <a:tc>
                  <a:txBody>
                    <a:bodyPr/>
                    <a:lstStyle/>
                    <a:p>
                      <a:r>
                        <a:rPr lang="en-US" smtClean="0"/>
                        <a:t>Do not permit </a:t>
                      </a:r>
                      <a:r>
                        <a:rPr lang="en-US" dirty="0" smtClean="0"/>
                        <a:t>declaration of parameter less constructors</a:t>
                      </a:r>
                      <a:endParaRPr lang="en-US" dirty="0"/>
                    </a:p>
                  </a:txBody>
                  <a:tcPr/>
                </a:tc>
              </a:tr>
              <a:tr h="370840">
                <a:tc>
                  <a:txBody>
                    <a:bodyPr/>
                    <a:lstStyle/>
                    <a:p>
                      <a:r>
                        <a:rPr lang="en-US" dirty="0" smtClean="0"/>
                        <a:t>Destructors</a:t>
                      </a:r>
                      <a:endParaRPr lang="en-US" dirty="0"/>
                    </a:p>
                  </a:txBody>
                  <a:tcPr/>
                </a:tc>
                <a:tc>
                  <a:txBody>
                    <a:bodyPr/>
                    <a:lstStyle/>
                    <a:p>
                      <a:r>
                        <a:rPr lang="en-US" dirty="0" smtClean="0"/>
                        <a:t>Supports</a:t>
                      </a:r>
                      <a:endParaRPr lang="en-US" dirty="0"/>
                    </a:p>
                  </a:txBody>
                  <a:tcPr/>
                </a:tc>
                <a:tc>
                  <a:txBody>
                    <a:bodyPr/>
                    <a:lstStyle/>
                    <a:p>
                      <a:r>
                        <a:rPr lang="en-US" dirty="0" smtClean="0"/>
                        <a:t>Not supported</a:t>
                      </a:r>
                      <a:endParaRPr lang="en-US" dirty="0"/>
                    </a:p>
                  </a:txBody>
                  <a:tcPr/>
                </a:tc>
              </a:tr>
              <a:tr h="370840">
                <a:tc>
                  <a:txBody>
                    <a:bodyPr/>
                    <a:lstStyle/>
                    <a:p>
                      <a:r>
                        <a:rPr lang="en-US" dirty="0" smtClean="0"/>
                        <a:t>Assignment</a:t>
                      </a:r>
                      <a:endParaRPr lang="en-US" dirty="0"/>
                    </a:p>
                  </a:txBody>
                  <a:tcPr/>
                </a:tc>
                <a:tc>
                  <a:txBody>
                    <a:bodyPr/>
                    <a:lstStyle/>
                    <a:p>
                      <a:r>
                        <a:rPr lang="en-US" dirty="0" smtClean="0"/>
                        <a:t>Assignment copies the reference</a:t>
                      </a:r>
                      <a:endParaRPr lang="en-US" dirty="0"/>
                    </a:p>
                  </a:txBody>
                  <a:tcPr/>
                </a:tc>
                <a:tc>
                  <a:txBody>
                    <a:bodyPr/>
                    <a:lstStyle/>
                    <a:p>
                      <a:r>
                        <a:rPr lang="en-US" dirty="0" smtClean="0"/>
                        <a:t>Assignment copies the values.</a:t>
                      </a:r>
                      <a:endParaRPr lang="en-US" dirty="0"/>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sz="3600" dirty="0" smtClean="0"/>
              <a:t>Differences between classes and </a:t>
            </a:r>
            <a:r>
              <a:rPr lang="en-US" sz="3600" dirty="0" err="1" smtClean="0"/>
              <a:t>structs</a:t>
            </a:r>
            <a:endParaRPr lang="en-US" sz="3600" dirty="0"/>
          </a:p>
        </p:txBody>
      </p:sp>
      <p:graphicFrame>
        <p:nvGraphicFramePr>
          <p:cNvPr id="4" name="Content Placeholder 3"/>
          <p:cNvGraphicFramePr>
            <a:graphicFrameLocks noGrp="1"/>
          </p:cNvGraphicFramePr>
          <p:nvPr>
            <p:ph idx="1"/>
          </p:nvPr>
        </p:nvGraphicFramePr>
        <p:xfrm>
          <a:off x="457200" y="914400"/>
          <a:ext cx="8229600" cy="3581400"/>
        </p:xfrm>
        <a:graphic>
          <a:graphicData uri="http://schemas.openxmlformats.org/drawingml/2006/table">
            <a:tbl>
              <a:tblPr firstRow="1" bandRow="1">
                <a:tableStyleId>{5C22544A-7EE6-4342-B048-85BDC9FD1C3A}</a:tableStyleId>
              </a:tblPr>
              <a:tblGrid>
                <a:gridCol w="1981200"/>
                <a:gridCol w="3200400"/>
                <a:gridCol w="3048000"/>
              </a:tblGrid>
              <a:tr h="370840">
                <a:tc>
                  <a:txBody>
                    <a:bodyPr/>
                    <a:lstStyle/>
                    <a:p>
                      <a:r>
                        <a:rPr lang="en-US" dirty="0" smtClean="0"/>
                        <a:t>Categories</a:t>
                      </a:r>
                      <a:endParaRPr lang="en-US" dirty="0"/>
                    </a:p>
                  </a:txBody>
                  <a:tcPr/>
                </a:tc>
                <a:tc>
                  <a:txBody>
                    <a:bodyPr/>
                    <a:lstStyle/>
                    <a:p>
                      <a:r>
                        <a:rPr lang="en-US" dirty="0" smtClean="0"/>
                        <a:t>Class</a:t>
                      </a:r>
                      <a:endParaRPr lang="en-US" dirty="0"/>
                    </a:p>
                  </a:txBody>
                  <a:tcPr/>
                </a:tc>
                <a:tc>
                  <a:txBody>
                    <a:bodyPr/>
                    <a:lstStyle/>
                    <a:p>
                      <a:r>
                        <a:rPr lang="en-US" dirty="0" smtClean="0"/>
                        <a:t>Structure</a:t>
                      </a:r>
                      <a:endParaRPr lang="en-US" dirty="0"/>
                    </a:p>
                  </a:txBody>
                  <a:tcPr/>
                </a:tc>
              </a:tr>
              <a:tr h="370840">
                <a:tc>
                  <a:txBody>
                    <a:bodyPr/>
                    <a:lstStyle/>
                    <a:p>
                      <a:r>
                        <a:rPr lang="en-US" dirty="0" smtClean="0"/>
                        <a:t>Consume</a:t>
                      </a:r>
                      <a:endParaRPr lang="en-US" dirty="0"/>
                    </a:p>
                  </a:txBody>
                  <a:tcPr/>
                </a:tc>
                <a:tc>
                  <a:txBody>
                    <a:bodyPr/>
                    <a:lstStyle/>
                    <a:p>
                      <a:r>
                        <a:rPr lang="en-US" dirty="0" smtClean="0"/>
                        <a:t>Class can</a:t>
                      </a:r>
                      <a:r>
                        <a:rPr lang="en-US" baseline="0" dirty="0" smtClean="0"/>
                        <a:t> be consumed from another class by inheritance /by object creation from structure by </a:t>
                      </a:r>
                      <a:r>
                        <a:rPr lang="en-US" baseline="0" dirty="0" err="1" smtClean="0"/>
                        <a:t>obj</a:t>
                      </a:r>
                      <a:r>
                        <a:rPr lang="en-US" baseline="0" dirty="0" smtClean="0"/>
                        <a:t> creation</a:t>
                      </a:r>
                      <a:endParaRPr lang="en-US" dirty="0"/>
                    </a:p>
                  </a:txBody>
                  <a:tcPr/>
                </a:tc>
                <a:tc>
                  <a:txBody>
                    <a:bodyPr/>
                    <a:lstStyle/>
                    <a:p>
                      <a:r>
                        <a:rPr lang="en-US" dirty="0" smtClean="0"/>
                        <a:t>We can consume a </a:t>
                      </a:r>
                      <a:r>
                        <a:rPr lang="en-US" dirty="0" err="1" smtClean="0"/>
                        <a:t>struct</a:t>
                      </a:r>
                      <a:r>
                        <a:rPr lang="en-US" dirty="0" smtClean="0"/>
                        <a:t> from another </a:t>
                      </a:r>
                      <a:r>
                        <a:rPr lang="en-US" dirty="0" err="1" smtClean="0"/>
                        <a:t>struct</a:t>
                      </a:r>
                      <a:r>
                        <a:rPr lang="en-US" dirty="0" smtClean="0"/>
                        <a:t>/a class  only</a:t>
                      </a:r>
                      <a:r>
                        <a:rPr lang="en-US" baseline="0" dirty="0" smtClean="0"/>
                        <a:t> by creating the </a:t>
                      </a:r>
                      <a:r>
                        <a:rPr lang="en-US" baseline="0" dirty="0" err="1" smtClean="0"/>
                        <a:t>obj</a:t>
                      </a:r>
                      <a:endParaRPr lang="en-US" dirty="0"/>
                    </a:p>
                  </a:txBody>
                  <a:tcPr/>
                </a:tc>
              </a:tr>
              <a:tr h="370840">
                <a:tc>
                  <a:txBody>
                    <a:bodyPr/>
                    <a:lstStyle/>
                    <a:p>
                      <a:r>
                        <a:rPr lang="en-US" dirty="0" smtClean="0"/>
                        <a:t>Access</a:t>
                      </a:r>
                      <a:endParaRPr lang="en-US" dirty="0"/>
                    </a:p>
                  </a:txBody>
                  <a:tcPr/>
                </a:tc>
                <a:tc>
                  <a:txBody>
                    <a:bodyPr/>
                    <a:lstStyle/>
                    <a:p>
                      <a:r>
                        <a:rPr lang="en-US" dirty="0" smtClean="0"/>
                        <a:t>Not faster in access then a structure</a:t>
                      </a:r>
                      <a:endParaRPr lang="en-US" dirty="0"/>
                    </a:p>
                  </a:txBody>
                  <a:tcPr/>
                </a:tc>
                <a:tc>
                  <a:txBody>
                    <a:bodyPr/>
                    <a:lstStyle/>
                    <a:p>
                      <a:r>
                        <a:rPr lang="en-US" dirty="0" smtClean="0"/>
                        <a:t>Faster in access</a:t>
                      </a:r>
                      <a:endParaRPr lang="en-US" dirty="0"/>
                    </a:p>
                  </a:txBody>
                  <a:tcPr/>
                </a:tc>
              </a:tr>
              <a:tr h="370840">
                <a:tc>
                  <a:txBody>
                    <a:bodyPr/>
                    <a:lstStyle/>
                    <a:p>
                      <a:r>
                        <a:rPr lang="en-US" dirty="0" smtClean="0"/>
                        <a:t>New operator</a:t>
                      </a:r>
                      <a:endParaRPr lang="en-US" dirty="0"/>
                    </a:p>
                  </a:txBody>
                  <a:tcPr/>
                </a:tc>
                <a:tc>
                  <a:txBody>
                    <a:bodyPr/>
                    <a:lstStyle/>
                    <a:p>
                      <a:r>
                        <a:rPr lang="en-US" dirty="0" smtClean="0"/>
                        <a:t>Require ‘new ’ operator for creating object</a:t>
                      </a:r>
                      <a:endParaRPr lang="en-US" dirty="0"/>
                    </a:p>
                  </a:txBody>
                  <a:tcPr/>
                </a:tc>
                <a:tc>
                  <a:txBody>
                    <a:bodyPr/>
                    <a:lstStyle/>
                    <a:p>
                      <a:r>
                        <a:rPr lang="en-US" dirty="0" smtClean="0"/>
                        <a:t>‘new ’ operator is optional to create its object.</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r>
              <a:tr h="370840">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Enumerations</a:t>
            </a:r>
            <a:endParaRPr lang="en-US" dirty="0"/>
          </a:p>
        </p:txBody>
      </p:sp>
      <p:sp>
        <p:nvSpPr>
          <p:cNvPr id="3" name="Content Placeholder 2"/>
          <p:cNvSpPr>
            <a:spLocks noGrp="1"/>
          </p:cNvSpPr>
          <p:nvPr>
            <p:ph idx="1"/>
          </p:nvPr>
        </p:nvSpPr>
        <p:spPr>
          <a:xfrm>
            <a:off x="457200" y="990600"/>
            <a:ext cx="8229600" cy="5135563"/>
          </a:xfrm>
        </p:spPr>
        <p:txBody>
          <a:bodyPr/>
          <a:lstStyle/>
          <a:p>
            <a:r>
              <a:rPr lang="en-US" dirty="0" smtClean="0"/>
              <a:t>An enumeration is a user-defined integer type which provides a way for attaching names to members, thereby increasing the comprehensibility of the code.</a:t>
            </a:r>
          </a:p>
          <a:p>
            <a:r>
              <a:rPr lang="en-US" dirty="0" smtClean="0"/>
              <a:t>The </a:t>
            </a:r>
            <a:r>
              <a:rPr lang="en-US" dirty="0" err="1" smtClean="0"/>
              <a:t>enum</a:t>
            </a:r>
            <a:r>
              <a:rPr lang="en-US" dirty="0" smtClean="0"/>
              <a:t> keywords automatically enumerates a list of words by assigning them values 0,1,2, and so </a:t>
            </a:r>
            <a:r>
              <a:rPr lang="en-US" dirty="0" err="1" smtClean="0"/>
              <a:t>on.this</a:t>
            </a:r>
            <a:r>
              <a:rPr lang="en-US" dirty="0" smtClean="0"/>
              <a:t> facility provides an alternative means of creating  ‘constant’ variable </a:t>
            </a:r>
            <a:r>
              <a:rPr lang="en-US" dirty="0" smtClean="0">
                <a:hlinkClick r:id="rId2" action="ppaction://hlinkfile"/>
              </a:rPr>
              <a:t>names</a:t>
            </a:r>
            <a:r>
              <a:rPr lang="en-US" dirty="0" smtClean="0"/>
              <a:t>.</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fontScale="90000"/>
          </a:bodyPr>
          <a:lstStyle/>
          <a:p>
            <a:r>
              <a:rPr lang="en-US" dirty="0" smtClean="0"/>
              <a:t>Enumerator Initialization</a:t>
            </a:r>
            <a:endParaRPr lang="en-US" dirty="0"/>
          </a:p>
        </p:txBody>
      </p:sp>
      <p:sp>
        <p:nvSpPr>
          <p:cNvPr id="3" name="Content Placeholder 2"/>
          <p:cNvSpPr>
            <a:spLocks noGrp="1"/>
          </p:cNvSpPr>
          <p:nvPr>
            <p:ph idx="1"/>
          </p:nvPr>
        </p:nvSpPr>
        <p:spPr>
          <a:xfrm>
            <a:off x="457200" y="914400"/>
            <a:ext cx="8229600" cy="5211763"/>
          </a:xfrm>
        </p:spPr>
        <p:txBody>
          <a:bodyPr/>
          <a:lstStyle/>
          <a:p>
            <a:r>
              <a:rPr lang="en-US" dirty="0" smtClean="0"/>
              <a:t>By </a:t>
            </a:r>
            <a:r>
              <a:rPr lang="en-US" dirty="0" err="1" smtClean="0"/>
              <a:t>defult</a:t>
            </a:r>
            <a:r>
              <a:rPr lang="en-US" dirty="0" smtClean="0"/>
              <a:t> the value of the first </a:t>
            </a:r>
            <a:r>
              <a:rPr lang="en-US" dirty="0" err="1" smtClean="0"/>
              <a:t>enum</a:t>
            </a:r>
            <a:r>
              <a:rPr lang="en-US" dirty="0" smtClean="0"/>
              <a:t> member is set to 0,and that of each subsequent member is incremented by one.</a:t>
            </a:r>
          </a:p>
          <a:p>
            <a:r>
              <a:rPr lang="en-US" dirty="0" smtClean="0"/>
              <a:t>If it is the first </a:t>
            </a:r>
            <a:r>
              <a:rPr lang="en-US" dirty="0" err="1" smtClean="0"/>
              <a:t>number,it</a:t>
            </a:r>
            <a:r>
              <a:rPr lang="en-US" dirty="0" smtClean="0"/>
              <a:t> is value is zero.</a:t>
            </a:r>
          </a:p>
          <a:p>
            <a:r>
              <a:rPr lang="en-US" dirty="0" smtClean="0"/>
              <a:t>Otherwise , its value is obtained by adding one to the value of previous member.</a:t>
            </a:r>
          </a:p>
          <a:p>
            <a:pPr>
              <a:buNone/>
            </a:pPr>
            <a:r>
              <a:rPr lang="en-US" dirty="0" err="1" smtClean="0"/>
              <a:t>Enum</a:t>
            </a:r>
            <a:r>
              <a:rPr lang="en-US" dirty="0" smtClean="0"/>
              <a:t> alphabet {</a:t>
            </a:r>
            <a:r>
              <a:rPr lang="en-US" dirty="0" err="1" smtClean="0"/>
              <a:t>A,b</a:t>
            </a:r>
            <a:r>
              <a:rPr lang="en-US" dirty="0" smtClean="0"/>
              <a:t>=5,C,D=20,E}</a:t>
            </a:r>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Destructors</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It was also a method same as constructor where as a constructor gets called when the object of class gets created and destructor method gets called when the object of class gets destructed.</a:t>
            </a:r>
          </a:p>
          <a:p>
            <a:r>
              <a:rPr lang="en-US" dirty="0" smtClean="0"/>
              <a:t>A destructor method will also have the same name of class prefixed with tilde operator(~)</a:t>
            </a:r>
          </a:p>
          <a:p>
            <a:r>
              <a:rPr lang="en-US" dirty="0" smtClean="0"/>
              <a:t>A destructor cannot have any modifiers or parameters to it.</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639762"/>
          </a:xfrm>
        </p:spPr>
        <p:txBody>
          <a:bodyPr>
            <a:normAutofit fontScale="90000"/>
          </a:bodyPr>
          <a:lstStyle/>
          <a:p>
            <a:r>
              <a:rPr lang="en-US" dirty="0" smtClean="0"/>
              <a:t>Destructors(cont..)</a:t>
            </a:r>
            <a:endParaRPr lang="en-US" dirty="0"/>
          </a:p>
        </p:txBody>
      </p:sp>
      <p:sp>
        <p:nvSpPr>
          <p:cNvPr id="3" name="Content Placeholder 2"/>
          <p:cNvSpPr>
            <a:spLocks noGrp="1"/>
          </p:cNvSpPr>
          <p:nvPr>
            <p:ph idx="1"/>
          </p:nvPr>
        </p:nvSpPr>
        <p:spPr>
          <a:xfrm>
            <a:off x="457200" y="762000"/>
            <a:ext cx="8229600" cy="5364163"/>
          </a:xfrm>
        </p:spPr>
        <p:txBody>
          <a:bodyPr>
            <a:normAutofit fontScale="92500" lnSpcReduction="20000"/>
          </a:bodyPr>
          <a:lstStyle/>
          <a:p>
            <a:r>
              <a:rPr lang="en-US" dirty="0" smtClean="0"/>
              <a:t>The destructors gets invoked  internally when the object of class destroyed by the Garbage collector. </a:t>
            </a:r>
          </a:p>
          <a:p>
            <a:r>
              <a:rPr lang="en-US" dirty="0" smtClean="0"/>
              <a:t>Garbage collector comes into picture to destroy the object of class in any of the following scenarios.</a:t>
            </a:r>
          </a:p>
          <a:p>
            <a:pPr marL="514350" indent="-514350">
              <a:buFont typeface="+mj-lt"/>
              <a:buAutoNum type="arabicPeriod"/>
            </a:pPr>
            <a:r>
              <a:rPr lang="en-US" dirty="0" smtClean="0"/>
              <a:t>Once the program execution is completed immediately its comes into picture.</a:t>
            </a:r>
          </a:p>
          <a:p>
            <a:pPr marL="514350" indent="-514350">
              <a:buFont typeface="+mj-lt"/>
              <a:buAutoNum type="arabicPeriod"/>
            </a:pPr>
            <a:r>
              <a:rPr lang="en-US" dirty="0" smtClean="0"/>
              <a:t>When the member resources are full while executing the program then also GC comes into picture to destroy  unused objects from the memory.</a:t>
            </a:r>
          </a:p>
          <a:p>
            <a:pPr marL="514350" indent="-514350">
              <a:buFont typeface="+mj-lt"/>
              <a:buAutoNum type="arabicPeriod"/>
            </a:pPr>
            <a:r>
              <a:rPr lang="en-US" dirty="0" smtClean="0"/>
              <a:t>We can call GC explicitly </a:t>
            </a:r>
            <a:r>
              <a:rPr lang="en-US" dirty="0" smtClean="0">
                <a:hlinkClick r:id="rId2" action="ppaction://hlinkfile"/>
              </a:rPr>
              <a:t>using</a:t>
            </a:r>
            <a:r>
              <a:rPr lang="en-US" dirty="0" smtClean="0"/>
              <a:t> “</a:t>
            </a:r>
            <a:r>
              <a:rPr lang="en-US" dirty="0" err="1" smtClean="0"/>
              <a:t>GC.collect</a:t>
            </a:r>
            <a:r>
              <a:rPr lang="en-US" dirty="0" smtClean="0"/>
              <a:t>()”.</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The result is ,where we can see call to constructors &amp; destructor of both the classes as the execution of program is completed after object creation GC has destroyed the object also.</a:t>
            </a:r>
          </a:p>
          <a:p>
            <a:r>
              <a:rPr lang="en-US" dirty="0" smtClean="0"/>
              <a:t>Note:- when constructors are called they called from top of the hierarchy in inheritance where as Destructors are called from the bottom of the hierarchy.</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lstStyle/>
          <a:p>
            <a:r>
              <a:rPr lang="en-US" dirty="0" smtClean="0"/>
              <a:t>Now uncomment the </a:t>
            </a:r>
            <a:r>
              <a:rPr lang="en-US" dirty="0" err="1" smtClean="0"/>
              <a:t>Console.ReadLine</a:t>
            </a:r>
            <a:r>
              <a:rPr lang="en-US" dirty="0" smtClean="0"/>
              <a:t> statement &amp; execute the program .using F5 where u can watch only constructor call but not destructor call because the program execution is not still completed GC did not come into picture for destroying the object.</a:t>
            </a:r>
          </a:p>
          <a:p>
            <a:r>
              <a:rPr lang="en-US" dirty="0" smtClean="0"/>
              <a:t>To explicitly call the GC for destroying the object by completion of programs execution uncomment the remaining 2 lines of code and run the program.</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745163"/>
          </a:xfrm>
        </p:spPr>
        <p:txBody>
          <a:bodyPr>
            <a:normAutofit fontScale="92500" lnSpcReduction="20000"/>
          </a:bodyPr>
          <a:lstStyle/>
          <a:p>
            <a:r>
              <a:rPr lang="en-US" dirty="0" smtClean="0"/>
              <a:t>If we want to perform any action whenever the object of a class is created we write the code under the constructor’s in the same way any actions to be performs when the object of a class is getting  destroyed we need to write the code under it destroy.</a:t>
            </a:r>
          </a:p>
          <a:p>
            <a:r>
              <a:rPr lang="en-US" dirty="0" smtClean="0"/>
              <a:t>Basically destructor are not required in managed language because GC will take care of the resource management but in some cases we may use unmanaged resources(</a:t>
            </a:r>
            <a:r>
              <a:rPr lang="en-US" dirty="0" err="1" smtClean="0"/>
              <a:t>file,DB</a:t>
            </a:r>
            <a:r>
              <a:rPr lang="en-US" dirty="0" smtClean="0"/>
              <a:t>) in the application which cannot be managed by GC to managed those unmanaged resources like closeting of the files. closing of db connection we use destructors.</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Multithreading</a:t>
            </a:r>
            <a:endParaRPr lang="en-US" dirty="0"/>
          </a:p>
        </p:txBody>
      </p:sp>
      <p:sp>
        <p:nvSpPr>
          <p:cNvPr id="3" name="Content Placeholder 2"/>
          <p:cNvSpPr>
            <a:spLocks noGrp="1"/>
          </p:cNvSpPr>
          <p:nvPr>
            <p:ph idx="1"/>
          </p:nvPr>
        </p:nvSpPr>
        <p:spPr>
          <a:xfrm>
            <a:off x="457200" y="914400"/>
            <a:ext cx="8229600" cy="5211763"/>
          </a:xfrm>
        </p:spPr>
        <p:txBody>
          <a:bodyPr/>
          <a:lstStyle/>
          <a:p>
            <a:r>
              <a:rPr lang="en-US" dirty="0" smtClean="0"/>
              <a:t>A single program performing multiple actions in a simultaneous passion is known as multithreading .</a:t>
            </a:r>
          </a:p>
          <a:p>
            <a:r>
              <a:rPr lang="en-US" dirty="0" smtClean="0"/>
              <a:t>Earlier we have an approach multitasking in which multiple program can execute of the same time which is a feature supported by the </a:t>
            </a:r>
            <a:r>
              <a:rPr lang="en-US" dirty="0" err="1" smtClean="0"/>
              <a:t>os</a:t>
            </a:r>
            <a:r>
              <a:rPr lang="en-US" dirty="0" smtClean="0"/>
              <a:t>.</a:t>
            </a:r>
          </a:p>
          <a:p>
            <a:r>
              <a:rPr lang="en-US" dirty="0" smtClean="0"/>
              <a:t>Dos is single tasking </a:t>
            </a:r>
            <a:r>
              <a:rPr lang="en-US" dirty="0" err="1" smtClean="0"/>
              <a:t>os</a:t>
            </a:r>
            <a:r>
              <a:rPr lang="en-US" dirty="0" smtClean="0"/>
              <a:t>.</a:t>
            </a:r>
          </a:p>
          <a:p>
            <a:r>
              <a:rPr lang="en-US" dirty="0" smtClean="0"/>
              <a:t>Linux, </a:t>
            </a:r>
            <a:r>
              <a:rPr lang="en-US" dirty="0" err="1" smtClean="0"/>
              <a:t>unix</a:t>
            </a:r>
            <a:r>
              <a:rPr lang="en-US" dirty="0" smtClean="0"/>
              <a:t>, windows ..multitasking </a:t>
            </a:r>
            <a:r>
              <a:rPr lang="en-US" dirty="0" err="1" smtClean="0"/>
              <a:t>os</a:t>
            </a:r>
            <a:r>
              <a:rPr lang="en-US" dirty="0" smtClean="0"/>
              <a: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Multithreading(cont..)</a:t>
            </a:r>
            <a:endParaRPr lang="en-US" dirty="0"/>
          </a:p>
        </p:txBody>
      </p:sp>
      <p:sp>
        <p:nvSpPr>
          <p:cNvPr id="3" name="Content Placeholder 2"/>
          <p:cNvSpPr>
            <a:spLocks noGrp="1"/>
          </p:cNvSpPr>
          <p:nvPr>
            <p:ph idx="1"/>
          </p:nvPr>
        </p:nvSpPr>
        <p:spPr>
          <a:xfrm>
            <a:off x="457200" y="838200"/>
            <a:ext cx="8229600" cy="5287963"/>
          </a:xfrm>
        </p:spPr>
        <p:txBody>
          <a:bodyPr>
            <a:normAutofit lnSpcReduction="10000"/>
          </a:bodyPr>
          <a:lstStyle/>
          <a:p>
            <a:r>
              <a:rPr lang="en-US" dirty="0" smtClean="0"/>
              <a:t>Multi threading is performed by the language with the support of </a:t>
            </a:r>
            <a:r>
              <a:rPr lang="en-US" dirty="0" err="1" smtClean="0"/>
              <a:t>os</a:t>
            </a:r>
            <a:r>
              <a:rPr lang="en-US" dirty="0" smtClean="0"/>
              <a:t>.</a:t>
            </a:r>
          </a:p>
          <a:p>
            <a:r>
              <a:rPr lang="en-US" dirty="0" smtClean="0"/>
              <a:t>A thread is a unit of execution by default every program has 1 thread or unit of execution i.e. Main thread which is responsible in executing in any code .so by default every program is single threaded.</a:t>
            </a:r>
          </a:p>
          <a:p>
            <a:r>
              <a:rPr lang="en-US" dirty="0" smtClean="0"/>
              <a:t>In single thread model when there are multiple method in execution as main is only responsible for executing all the methods it executes the method a after the other.</a:t>
            </a:r>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r>
              <a:rPr lang="en-US" dirty="0" smtClean="0"/>
              <a:t>Multithreading(cont..)</a:t>
            </a:r>
            <a:endParaRPr lang="en-US" dirty="0"/>
          </a:p>
        </p:txBody>
      </p:sp>
      <p:sp>
        <p:nvSpPr>
          <p:cNvPr id="3" name="Content Placeholder 2"/>
          <p:cNvSpPr>
            <a:spLocks noGrp="1"/>
          </p:cNvSpPr>
          <p:nvPr>
            <p:ph idx="1"/>
          </p:nvPr>
        </p:nvSpPr>
        <p:spPr>
          <a:xfrm>
            <a:off x="457200" y="838200"/>
            <a:ext cx="8229600" cy="5287963"/>
          </a:xfrm>
        </p:spPr>
        <p:txBody>
          <a:bodyPr>
            <a:normAutofit lnSpcReduction="10000"/>
          </a:bodyPr>
          <a:lstStyle/>
          <a:p>
            <a:r>
              <a:rPr lang="en-US" dirty="0" smtClean="0"/>
              <a:t>Because of this style of execution only after a method is completely executed then only the next method can execute giving performance only for a single method.</a:t>
            </a:r>
          </a:p>
          <a:p>
            <a:r>
              <a:rPr lang="en-US" dirty="0" smtClean="0"/>
              <a:t>To overcome the above problem we come use multiple threading i.e. we can use separate thread for each method to execute.</a:t>
            </a:r>
          </a:p>
          <a:p>
            <a:r>
              <a:rPr lang="en-US" dirty="0" smtClean="0"/>
              <a:t>T1-&gt;method1()</a:t>
            </a:r>
          </a:p>
          <a:p>
            <a:r>
              <a:rPr lang="en-US" dirty="0" smtClean="0"/>
              <a:t>T2-&gt;method2()</a:t>
            </a:r>
          </a:p>
          <a:p>
            <a:r>
              <a:rPr lang="en-US" dirty="0" smtClean="0"/>
              <a:t>T3-&gt;method3()</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Multithreading(cont..)</a:t>
            </a:r>
            <a:endParaRPr lang="en-US" dirty="0"/>
          </a:p>
        </p:txBody>
      </p:sp>
      <p:sp>
        <p:nvSpPr>
          <p:cNvPr id="3" name="Content Placeholder 2"/>
          <p:cNvSpPr>
            <a:spLocks noGrp="1"/>
          </p:cNvSpPr>
          <p:nvPr>
            <p:ph idx="1"/>
          </p:nvPr>
        </p:nvSpPr>
        <p:spPr>
          <a:xfrm>
            <a:off x="457200" y="838200"/>
            <a:ext cx="8229600" cy="5287963"/>
          </a:xfrm>
        </p:spPr>
        <p:txBody>
          <a:bodyPr>
            <a:normAutofit fontScale="92500" lnSpcReduction="20000"/>
          </a:bodyPr>
          <a:lstStyle/>
          <a:p>
            <a:pPr>
              <a:buNone/>
            </a:pPr>
            <a:r>
              <a:rPr lang="en-US" dirty="0" smtClean="0"/>
              <a:t>In this case execution takes place basing on 2 principles.</a:t>
            </a:r>
          </a:p>
          <a:p>
            <a:pPr marL="514350" indent="-514350">
              <a:buFont typeface="+mj-lt"/>
              <a:buAutoNum type="arabicPeriod"/>
            </a:pPr>
            <a:r>
              <a:rPr lang="en-US" dirty="0" smtClean="0"/>
              <a:t>Time sharing:-here </a:t>
            </a:r>
            <a:r>
              <a:rPr lang="en-US" dirty="0" err="1" smtClean="0"/>
              <a:t>os</a:t>
            </a:r>
            <a:r>
              <a:rPr lang="en-US" dirty="0" smtClean="0"/>
              <a:t> reserves some time period for each thread to execute &amp; keeps on transferring control between all the threads giving equal importance to each method to execute.</a:t>
            </a:r>
          </a:p>
          <a:p>
            <a:pPr marL="514350" indent="-514350">
              <a:buFont typeface="+mj-lt"/>
              <a:buAutoNum type="arabicPeriod"/>
            </a:pPr>
            <a:r>
              <a:rPr lang="en-US" dirty="0" smtClean="0"/>
              <a:t>Maximum utilization of resources:- this comes into picture only when the 1</a:t>
            </a:r>
            <a:r>
              <a:rPr lang="en-US" baseline="30000" dirty="0" smtClean="0"/>
              <a:t>st</a:t>
            </a:r>
            <a:r>
              <a:rPr lang="en-US" dirty="0" smtClean="0"/>
              <a:t> principle violates </a:t>
            </a:r>
            <a:r>
              <a:rPr lang="en-US" dirty="0" err="1" smtClean="0"/>
              <a:t>i.e</a:t>
            </a:r>
            <a:r>
              <a:rPr lang="en-US" dirty="0" smtClean="0"/>
              <a:t> if a thread could not execute in its given time period with out waiting for its execution transfers the control to the other thread which is in execution.</a:t>
            </a:r>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Who to create thread</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If we want to create a thread we need to create the object of class thread under </a:t>
            </a:r>
            <a:r>
              <a:rPr lang="en-US" dirty="0" err="1" smtClean="0"/>
              <a:t>System.Threading</a:t>
            </a:r>
            <a:r>
              <a:rPr lang="en-US" dirty="0" smtClean="0"/>
              <a:t> Namespace where each object created for the class is considered as thread &amp; while creating the object a method which has to be called by the thread has to be passed as parameter to its constructor.</a:t>
            </a:r>
          </a:p>
          <a:p>
            <a:r>
              <a:rPr lang="en-US" dirty="0" smtClean="0"/>
              <a:t>Thread (&lt;method Name&gt;)</a:t>
            </a:r>
          </a:p>
          <a:p>
            <a:pPr>
              <a:buNone/>
            </a:pPr>
            <a:r>
              <a:rPr lang="en-US" dirty="0" err="1" smtClean="0"/>
              <a:t>Eg</a:t>
            </a:r>
            <a:r>
              <a:rPr lang="en-US" dirty="0" smtClean="0"/>
              <a:t>:- tread t1=new thread(metod1);</a:t>
            </a:r>
          </a:p>
          <a:p>
            <a:pPr>
              <a:buNone/>
            </a:pPr>
            <a:r>
              <a:rPr lang="en-US" dirty="0" smtClean="0"/>
              <a:t>Thread t2 =new thread(method2);</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dirty="0" smtClean="0"/>
              <a:t>Methods &amp; properties of class thread</a:t>
            </a:r>
            <a:endParaRPr lang="en-US" dirty="0"/>
          </a:p>
        </p:txBody>
      </p:sp>
      <p:sp>
        <p:nvSpPr>
          <p:cNvPr id="3" name="Content Placeholder 2"/>
          <p:cNvSpPr>
            <a:spLocks noGrp="1"/>
          </p:cNvSpPr>
          <p:nvPr>
            <p:ph idx="1"/>
          </p:nvPr>
        </p:nvSpPr>
        <p:spPr>
          <a:xfrm>
            <a:off x="457200" y="838200"/>
            <a:ext cx="8229600" cy="5287963"/>
          </a:xfrm>
        </p:spPr>
        <p:txBody>
          <a:bodyPr/>
          <a:lstStyle/>
          <a:p>
            <a:r>
              <a:rPr lang="en-US" dirty="0" smtClean="0"/>
              <a:t>Start():-used for starting the execution of a thread</a:t>
            </a:r>
          </a:p>
          <a:p>
            <a:r>
              <a:rPr lang="en-US" dirty="0" smtClean="0"/>
              <a:t>Abort():-terminates the execution of a thread</a:t>
            </a:r>
          </a:p>
          <a:p>
            <a:r>
              <a:rPr lang="en-US" dirty="0" smtClean="0"/>
              <a:t>Suspend():- it suspends the execution of a thread until resume was called.</a:t>
            </a:r>
          </a:p>
          <a:p>
            <a:r>
              <a:rPr lang="en-US" dirty="0" smtClean="0"/>
              <a:t>Resume():-resumes a suspended thread</a:t>
            </a:r>
          </a:p>
          <a:p>
            <a:r>
              <a:rPr lang="en-US" dirty="0" smtClean="0"/>
              <a:t>Sleep(</a:t>
            </a:r>
            <a:r>
              <a:rPr lang="en-US" dirty="0" err="1" smtClean="0"/>
              <a:t>int</a:t>
            </a:r>
            <a:r>
              <a:rPr lang="en-US" dirty="0" smtClean="0"/>
              <a:t> milliseconds):- it is a static method which suspends the current executing thread until the specified time period is closed</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200" dirty="0" smtClean="0"/>
              <a:t>Methods &amp; properties of class thread(cont..)</a:t>
            </a:r>
            <a:endParaRPr lang="en-US" sz="3200" dirty="0"/>
          </a:p>
        </p:txBody>
      </p:sp>
      <p:sp>
        <p:nvSpPr>
          <p:cNvPr id="3" name="Content Placeholder 2"/>
          <p:cNvSpPr>
            <a:spLocks noGrp="1"/>
          </p:cNvSpPr>
          <p:nvPr>
            <p:ph idx="1"/>
          </p:nvPr>
        </p:nvSpPr>
        <p:spPr>
          <a:xfrm>
            <a:off x="457200" y="838200"/>
            <a:ext cx="8229600" cy="5287963"/>
          </a:xfrm>
        </p:spPr>
        <p:txBody>
          <a:bodyPr/>
          <a:lstStyle/>
          <a:p>
            <a:r>
              <a:rPr lang="en-US" dirty="0" smtClean="0"/>
              <a:t>Priority:- a property using which we can set the priority for a thread to execute</a:t>
            </a:r>
          </a:p>
          <a:p>
            <a:r>
              <a:rPr lang="en-US" dirty="0" smtClean="0"/>
              <a:t>Join():- this method makes the main thread not to leave the program until the thread which calls join is leaving </a:t>
            </a:r>
            <a:r>
              <a:rPr lang="en-US" dirty="0" smtClean="0">
                <a:hlinkClick r:id="rId2" action="ppaction://hlinkfile"/>
              </a:rPr>
              <a:t>the program</a:t>
            </a:r>
            <a:r>
              <a:rPr lang="en-US" dirty="0" smtClean="0"/>
              <a:t>.</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3562"/>
          </a:xfrm>
        </p:spPr>
        <p:txBody>
          <a:bodyPr>
            <a:normAutofit fontScale="90000"/>
          </a:bodyPr>
          <a:lstStyle/>
          <a:p>
            <a:r>
              <a:rPr lang="en-US" sz="3600" dirty="0" smtClean="0"/>
              <a:t>Thread synchronization or Thread locking</a:t>
            </a:r>
            <a:endParaRPr lang="en-US" sz="3600" dirty="0"/>
          </a:p>
        </p:txBody>
      </p:sp>
      <p:sp>
        <p:nvSpPr>
          <p:cNvPr id="3" name="Content Placeholder 2"/>
          <p:cNvSpPr>
            <a:spLocks noGrp="1"/>
          </p:cNvSpPr>
          <p:nvPr>
            <p:ph idx="1"/>
          </p:nvPr>
        </p:nvSpPr>
        <p:spPr>
          <a:xfrm>
            <a:off x="457200" y="838200"/>
            <a:ext cx="8229600" cy="5287963"/>
          </a:xfrm>
        </p:spPr>
        <p:txBody>
          <a:bodyPr vert="horz">
            <a:normAutofit/>
          </a:bodyPr>
          <a:lstStyle/>
          <a:p>
            <a:r>
              <a:rPr lang="en-US" dirty="0" smtClean="0"/>
              <a:t>In multithreading if multiple threads are trying to access different method we never face any problem. But if multiple threads were trying to access the same method at the same time we get some unexpected results  to check this add a </a:t>
            </a:r>
            <a:r>
              <a:rPr lang="en-US" dirty="0" smtClean="0">
                <a:hlinkClick r:id="rId2" action="ppaction://hlinkfile"/>
              </a:rPr>
              <a:t>new class</a:t>
            </a:r>
            <a:r>
              <a:rPr lang="en-US" dirty="0" smtClean="0"/>
              <a:t> now run the program check the result.</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To resolve the above problem we need to use the thread synchronization/locking mechanism which doesn't allow multiple threads rewrite the code under display method. As following.</a:t>
            </a:r>
          </a:p>
          <a:p>
            <a:pPr>
              <a:buNone/>
            </a:pPr>
            <a:r>
              <a:rPr lang="en-US" dirty="0" smtClean="0"/>
              <a:t>Public void Display()</a:t>
            </a:r>
          </a:p>
          <a:p>
            <a:pPr>
              <a:buNone/>
            </a:pPr>
            <a:r>
              <a:rPr lang="en-US" dirty="0" smtClean="0"/>
              <a:t>{ lock(this)</a:t>
            </a:r>
          </a:p>
          <a:p>
            <a:pPr>
              <a:buNone/>
            </a:pPr>
            <a:r>
              <a:rPr lang="en-US" dirty="0" smtClean="0"/>
              <a:t>{	</a:t>
            </a:r>
            <a:r>
              <a:rPr lang="en-US" dirty="0" err="1" smtClean="0"/>
              <a:t>Console.WriteLine</a:t>
            </a:r>
            <a:r>
              <a:rPr lang="en-US" dirty="0" smtClean="0"/>
              <a:t>(“c# is”);</a:t>
            </a:r>
            <a:r>
              <a:rPr lang="en-US" dirty="0" err="1" smtClean="0"/>
              <a:t>Thread.Sleep</a:t>
            </a:r>
            <a:r>
              <a:rPr lang="en-US" dirty="0" smtClean="0"/>
              <a:t>(500);</a:t>
            </a:r>
          </a:p>
          <a:p>
            <a:pPr>
              <a:buNone/>
            </a:pPr>
            <a:r>
              <a:rPr lang="en-US" dirty="0" err="1" smtClean="0"/>
              <a:t>Console.WriteLine</a:t>
            </a:r>
            <a:r>
              <a:rPr lang="en-US" dirty="0" smtClean="0"/>
              <a:t>(“object Oriented”);}</a:t>
            </a:r>
          </a:p>
          <a:p>
            <a:pPr>
              <a:buNone/>
            </a:pPr>
            <a:r>
              <a:rPr lang="en-US" dirty="0" smtClean="0"/>
              <a:t>}</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8229600" cy="5668963"/>
          </a:xfrm>
        </p:spPr>
        <p:txBody>
          <a:bodyPr/>
          <a:lstStyle/>
          <a:p>
            <a:r>
              <a:rPr lang="en-US" dirty="0" smtClean="0"/>
              <a:t>When we lock the code under a method internally a monitor get created around the </a:t>
            </a:r>
            <a:r>
              <a:rPr lang="en-US" dirty="0" err="1" smtClean="0"/>
              <a:t>obj</a:t>
            </a:r>
            <a:r>
              <a:rPr lang="en-US" dirty="0" smtClean="0"/>
              <a:t> of class allowing only 1 thread </a:t>
            </a:r>
            <a:r>
              <a:rPr lang="en-US" dirty="0" err="1" smtClean="0"/>
              <a:t>int</a:t>
            </a:r>
            <a:r>
              <a:rPr lang="en-US" dirty="0" smtClean="0"/>
              <a:t> it at any given point of </a:t>
            </a:r>
            <a:r>
              <a:rPr lang="en-US" smtClean="0"/>
              <a:t>time Even if </a:t>
            </a:r>
            <a:r>
              <a:rPr lang="en-US" dirty="0" smtClean="0"/>
              <a:t>the thread inside the monitor is sleeping also other threads can’t access the method &amp; they need to wait in the ‘Q’ for the thread inside the monitor to come out.</a:t>
            </a:r>
            <a:endParaRPr lang="en-US"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TotalTime>
  <Words>1584</Words>
  <Application>Microsoft Office PowerPoint</Application>
  <PresentationFormat>On-screen Show (4:3)</PresentationFormat>
  <Paragraphs>133</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Structures and Enumeration</vt:lpstr>
      <vt:lpstr>Structures </vt:lpstr>
      <vt:lpstr>Structures (cont..)</vt:lpstr>
      <vt:lpstr>Defining a struct</vt:lpstr>
      <vt:lpstr>Defining a struct </vt:lpstr>
      <vt:lpstr>Slide 6</vt:lpstr>
      <vt:lpstr>Structs with methods</vt:lpstr>
      <vt:lpstr>Differences between classes and structs</vt:lpstr>
      <vt:lpstr>Differences between classes and structs</vt:lpstr>
      <vt:lpstr>Enumerations</vt:lpstr>
      <vt:lpstr>Enumerator Initialization</vt:lpstr>
      <vt:lpstr>Destructors</vt:lpstr>
      <vt:lpstr>Destructors(cont..)</vt:lpstr>
      <vt:lpstr>Slide 14</vt:lpstr>
      <vt:lpstr>Slide 15</vt:lpstr>
      <vt:lpstr>Slide 16</vt:lpstr>
      <vt:lpstr>Multithreading</vt:lpstr>
      <vt:lpstr>Multithreading(cont..)</vt:lpstr>
      <vt:lpstr>Multithreading(cont..)</vt:lpstr>
      <vt:lpstr>Multithreading(cont..)</vt:lpstr>
      <vt:lpstr>Who to create thread</vt:lpstr>
      <vt:lpstr>Methods &amp; properties of class thread</vt:lpstr>
      <vt:lpstr>Methods &amp; properties of class thread(cont..)</vt:lpstr>
      <vt:lpstr>Thread synchronization or Thread locking</vt:lpstr>
      <vt:lpstr>Slide 25</vt:lpstr>
      <vt:lpstr>Slide 26</vt:lpstr>
      <vt:lpstr>Slide 27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Structures and Enumeration</dc:title>
  <dc:creator>krishna</dc:creator>
  <cp:lastModifiedBy>krishna</cp:lastModifiedBy>
  <cp:revision>48</cp:revision>
  <dcterms:created xsi:type="dcterms:W3CDTF">2011-11-23T02:26:40Z</dcterms:created>
  <dcterms:modified xsi:type="dcterms:W3CDTF">2011-11-26T11:49:57Z</dcterms:modified>
</cp:coreProperties>
</file>