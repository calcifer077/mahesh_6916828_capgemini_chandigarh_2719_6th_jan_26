
<file path=[Content_Types].xml><?xml version="1.0" encoding="utf-8"?>
<Types xmlns="http://schemas.openxmlformats.org/package/2006/content-types">
  <Override PartName="/ppt/slides/slide5.xml" ContentType="application/vnd.openxmlformats-officedocument.presentationml.slide+xml"/>
  <Override PartName="/ppt/slides/slide6.xml" ContentType="application/vnd.openxmlformats-officedocument.presentationml.slide+xml"/>
  <Override PartName="/ppt/slides/slide19.xml" ContentType="application/vnd.openxmlformats-officedocument.presentationml.slide+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Masters/slideMaster1.xml" ContentType="application/vnd.openxmlformats-officedocument.presentationml.slideMaster+xml"/>
  <Override PartName="/ppt/slides/slide3.xml" ContentType="application/vnd.openxmlformats-officedocument.presentationml.slide+xml"/>
  <Override PartName="/ppt/slides/slide4.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presProps.xml" ContentType="application/vnd.openxmlformats-officedocument.presentationml.presProps+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s/slide1.xml" ContentType="application/vnd.openxmlformats-officedocument.presentationml.slide+xml"/>
  <Override PartName="/ppt/slides/slide2.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slideLayouts/slideLayout3.xml" ContentType="application/vnd.openxmlformats-officedocument.presentationml.slideLayout+xml"/>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3.xml" ContentType="application/vnd.openxmlformats-officedocument.presentationml.slide+xml"/>
  <Override PartName="/ppt/slides/slide14.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Layouts/slideLayout1.xml" ContentType="application/vnd.openxmlformats-officedocument.presentationml.slideLayout+xml"/>
  <Override PartName="/docProps/app.xml" ContentType="application/vnd.openxmlformats-officedocument.extended-properties+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0.xml" ContentType="application/vnd.openxmlformats-officedocument.presentationml.slideLayout+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docProps/core.xml" ContentType="application/vnd.openxmlformats-package.core-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72" r:id="rId3"/>
    <p:sldId id="273" r:id="rId4"/>
    <p:sldId id="274" r:id="rId5"/>
    <p:sldId id="257" r:id="rId6"/>
    <p:sldId id="258" r:id="rId7"/>
    <p:sldId id="259" r:id="rId8"/>
    <p:sldId id="275" r:id="rId9"/>
    <p:sldId id="278" r:id="rId10"/>
    <p:sldId id="276" r:id="rId11"/>
    <p:sldId id="277" r:id="rId12"/>
    <p:sldId id="260" r:id="rId13"/>
    <p:sldId id="261" r:id="rId14"/>
    <p:sldId id="262" r:id="rId15"/>
    <p:sldId id="263" r:id="rId16"/>
    <p:sldId id="264" r:id="rId17"/>
    <p:sldId id="265" r:id="rId18"/>
    <p:sldId id="279" r:id="rId19"/>
    <p:sldId id="280" r:id="rId20"/>
    <p:sldId id="266" r:id="rId21"/>
    <p:sldId id="267" r:id="rId22"/>
    <p:sldId id="268" r:id="rId23"/>
    <p:sldId id="269" r:id="rId24"/>
    <p:sldId id="270" r:id="rId25"/>
    <p:sldId id="271" r:id="rId26"/>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showOutlineIcons="0">
    <p:restoredLeft sz="15620"/>
    <p:restoredTop sz="94660"/>
  </p:normalViewPr>
  <p:slideViewPr>
    <p:cSldViewPr>
      <p:cViewPr varScale="1">
        <p:scale>
          <a:sx n="68" d="100"/>
          <a:sy n="68" d="100"/>
        </p:scale>
        <p:origin x="-1446" y="-96"/>
      </p:cViewPr>
      <p:guideLst>
        <p:guide orient="horz" pos="2160"/>
        <p:guide pos="2880"/>
      </p:guideLst>
    </p:cSldViewPr>
  </p:slideViewPr>
  <p:notesTextViewPr>
    <p:cViewPr>
      <p:scale>
        <a:sx n="100" d="100"/>
        <a:sy n="100" d="100"/>
      </p:scale>
      <p:origin x="0" y="0"/>
    </p:cViewPr>
  </p:notesTextViewPr>
  <p:gridSpacing cx="78028800" cy="780288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presProps" Target="presProps.xml"/><Relationship Id="rId30"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F9383ECB-692C-47DC-B80E-EF0E6AB7E486}" type="datetimeFigureOut">
              <a:rPr lang="en-US" smtClean="0"/>
              <a:pPr/>
              <a:t>11/27/2011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F3ABD0E-89E2-48EF-B419-78CC87DAB6B0}"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F9383ECB-692C-47DC-B80E-EF0E6AB7E486}" type="datetimeFigureOut">
              <a:rPr lang="en-US" smtClean="0"/>
              <a:pPr/>
              <a:t>11/27/2011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F3ABD0E-89E2-48EF-B419-78CC87DAB6B0}"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F9383ECB-692C-47DC-B80E-EF0E6AB7E486}" type="datetimeFigureOut">
              <a:rPr lang="en-US" smtClean="0"/>
              <a:pPr/>
              <a:t>11/27/2011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F3ABD0E-89E2-48EF-B419-78CC87DAB6B0}"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F9383ECB-692C-47DC-B80E-EF0E6AB7E486}" type="datetimeFigureOut">
              <a:rPr lang="en-US" smtClean="0"/>
              <a:pPr/>
              <a:t>11/27/2011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F3ABD0E-89E2-48EF-B419-78CC87DAB6B0}"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F9383ECB-692C-47DC-B80E-EF0E6AB7E486}" type="datetimeFigureOut">
              <a:rPr lang="en-US" smtClean="0"/>
              <a:pPr/>
              <a:t>11/27/2011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3F3ABD0E-89E2-48EF-B419-78CC87DAB6B0}"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F9383ECB-692C-47DC-B80E-EF0E6AB7E486}" type="datetimeFigureOut">
              <a:rPr lang="en-US" smtClean="0"/>
              <a:pPr/>
              <a:t>11/27/2011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3F3ABD0E-89E2-48EF-B419-78CC87DAB6B0}"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F9383ECB-692C-47DC-B80E-EF0E6AB7E486}" type="datetimeFigureOut">
              <a:rPr lang="en-US" smtClean="0"/>
              <a:pPr/>
              <a:t>11/27/2011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3F3ABD0E-89E2-48EF-B419-78CC87DAB6B0}"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F9383ECB-692C-47DC-B80E-EF0E6AB7E486}" type="datetimeFigureOut">
              <a:rPr lang="en-US" smtClean="0"/>
              <a:pPr/>
              <a:t>11/27/2011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F3ABD0E-89E2-48EF-B419-78CC87DAB6B0}"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F9383ECB-692C-47DC-B80E-EF0E6AB7E486}" type="datetimeFigureOut">
              <a:rPr lang="en-US" smtClean="0"/>
              <a:pPr/>
              <a:t>11/27/2011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F3ABD0E-89E2-48EF-B419-78CC87DAB6B0}"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F9383ECB-692C-47DC-B80E-EF0E6AB7E486}" type="datetimeFigureOut">
              <a:rPr lang="en-US" smtClean="0"/>
              <a:pPr/>
              <a:t>11/27/2011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F3ABD0E-89E2-48EF-B419-78CC87DAB6B0}"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F9383ECB-692C-47DC-B80E-EF0E6AB7E486}" type="datetimeFigureOut">
              <a:rPr lang="en-US" smtClean="0"/>
              <a:pPr/>
              <a:t>11/27/2011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F3ABD0E-89E2-48EF-B419-78CC87DAB6B0}"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F9383ECB-692C-47DC-B80E-EF0E6AB7E486}" type="datetimeFigureOut">
              <a:rPr lang="en-US" smtClean="0"/>
              <a:pPr/>
              <a:t>11/27/2011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3F3ABD0E-89E2-48EF-B419-78CC87DAB6B0}"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hyperlink" Target="ClassClsArithmetic.docx" TargetMode="Externa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hyperlink" Target="usingCLibMaths.docx" TargetMode="Externa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smtClean="0"/>
              <a:t>Assemblies</a:t>
            </a:r>
            <a:endParaRPr lang="en-US" dirty="0"/>
          </a:p>
        </p:txBody>
      </p:sp>
      <p:sp>
        <p:nvSpPr>
          <p:cNvPr id="3" name="Subtitle 2"/>
          <p:cNvSpPr>
            <a:spLocks noGrp="1"/>
          </p:cNvSpPr>
          <p:nvPr>
            <p:ph type="subTitle" idx="1"/>
          </p:nvPr>
        </p:nvSpPr>
        <p:spPr/>
        <p:txBody>
          <a:bodyPr/>
          <a:lstStyle/>
          <a:p>
            <a:r>
              <a:rPr lang="en-US" dirty="0" smtClean="0"/>
              <a:t>Designing .NET component or user defined class libraries or </a:t>
            </a:r>
            <a:r>
              <a:rPr lang="en-US" dirty="0" err="1" smtClean="0"/>
              <a:t>Dll</a:t>
            </a:r>
            <a:r>
              <a:rPr lang="en-US" dirty="0" smtClean="0"/>
              <a:t> </a:t>
            </a:r>
            <a:endParaRPr lang="en-US"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Assemblies </a:t>
            </a:r>
            <a:endParaRPr lang="en-US" dirty="0"/>
          </a:p>
        </p:txBody>
      </p:sp>
      <p:sp>
        <p:nvSpPr>
          <p:cNvPr id="3" name="Content Placeholder 2"/>
          <p:cNvSpPr>
            <a:spLocks noGrp="1"/>
          </p:cNvSpPr>
          <p:nvPr>
            <p:ph idx="1"/>
          </p:nvPr>
        </p:nvSpPr>
        <p:spPr/>
        <p:txBody>
          <a:bodyPr/>
          <a:lstStyle/>
          <a:p>
            <a:r>
              <a:rPr lang="en-US" dirty="0" smtClean="0"/>
              <a:t>An assembly is a unit of file contain IL code corresponding to a project when it was compiled. Name of an assembly will be same as project name from which it was created. Assemblies were known as units of deployment because once an application development is done what we install on client machine is assemblies only. An assembly file can be have an extension of either exe or </a:t>
            </a:r>
            <a:r>
              <a:rPr lang="en-US" dirty="0" err="1" smtClean="0"/>
              <a:t>dll</a:t>
            </a:r>
            <a:r>
              <a:rPr lang="en-US" dirty="0" smtClean="0"/>
              <a:t>.</a:t>
            </a:r>
            <a:endParaRPr lang="en-US"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Exe assemblies </a:t>
            </a:r>
            <a:endParaRPr lang="en-US" dirty="0"/>
          </a:p>
        </p:txBody>
      </p:sp>
      <p:sp>
        <p:nvSpPr>
          <p:cNvPr id="3" name="Content Placeholder 2"/>
          <p:cNvSpPr>
            <a:spLocks noGrp="1"/>
          </p:cNvSpPr>
          <p:nvPr>
            <p:ph idx="1"/>
          </p:nvPr>
        </p:nvSpPr>
        <p:spPr/>
        <p:txBody>
          <a:bodyPr/>
          <a:lstStyle/>
          <a:p>
            <a:r>
              <a:rPr lang="en-US" dirty="0" smtClean="0"/>
              <a:t>Exe assemblies are </a:t>
            </a:r>
            <a:r>
              <a:rPr lang="en-US" b="1" dirty="0" smtClean="0"/>
              <a:t>in-process</a:t>
            </a:r>
            <a:r>
              <a:rPr lang="en-US" dirty="0" smtClean="0"/>
              <a:t> components which were capable of running on their own as well as provide the support for other to execute. When we use project templates like window forms, </a:t>
            </a:r>
            <a:r>
              <a:rPr lang="en-US" dirty="0" err="1" smtClean="0"/>
              <a:t>Wcf</a:t>
            </a:r>
            <a:r>
              <a:rPr lang="en-US" dirty="0" smtClean="0"/>
              <a:t>, console application &amp; window services they generate an exe assembly when complied.</a:t>
            </a:r>
            <a:endParaRPr lang="en-US"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DLL Assembly</a:t>
            </a:r>
            <a:endParaRPr lang="en-US" dirty="0"/>
          </a:p>
        </p:txBody>
      </p:sp>
      <p:sp>
        <p:nvSpPr>
          <p:cNvPr id="3" name="Content Placeholder 2"/>
          <p:cNvSpPr>
            <a:spLocks noGrp="1"/>
          </p:cNvSpPr>
          <p:nvPr>
            <p:ph idx="1"/>
          </p:nvPr>
        </p:nvSpPr>
        <p:spPr/>
        <p:txBody>
          <a:bodyPr/>
          <a:lstStyle/>
          <a:p>
            <a:r>
              <a:rPr lang="en-US" dirty="0" err="1" smtClean="0"/>
              <a:t>Dll</a:t>
            </a:r>
            <a:r>
              <a:rPr lang="en-US" dirty="0" smtClean="0"/>
              <a:t> assemblies are </a:t>
            </a:r>
            <a:r>
              <a:rPr lang="en-US" b="1" dirty="0" smtClean="0"/>
              <a:t>out process</a:t>
            </a:r>
            <a:r>
              <a:rPr lang="en-US" dirty="0" smtClean="0"/>
              <a:t> components which were not capable of running on their own they can only support other to execute. Project templates like class &amp; control library will generate an </a:t>
            </a:r>
            <a:r>
              <a:rPr lang="en-US" dirty="0" err="1" smtClean="0"/>
              <a:t>dll</a:t>
            </a:r>
            <a:r>
              <a:rPr lang="en-US" dirty="0" smtClean="0"/>
              <a:t> assembly when complied.</a:t>
            </a:r>
            <a:endParaRPr lang="en-US"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What is components</a:t>
            </a:r>
            <a:endParaRPr lang="en-US" dirty="0"/>
          </a:p>
        </p:txBody>
      </p:sp>
      <p:sp>
        <p:nvSpPr>
          <p:cNvPr id="3" name="Content Placeholder 2"/>
          <p:cNvSpPr>
            <a:spLocks noGrp="1"/>
          </p:cNvSpPr>
          <p:nvPr>
            <p:ph idx="1"/>
          </p:nvPr>
        </p:nvSpPr>
        <p:spPr/>
        <p:txBody>
          <a:bodyPr/>
          <a:lstStyle/>
          <a:p>
            <a:r>
              <a:rPr lang="en-US" dirty="0" smtClean="0"/>
              <a:t>A component is reusable piece of code and is in the form of DLL.</a:t>
            </a:r>
          </a:p>
          <a:p>
            <a:r>
              <a:rPr lang="en-US" dirty="0" smtClean="0"/>
              <a:t>Once component is designed it can be reused from any kind of application like in console application </a:t>
            </a:r>
            <a:r>
              <a:rPr lang="en-US" dirty="0" smtClean="0"/>
              <a:t>or </a:t>
            </a:r>
            <a:r>
              <a:rPr lang="en-US" dirty="0" smtClean="0"/>
              <a:t>windows application or web application or device application etc.</a:t>
            </a:r>
            <a:endParaRPr lang="en-US"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487362"/>
          </a:xfrm>
        </p:spPr>
        <p:txBody>
          <a:bodyPr>
            <a:normAutofit fontScale="90000"/>
          </a:bodyPr>
          <a:lstStyle/>
          <a:p>
            <a:r>
              <a:rPr lang="en-US" dirty="0" smtClean="0"/>
              <a:t>Component (cont..)</a:t>
            </a:r>
            <a:endParaRPr lang="en-US" dirty="0"/>
          </a:p>
        </p:txBody>
      </p:sp>
      <p:sp>
        <p:nvSpPr>
          <p:cNvPr id="3" name="Content Placeholder 2"/>
          <p:cNvSpPr>
            <a:spLocks noGrp="1"/>
          </p:cNvSpPr>
          <p:nvPr>
            <p:ph idx="1"/>
          </p:nvPr>
        </p:nvSpPr>
        <p:spPr>
          <a:xfrm>
            <a:off x="457200" y="762000"/>
            <a:ext cx="8229600" cy="5364163"/>
          </a:xfrm>
        </p:spPr>
        <p:txBody>
          <a:bodyPr/>
          <a:lstStyle/>
          <a:p>
            <a:r>
              <a:rPr lang="en-US" dirty="0" smtClean="0"/>
              <a:t>Once a component is designed in any programming language of .NET that can be reused from any other programming languages of .NET i.e. .NET component are or assemblies will provide language interoperability.</a:t>
            </a:r>
          </a:p>
          <a:p>
            <a:r>
              <a:rPr lang="en-US" dirty="0" smtClean="0"/>
              <a:t>To create computer in .NET , we use class library templates.</a:t>
            </a:r>
          </a:p>
          <a:p>
            <a:r>
              <a:rPr lang="en-US" dirty="0" smtClean="0"/>
              <a:t>End user will never interact with DLL or component directly.</a:t>
            </a:r>
            <a:endParaRPr lang="en-US"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487362"/>
          </a:xfrm>
        </p:spPr>
        <p:txBody>
          <a:bodyPr>
            <a:normAutofit fontScale="90000"/>
          </a:bodyPr>
          <a:lstStyle/>
          <a:p>
            <a:r>
              <a:rPr lang="en-US" dirty="0" smtClean="0"/>
              <a:t>Component (cont..)</a:t>
            </a:r>
            <a:endParaRPr lang="en-US" dirty="0"/>
          </a:p>
        </p:txBody>
      </p:sp>
      <p:sp>
        <p:nvSpPr>
          <p:cNvPr id="3" name="Content Placeholder 2"/>
          <p:cNvSpPr>
            <a:spLocks noGrp="1"/>
          </p:cNvSpPr>
          <p:nvPr>
            <p:ph idx="1"/>
          </p:nvPr>
        </p:nvSpPr>
        <p:spPr>
          <a:xfrm>
            <a:off x="457200" y="838200"/>
            <a:ext cx="8229600" cy="5287963"/>
          </a:xfrm>
        </p:spPr>
        <p:txBody>
          <a:bodyPr/>
          <a:lstStyle/>
          <a:p>
            <a:r>
              <a:rPr lang="en-US" dirty="0" smtClean="0"/>
              <a:t>All ways end user will interact with some application and the application will interact with component or DLL.</a:t>
            </a:r>
            <a:endParaRPr lang="en-US" dirty="0"/>
          </a:p>
        </p:txBody>
      </p:sp>
      <p:sp>
        <p:nvSpPr>
          <p:cNvPr id="4" name="Rectangle 3"/>
          <p:cNvSpPr/>
          <p:nvPr/>
        </p:nvSpPr>
        <p:spPr>
          <a:xfrm>
            <a:off x="914400" y="3124200"/>
            <a:ext cx="1752600" cy="381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t>User </a:t>
            </a:r>
            <a:endParaRPr lang="en-US" dirty="0"/>
          </a:p>
        </p:txBody>
      </p:sp>
      <p:sp>
        <p:nvSpPr>
          <p:cNvPr id="5" name="Rectangle 4"/>
          <p:cNvSpPr/>
          <p:nvPr/>
        </p:nvSpPr>
        <p:spPr>
          <a:xfrm>
            <a:off x="3733800" y="3124200"/>
            <a:ext cx="1752600" cy="381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t>Application</a:t>
            </a:r>
            <a:endParaRPr lang="en-US" dirty="0"/>
          </a:p>
        </p:txBody>
      </p:sp>
      <p:sp>
        <p:nvSpPr>
          <p:cNvPr id="6" name="Rectangle 5"/>
          <p:cNvSpPr/>
          <p:nvPr/>
        </p:nvSpPr>
        <p:spPr>
          <a:xfrm>
            <a:off x="6934200" y="3124200"/>
            <a:ext cx="1752600" cy="381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t>Component/DLL</a:t>
            </a:r>
            <a:endParaRPr lang="en-US" dirty="0"/>
          </a:p>
        </p:txBody>
      </p:sp>
      <p:cxnSp>
        <p:nvCxnSpPr>
          <p:cNvPr id="8" name="Straight Arrow Connector 7"/>
          <p:cNvCxnSpPr>
            <a:stCxn id="4" idx="3"/>
            <a:endCxn id="5" idx="1"/>
          </p:cNvCxnSpPr>
          <p:nvPr/>
        </p:nvCxnSpPr>
        <p:spPr>
          <a:xfrm>
            <a:off x="2667000" y="3314700"/>
            <a:ext cx="1066800" cy="1588"/>
          </a:xfrm>
          <a:prstGeom prst="straightConnector1">
            <a:avLst/>
          </a:prstGeom>
          <a:ln>
            <a:headEnd type="arrow"/>
            <a:tailEnd type="arrow"/>
          </a:ln>
        </p:spPr>
        <p:style>
          <a:lnRef idx="1">
            <a:schemeClr val="accent1"/>
          </a:lnRef>
          <a:fillRef idx="0">
            <a:schemeClr val="accent1"/>
          </a:fillRef>
          <a:effectRef idx="0">
            <a:schemeClr val="accent1"/>
          </a:effectRef>
          <a:fontRef idx="minor">
            <a:schemeClr val="tx1"/>
          </a:fontRef>
        </p:style>
      </p:cxnSp>
      <p:cxnSp>
        <p:nvCxnSpPr>
          <p:cNvPr id="10" name="Straight Arrow Connector 9"/>
          <p:cNvCxnSpPr>
            <a:stCxn id="5" idx="3"/>
            <a:endCxn id="6" idx="1"/>
          </p:cNvCxnSpPr>
          <p:nvPr/>
        </p:nvCxnSpPr>
        <p:spPr>
          <a:xfrm>
            <a:off x="5486400" y="3314700"/>
            <a:ext cx="1447800" cy="1588"/>
          </a:xfrm>
          <a:prstGeom prst="straightConnector1">
            <a:avLst/>
          </a:prstGeom>
          <a:ln>
            <a:headEnd type="arrow"/>
            <a:tailEnd type="arrow"/>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Assemblies are two types</a:t>
            </a:r>
            <a:endParaRPr lang="en-US" dirty="0"/>
          </a:p>
        </p:txBody>
      </p:sp>
      <p:sp>
        <p:nvSpPr>
          <p:cNvPr id="3" name="Content Placeholder 2"/>
          <p:cNvSpPr>
            <a:spLocks noGrp="1"/>
          </p:cNvSpPr>
          <p:nvPr>
            <p:ph idx="1"/>
          </p:nvPr>
        </p:nvSpPr>
        <p:spPr/>
        <p:txBody>
          <a:bodyPr/>
          <a:lstStyle/>
          <a:p>
            <a:r>
              <a:rPr lang="en-US" dirty="0" smtClean="0"/>
              <a:t>Private Assemblies:- by default every assembly is private , if we add the reference of a private assemblies to any project, a copy of the assembly is created and given to the project. So each project maintains a private copy of the assembly.</a:t>
            </a:r>
            <a:endParaRPr lang="en-US"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Private assembly</a:t>
            </a:r>
            <a:endParaRPr lang="en-US" dirty="0"/>
          </a:p>
        </p:txBody>
      </p:sp>
      <p:sp>
        <p:nvSpPr>
          <p:cNvPr id="3" name="Content Placeholder 2"/>
          <p:cNvSpPr>
            <a:spLocks noGrp="1"/>
          </p:cNvSpPr>
          <p:nvPr>
            <p:ph idx="1"/>
          </p:nvPr>
        </p:nvSpPr>
        <p:spPr/>
        <p:txBody>
          <a:bodyPr/>
          <a:lstStyle/>
          <a:p>
            <a:endParaRPr lang="en-US" dirty="0"/>
          </a:p>
        </p:txBody>
      </p:sp>
      <p:sp>
        <p:nvSpPr>
          <p:cNvPr id="4" name="Rectangle 3"/>
          <p:cNvSpPr/>
          <p:nvPr/>
        </p:nvSpPr>
        <p:spPr>
          <a:xfrm>
            <a:off x="1219200" y="4191000"/>
            <a:ext cx="1828800" cy="14478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4"/>
          <p:cNvSpPr/>
          <p:nvPr/>
        </p:nvSpPr>
        <p:spPr>
          <a:xfrm>
            <a:off x="5638800" y="4343400"/>
            <a:ext cx="1828800" cy="14478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Oval 5"/>
          <p:cNvSpPr/>
          <p:nvPr/>
        </p:nvSpPr>
        <p:spPr>
          <a:xfrm>
            <a:off x="3352800" y="2057400"/>
            <a:ext cx="2438400" cy="9906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t>Assembly</a:t>
            </a:r>
            <a:endParaRPr lang="en-US" dirty="0"/>
          </a:p>
        </p:txBody>
      </p:sp>
      <p:sp>
        <p:nvSpPr>
          <p:cNvPr id="8" name="Rectangle 7"/>
          <p:cNvSpPr/>
          <p:nvPr/>
        </p:nvSpPr>
        <p:spPr>
          <a:xfrm>
            <a:off x="1219200" y="5943600"/>
            <a:ext cx="1676400" cy="2286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t>project1</a:t>
            </a:r>
            <a:endParaRPr lang="en-US" dirty="0"/>
          </a:p>
        </p:txBody>
      </p:sp>
      <p:sp>
        <p:nvSpPr>
          <p:cNvPr id="9" name="Rectangle 8"/>
          <p:cNvSpPr/>
          <p:nvPr/>
        </p:nvSpPr>
        <p:spPr>
          <a:xfrm>
            <a:off x="5638800" y="6019800"/>
            <a:ext cx="1676400" cy="2286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t>project2</a:t>
            </a:r>
            <a:endParaRPr lang="en-US" dirty="0"/>
          </a:p>
        </p:txBody>
      </p:sp>
      <p:cxnSp>
        <p:nvCxnSpPr>
          <p:cNvPr id="10" name="Straight Arrow Connector 9"/>
          <p:cNvCxnSpPr/>
          <p:nvPr/>
        </p:nvCxnSpPr>
        <p:spPr>
          <a:xfrm flipV="1">
            <a:off x="1752600" y="2667000"/>
            <a:ext cx="1600200" cy="1524000"/>
          </a:xfrm>
          <a:prstGeom prst="straightConnector1">
            <a:avLst/>
          </a:prstGeom>
          <a:ln>
            <a:tailEnd type="arrow"/>
          </a:ln>
        </p:spPr>
        <p:style>
          <a:lnRef idx="2">
            <a:schemeClr val="dk1"/>
          </a:lnRef>
          <a:fillRef idx="0">
            <a:schemeClr val="dk1"/>
          </a:fillRef>
          <a:effectRef idx="1">
            <a:schemeClr val="dk1"/>
          </a:effectRef>
          <a:fontRef idx="minor">
            <a:schemeClr val="tx1"/>
          </a:fontRef>
        </p:style>
      </p:cxnSp>
      <p:cxnSp>
        <p:nvCxnSpPr>
          <p:cNvPr id="11" name="Straight Arrow Connector 10"/>
          <p:cNvCxnSpPr>
            <a:stCxn id="6" idx="3"/>
          </p:cNvCxnSpPr>
          <p:nvPr/>
        </p:nvCxnSpPr>
        <p:spPr>
          <a:xfrm rot="5400000">
            <a:off x="2658713" y="3139817"/>
            <a:ext cx="1288070" cy="814296"/>
          </a:xfrm>
          <a:prstGeom prst="straightConnector1">
            <a:avLst/>
          </a:prstGeom>
          <a:ln>
            <a:tailEnd type="arrow"/>
          </a:ln>
        </p:spPr>
        <p:style>
          <a:lnRef idx="2">
            <a:schemeClr val="dk1"/>
          </a:lnRef>
          <a:fillRef idx="0">
            <a:schemeClr val="dk1"/>
          </a:fillRef>
          <a:effectRef idx="1">
            <a:schemeClr val="dk1"/>
          </a:effectRef>
          <a:fontRef idx="minor">
            <a:schemeClr val="tx1"/>
          </a:fontRef>
        </p:style>
      </p:cxnSp>
      <p:cxnSp>
        <p:nvCxnSpPr>
          <p:cNvPr id="12" name="Straight Arrow Connector 11"/>
          <p:cNvCxnSpPr/>
          <p:nvPr/>
        </p:nvCxnSpPr>
        <p:spPr>
          <a:xfrm rot="16200000" flipH="1">
            <a:off x="4876800" y="3276600"/>
            <a:ext cx="1371600" cy="762000"/>
          </a:xfrm>
          <a:prstGeom prst="straightConnector1">
            <a:avLst/>
          </a:prstGeom>
          <a:ln>
            <a:tailEnd type="arrow"/>
          </a:ln>
        </p:spPr>
        <p:style>
          <a:lnRef idx="2">
            <a:schemeClr val="dk1"/>
          </a:lnRef>
          <a:fillRef idx="0">
            <a:schemeClr val="dk1"/>
          </a:fillRef>
          <a:effectRef idx="1">
            <a:schemeClr val="dk1"/>
          </a:effectRef>
          <a:fontRef idx="minor">
            <a:schemeClr val="tx1"/>
          </a:fontRef>
        </p:style>
      </p:cxnSp>
      <p:cxnSp>
        <p:nvCxnSpPr>
          <p:cNvPr id="13" name="Straight Arrow Connector 12"/>
          <p:cNvCxnSpPr/>
          <p:nvPr/>
        </p:nvCxnSpPr>
        <p:spPr>
          <a:xfrm rot="16200000" flipV="1">
            <a:off x="5562600" y="2971800"/>
            <a:ext cx="1524000" cy="1219200"/>
          </a:xfrm>
          <a:prstGeom prst="straightConnector1">
            <a:avLst/>
          </a:prstGeom>
          <a:ln>
            <a:tailEnd type="arrow"/>
          </a:ln>
        </p:spPr>
        <p:style>
          <a:lnRef idx="2">
            <a:schemeClr val="dk1"/>
          </a:lnRef>
          <a:fillRef idx="0">
            <a:schemeClr val="dk1"/>
          </a:fillRef>
          <a:effectRef idx="1">
            <a:schemeClr val="dk1"/>
          </a:effectRef>
          <a:fontRef idx="minor">
            <a:schemeClr val="tx1"/>
          </a:fontRef>
        </p:style>
      </p:cxn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381000"/>
            <a:ext cx="8229600" cy="5745163"/>
          </a:xfrm>
        </p:spPr>
        <p:txBody>
          <a:bodyPr>
            <a:normAutofit/>
          </a:bodyPr>
          <a:lstStyle/>
          <a:p>
            <a:r>
              <a:rPr lang="en-US" dirty="0" smtClean="0"/>
              <a:t>Share Assemblies:- an assembly that resides in a centralized location known as GAC(Global Assembly Cache) &amp; provides resources to any no. of projects that wants to consume is known as shared Assemblies. If as assembly is share multiple copy will not be create even if being consumed by multiple projects, only single copy under GAC serves all the projects.GAC is a folder that present under the window folder.</a:t>
            </a:r>
            <a:endParaRPr lang="en-US"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639762"/>
          </a:xfrm>
        </p:spPr>
        <p:txBody>
          <a:bodyPr>
            <a:normAutofit fontScale="90000"/>
          </a:bodyPr>
          <a:lstStyle/>
          <a:p>
            <a:r>
              <a:rPr lang="en-US" dirty="0" smtClean="0"/>
              <a:t>Share Assembly</a:t>
            </a:r>
            <a:endParaRPr lang="en-US" dirty="0"/>
          </a:p>
        </p:txBody>
      </p:sp>
      <p:sp>
        <p:nvSpPr>
          <p:cNvPr id="3" name="Content Placeholder 2"/>
          <p:cNvSpPr>
            <a:spLocks noGrp="1"/>
          </p:cNvSpPr>
          <p:nvPr>
            <p:ph idx="1"/>
          </p:nvPr>
        </p:nvSpPr>
        <p:spPr>
          <a:xfrm>
            <a:off x="457200" y="990600"/>
            <a:ext cx="8229600" cy="5135563"/>
          </a:xfrm>
        </p:spPr>
        <p:txBody>
          <a:bodyPr/>
          <a:lstStyle/>
          <a:p>
            <a:endParaRPr lang="en-US" dirty="0"/>
          </a:p>
        </p:txBody>
      </p:sp>
      <p:sp>
        <p:nvSpPr>
          <p:cNvPr id="4" name="Rectangle 3"/>
          <p:cNvSpPr/>
          <p:nvPr/>
        </p:nvSpPr>
        <p:spPr>
          <a:xfrm>
            <a:off x="2667000" y="1752600"/>
            <a:ext cx="3733800" cy="14478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4"/>
          <p:cNvSpPr/>
          <p:nvPr/>
        </p:nvSpPr>
        <p:spPr>
          <a:xfrm>
            <a:off x="1219200" y="4191000"/>
            <a:ext cx="1828800" cy="14478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p:cNvSpPr/>
          <p:nvPr/>
        </p:nvSpPr>
        <p:spPr>
          <a:xfrm>
            <a:off x="5638800" y="4343400"/>
            <a:ext cx="1828800" cy="14478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Oval 6"/>
          <p:cNvSpPr/>
          <p:nvPr/>
        </p:nvSpPr>
        <p:spPr>
          <a:xfrm>
            <a:off x="3352800" y="2057400"/>
            <a:ext cx="2438400" cy="9906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t>Assembly</a:t>
            </a:r>
            <a:endParaRPr lang="en-US" dirty="0"/>
          </a:p>
        </p:txBody>
      </p:sp>
      <p:sp>
        <p:nvSpPr>
          <p:cNvPr id="8" name="Rectangle 7"/>
          <p:cNvSpPr/>
          <p:nvPr/>
        </p:nvSpPr>
        <p:spPr>
          <a:xfrm>
            <a:off x="3733800" y="1295400"/>
            <a:ext cx="1676400" cy="2286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t>GAC</a:t>
            </a:r>
            <a:endParaRPr lang="en-US" dirty="0"/>
          </a:p>
        </p:txBody>
      </p:sp>
      <p:sp>
        <p:nvSpPr>
          <p:cNvPr id="9" name="Rectangle 8"/>
          <p:cNvSpPr/>
          <p:nvPr/>
        </p:nvSpPr>
        <p:spPr>
          <a:xfrm>
            <a:off x="1219200" y="5943600"/>
            <a:ext cx="1676400" cy="2286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t>project1</a:t>
            </a:r>
            <a:endParaRPr lang="en-US" dirty="0"/>
          </a:p>
        </p:txBody>
      </p:sp>
      <p:sp>
        <p:nvSpPr>
          <p:cNvPr id="10" name="Rectangle 9"/>
          <p:cNvSpPr/>
          <p:nvPr/>
        </p:nvSpPr>
        <p:spPr>
          <a:xfrm>
            <a:off x="5638800" y="6019800"/>
            <a:ext cx="1676400" cy="2286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t>project2</a:t>
            </a:r>
            <a:endParaRPr lang="en-US" dirty="0"/>
          </a:p>
        </p:txBody>
      </p:sp>
      <p:cxnSp>
        <p:nvCxnSpPr>
          <p:cNvPr id="12" name="Straight Arrow Connector 11"/>
          <p:cNvCxnSpPr/>
          <p:nvPr/>
        </p:nvCxnSpPr>
        <p:spPr>
          <a:xfrm flipV="1">
            <a:off x="1752600" y="2667000"/>
            <a:ext cx="1600200" cy="1524000"/>
          </a:xfrm>
          <a:prstGeom prst="straightConnector1">
            <a:avLst/>
          </a:prstGeom>
          <a:ln>
            <a:tailEnd type="arrow"/>
          </a:ln>
        </p:spPr>
        <p:style>
          <a:lnRef idx="2">
            <a:schemeClr val="dk1"/>
          </a:lnRef>
          <a:fillRef idx="0">
            <a:schemeClr val="dk1"/>
          </a:fillRef>
          <a:effectRef idx="1">
            <a:schemeClr val="dk1"/>
          </a:effectRef>
          <a:fontRef idx="minor">
            <a:schemeClr val="tx1"/>
          </a:fontRef>
        </p:style>
      </p:cxnSp>
      <p:cxnSp>
        <p:nvCxnSpPr>
          <p:cNvPr id="14" name="Straight Arrow Connector 13"/>
          <p:cNvCxnSpPr>
            <a:stCxn id="7" idx="3"/>
          </p:cNvCxnSpPr>
          <p:nvPr/>
        </p:nvCxnSpPr>
        <p:spPr>
          <a:xfrm rot="5400000">
            <a:off x="2658713" y="3139817"/>
            <a:ext cx="1288070" cy="814296"/>
          </a:xfrm>
          <a:prstGeom prst="straightConnector1">
            <a:avLst/>
          </a:prstGeom>
          <a:ln>
            <a:tailEnd type="arrow"/>
          </a:ln>
        </p:spPr>
        <p:style>
          <a:lnRef idx="2">
            <a:schemeClr val="dk1"/>
          </a:lnRef>
          <a:fillRef idx="0">
            <a:schemeClr val="dk1"/>
          </a:fillRef>
          <a:effectRef idx="1">
            <a:schemeClr val="dk1"/>
          </a:effectRef>
          <a:fontRef idx="minor">
            <a:schemeClr val="tx1"/>
          </a:fontRef>
        </p:style>
      </p:cxnSp>
      <p:cxnSp>
        <p:nvCxnSpPr>
          <p:cNvPr id="16" name="Straight Arrow Connector 15"/>
          <p:cNvCxnSpPr/>
          <p:nvPr/>
        </p:nvCxnSpPr>
        <p:spPr>
          <a:xfrm rot="16200000" flipH="1">
            <a:off x="4876800" y="3276600"/>
            <a:ext cx="1371600" cy="762000"/>
          </a:xfrm>
          <a:prstGeom prst="straightConnector1">
            <a:avLst/>
          </a:prstGeom>
          <a:ln>
            <a:tailEnd type="arrow"/>
          </a:ln>
        </p:spPr>
        <p:style>
          <a:lnRef idx="2">
            <a:schemeClr val="dk1"/>
          </a:lnRef>
          <a:fillRef idx="0">
            <a:schemeClr val="dk1"/>
          </a:fillRef>
          <a:effectRef idx="1">
            <a:schemeClr val="dk1"/>
          </a:effectRef>
          <a:fontRef idx="minor">
            <a:schemeClr val="tx1"/>
          </a:fontRef>
        </p:style>
      </p:cxnSp>
      <p:cxnSp>
        <p:nvCxnSpPr>
          <p:cNvPr id="18" name="Straight Arrow Connector 17"/>
          <p:cNvCxnSpPr/>
          <p:nvPr/>
        </p:nvCxnSpPr>
        <p:spPr>
          <a:xfrm rot="16200000" flipV="1">
            <a:off x="5562600" y="2971800"/>
            <a:ext cx="1524000" cy="1219200"/>
          </a:xfrm>
          <a:prstGeom prst="straightConnector1">
            <a:avLst/>
          </a:prstGeom>
          <a:ln>
            <a:tailEnd type="arrow"/>
          </a:ln>
        </p:spPr>
        <p:style>
          <a:lnRef idx="2">
            <a:schemeClr val="dk1"/>
          </a:lnRef>
          <a:fillRef idx="0">
            <a:schemeClr val="dk1"/>
          </a:fillRef>
          <a:effectRef idx="1">
            <a:schemeClr val="dk1"/>
          </a:effectRef>
          <a:fontRef idx="minor">
            <a:schemeClr val="tx1"/>
          </a:fontRef>
        </p:style>
      </p:cxn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563562"/>
          </a:xfrm>
        </p:spPr>
        <p:txBody>
          <a:bodyPr>
            <a:normAutofit fontScale="90000"/>
          </a:bodyPr>
          <a:lstStyle/>
          <a:p>
            <a:r>
              <a:rPr lang="en-US" dirty="0" smtClean="0"/>
              <a:t>Class diagram</a:t>
            </a:r>
            <a:endParaRPr lang="en-US" dirty="0"/>
          </a:p>
        </p:txBody>
      </p:sp>
      <p:sp>
        <p:nvSpPr>
          <p:cNvPr id="3" name="Content Placeholder 2"/>
          <p:cNvSpPr>
            <a:spLocks noGrp="1"/>
          </p:cNvSpPr>
          <p:nvPr>
            <p:ph idx="1"/>
          </p:nvPr>
        </p:nvSpPr>
        <p:spPr>
          <a:xfrm>
            <a:off x="457200" y="990600"/>
            <a:ext cx="8229600" cy="5135563"/>
          </a:xfrm>
        </p:spPr>
        <p:txBody>
          <a:bodyPr/>
          <a:lstStyle/>
          <a:p>
            <a:endParaRPr lang="en-US" dirty="0"/>
          </a:p>
        </p:txBody>
      </p:sp>
      <p:sp>
        <p:nvSpPr>
          <p:cNvPr id="4" name="Rectangle 3"/>
          <p:cNvSpPr/>
          <p:nvPr/>
        </p:nvSpPr>
        <p:spPr>
          <a:xfrm>
            <a:off x="3581400" y="1143000"/>
            <a:ext cx="1905000" cy="381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dirty="0" err="1" smtClean="0"/>
              <a:t>CLibMaths</a:t>
            </a:r>
            <a:endParaRPr lang="en-US" dirty="0"/>
          </a:p>
        </p:txBody>
      </p:sp>
      <p:sp>
        <p:nvSpPr>
          <p:cNvPr id="5" name="Rectangle 4"/>
          <p:cNvSpPr/>
          <p:nvPr/>
        </p:nvSpPr>
        <p:spPr>
          <a:xfrm>
            <a:off x="3581400" y="1524000"/>
            <a:ext cx="1905000" cy="6858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p:cNvSpPr/>
          <p:nvPr/>
        </p:nvSpPr>
        <p:spPr>
          <a:xfrm>
            <a:off x="3581400" y="2209800"/>
            <a:ext cx="1905000" cy="4572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6"/>
          <p:cNvSpPr/>
          <p:nvPr/>
        </p:nvSpPr>
        <p:spPr>
          <a:xfrm>
            <a:off x="6096000" y="2971800"/>
            <a:ext cx="2438400" cy="381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dirty="0" err="1" smtClean="0"/>
              <a:t>ClsAthNumbers</a:t>
            </a:r>
            <a:endParaRPr lang="en-US" dirty="0"/>
          </a:p>
        </p:txBody>
      </p:sp>
      <p:sp>
        <p:nvSpPr>
          <p:cNvPr id="8" name="Rectangle 7"/>
          <p:cNvSpPr/>
          <p:nvPr/>
        </p:nvSpPr>
        <p:spPr>
          <a:xfrm>
            <a:off x="6096000" y="3352800"/>
            <a:ext cx="2438400" cy="5334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p:cNvSpPr/>
          <p:nvPr/>
        </p:nvSpPr>
        <p:spPr>
          <a:xfrm>
            <a:off x="6096000" y="3886200"/>
            <a:ext cx="2438400" cy="762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dirty="0" smtClean="0"/>
              <a:t>Public </a:t>
            </a:r>
            <a:r>
              <a:rPr lang="en-US" dirty="0" err="1" smtClean="0"/>
              <a:t>int</a:t>
            </a:r>
            <a:r>
              <a:rPr lang="en-US" dirty="0" smtClean="0"/>
              <a:t> Square (</a:t>
            </a:r>
            <a:r>
              <a:rPr lang="en-US" dirty="0" err="1" smtClean="0"/>
              <a:t>int</a:t>
            </a:r>
            <a:r>
              <a:rPr lang="en-US" dirty="0" smtClean="0"/>
              <a:t> x)</a:t>
            </a:r>
          </a:p>
          <a:p>
            <a:r>
              <a:rPr lang="en-US" dirty="0" smtClean="0"/>
              <a:t>Public </a:t>
            </a:r>
            <a:r>
              <a:rPr lang="en-US" dirty="0" err="1" smtClean="0"/>
              <a:t>int</a:t>
            </a:r>
            <a:r>
              <a:rPr lang="en-US" dirty="0" smtClean="0"/>
              <a:t> Cube(</a:t>
            </a:r>
            <a:r>
              <a:rPr lang="en-US" dirty="0" err="1" smtClean="0"/>
              <a:t>int</a:t>
            </a:r>
            <a:r>
              <a:rPr lang="en-US" dirty="0" smtClean="0"/>
              <a:t> x)</a:t>
            </a:r>
          </a:p>
          <a:p>
            <a:r>
              <a:rPr lang="en-US" dirty="0" smtClean="0"/>
              <a:t>Public </a:t>
            </a:r>
            <a:r>
              <a:rPr lang="en-US" dirty="0" err="1" smtClean="0"/>
              <a:t>int</a:t>
            </a:r>
            <a:r>
              <a:rPr lang="en-US" dirty="0" smtClean="0"/>
              <a:t> factional(</a:t>
            </a:r>
            <a:r>
              <a:rPr lang="en-US" dirty="0" err="1" smtClean="0"/>
              <a:t>int</a:t>
            </a:r>
            <a:r>
              <a:rPr lang="en-US" dirty="0" smtClean="0"/>
              <a:t> x)</a:t>
            </a:r>
            <a:endParaRPr lang="en-US" dirty="0"/>
          </a:p>
        </p:txBody>
      </p:sp>
      <p:sp>
        <p:nvSpPr>
          <p:cNvPr id="10" name="Rectangle 9"/>
          <p:cNvSpPr/>
          <p:nvPr/>
        </p:nvSpPr>
        <p:spPr>
          <a:xfrm>
            <a:off x="762000" y="3048000"/>
            <a:ext cx="2590800" cy="381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dirty="0" err="1" smtClean="0"/>
              <a:t>ClsArithematic</a:t>
            </a:r>
            <a:endParaRPr lang="en-US" dirty="0"/>
          </a:p>
        </p:txBody>
      </p:sp>
      <p:sp>
        <p:nvSpPr>
          <p:cNvPr id="11" name="Rectangle 10"/>
          <p:cNvSpPr/>
          <p:nvPr/>
        </p:nvSpPr>
        <p:spPr>
          <a:xfrm>
            <a:off x="762000" y="3429000"/>
            <a:ext cx="2590800" cy="16002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dirty="0" err="1" smtClean="0"/>
              <a:t>Int</a:t>
            </a:r>
            <a:r>
              <a:rPr lang="en-US" dirty="0" smtClean="0"/>
              <a:t> Num1</a:t>
            </a:r>
          </a:p>
          <a:p>
            <a:r>
              <a:rPr lang="en-US" dirty="0" err="1" smtClean="0"/>
              <a:t>Int</a:t>
            </a:r>
            <a:r>
              <a:rPr lang="en-US" dirty="0" smtClean="0"/>
              <a:t> Num2</a:t>
            </a:r>
          </a:p>
          <a:p>
            <a:r>
              <a:rPr lang="en-US" dirty="0" err="1" smtClean="0"/>
              <a:t>Int</a:t>
            </a:r>
            <a:r>
              <a:rPr lang="en-US" dirty="0" smtClean="0"/>
              <a:t> Result</a:t>
            </a:r>
          </a:p>
          <a:p>
            <a:r>
              <a:rPr lang="en-US" dirty="0" smtClean="0"/>
              <a:t>Public </a:t>
            </a:r>
            <a:r>
              <a:rPr lang="en-US" dirty="0" err="1" smtClean="0"/>
              <a:t>int</a:t>
            </a:r>
            <a:r>
              <a:rPr lang="en-US" dirty="0" smtClean="0"/>
              <a:t> PNum1</a:t>
            </a:r>
          </a:p>
          <a:p>
            <a:r>
              <a:rPr lang="en-US" dirty="0" smtClean="0"/>
              <a:t>Public </a:t>
            </a:r>
            <a:r>
              <a:rPr lang="en-US" dirty="0" err="1" smtClean="0"/>
              <a:t>int</a:t>
            </a:r>
            <a:r>
              <a:rPr lang="en-US" dirty="0" smtClean="0"/>
              <a:t> PNum2</a:t>
            </a:r>
          </a:p>
          <a:p>
            <a:r>
              <a:rPr lang="en-US" dirty="0" smtClean="0"/>
              <a:t>Public </a:t>
            </a:r>
            <a:r>
              <a:rPr lang="en-US" dirty="0" err="1" smtClean="0"/>
              <a:t>int</a:t>
            </a:r>
            <a:r>
              <a:rPr lang="en-US" dirty="0" smtClean="0"/>
              <a:t> </a:t>
            </a:r>
            <a:r>
              <a:rPr lang="en-US" dirty="0" err="1" smtClean="0"/>
              <a:t>PResult</a:t>
            </a:r>
            <a:endParaRPr lang="en-US" dirty="0"/>
          </a:p>
        </p:txBody>
      </p:sp>
      <p:sp>
        <p:nvSpPr>
          <p:cNvPr id="12" name="Rectangle 11"/>
          <p:cNvSpPr/>
          <p:nvPr/>
        </p:nvSpPr>
        <p:spPr>
          <a:xfrm>
            <a:off x="762000" y="5029200"/>
            <a:ext cx="2590800" cy="9906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dirty="0" smtClean="0"/>
              <a:t>Public void Add()</a:t>
            </a:r>
          </a:p>
          <a:p>
            <a:r>
              <a:rPr lang="en-US" dirty="0" smtClean="0"/>
              <a:t>Public void </a:t>
            </a:r>
            <a:r>
              <a:rPr lang="en-US" dirty="0" err="1" smtClean="0"/>
              <a:t>Substract</a:t>
            </a:r>
            <a:r>
              <a:rPr lang="en-US" dirty="0" smtClean="0"/>
              <a:t>()</a:t>
            </a:r>
          </a:p>
          <a:p>
            <a:r>
              <a:rPr lang="en-US" dirty="0" smtClean="0"/>
              <a:t>Public void </a:t>
            </a:r>
            <a:r>
              <a:rPr lang="en-US" dirty="0" err="1" smtClean="0"/>
              <a:t>Multply</a:t>
            </a:r>
            <a:r>
              <a:rPr lang="en-US" dirty="0" smtClean="0"/>
              <a:t>()</a:t>
            </a:r>
          </a:p>
          <a:p>
            <a:r>
              <a:rPr lang="en-US" dirty="0" smtClean="0"/>
              <a:t>Public void Divide</a:t>
            </a:r>
            <a:endParaRPr lang="en-US" dirty="0"/>
          </a:p>
        </p:txBody>
      </p:sp>
      <p:cxnSp>
        <p:nvCxnSpPr>
          <p:cNvPr id="14" name="Straight Connector 13"/>
          <p:cNvCxnSpPr>
            <a:stCxn id="5" idx="3"/>
          </p:cNvCxnSpPr>
          <p:nvPr/>
        </p:nvCxnSpPr>
        <p:spPr>
          <a:xfrm>
            <a:off x="5486400" y="1866900"/>
            <a:ext cx="1219200" cy="38100"/>
          </a:xfrm>
          <a:prstGeom prst="line">
            <a:avLst/>
          </a:prstGeom>
        </p:spPr>
        <p:style>
          <a:lnRef idx="1">
            <a:schemeClr val="accent1"/>
          </a:lnRef>
          <a:fillRef idx="0">
            <a:schemeClr val="accent1"/>
          </a:fillRef>
          <a:effectRef idx="0">
            <a:schemeClr val="accent1"/>
          </a:effectRef>
          <a:fontRef idx="minor">
            <a:schemeClr val="tx1"/>
          </a:fontRef>
        </p:style>
      </p:cxnSp>
      <p:cxnSp>
        <p:nvCxnSpPr>
          <p:cNvPr id="16" name="Straight Connector 15"/>
          <p:cNvCxnSpPr>
            <a:stCxn id="5" idx="1"/>
          </p:cNvCxnSpPr>
          <p:nvPr/>
        </p:nvCxnSpPr>
        <p:spPr>
          <a:xfrm rot="10800000">
            <a:off x="2590800" y="1828800"/>
            <a:ext cx="990600" cy="38100"/>
          </a:xfrm>
          <a:prstGeom prst="line">
            <a:avLst/>
          </a:prstGeom>
        </p:spPr>
        <p:style>
          <a:lnRef idx="1">
            <a:schemeClr val="accent1"/>
          </a:lnRef>
          <a:fillRef idx="0">
            <a:schemeClr val="accent1"/>
          </a:fillRef>
          <a:effectRef idx="0">
            <a:schemeClr val="accent1"/>
          </a:effectRef>
          <a:fontRef idx="minor">
            <a:schemeClr val="tx1"/>
          </a:fontRef>
        </p:style>
      </p:cxnSp>
      <p:cxnSp>
        <p:nvCxnSpPr>
          <p:cNvPr id="18" name="Straight Arrow Connector 17"/>
          <p:cNvCxnSpPr/>
          <p:nvPr/>
        </p:nvCxnSpPr>
        <p:spPr>
          <a:xfrm rot="16200000" flipH="1">
            <a:off x="6210300" y="2400300"/>
            <a:ext cx="1066800" cy="7620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20" name="Straight Arrow Connector 19"/>
          <p:cNvCxnSpPr/>
          <p:nvPr/>
        </p:nvCxnSpPr>
        <p:spPr>
          <a:xfrm rot="16200000" flipH="1">
            <a:off x="2019300" y="2400300"/>
            <a:ext cx="1219200" cy="7620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Steps to create assembly</a:t>
            </a:r>
            <a:endParaRPr lang="en-US" dirty="0"/>
          </a:p>
        </p:txBody>
      </p:sp>
      <p:sp>
        <p:nvSpPr>
          <p:cNvPr id="3" name="Content Placeholder 2"/>
          <p:cNvSpPr>
            <a:spLocks noGrp="1"/>
          </p:cNvSpPr>
          <p:nvPr>
            <p:ph idx="1"/>
          </p:nvPr>
        </p:nvSpPr>
        <p:spPr>
          <a:xfrm>
            <a:off x="457200" y="1219200"/>
            <a:ext cx="8229600" cy="4906963"/>
          </a:xfrm>
        </p:spPr>
        <p:txBody>
          <a:bodyPr>
            <a:normAutofit/>
          </a:bodyPr>
          <a:lstStyle/>
          <a:p>
            <a:pPr>
              <a:buNone/>
            </a:pPr>
            <a:r>
              <a:rPr lang="en-US" dirty="0" smtClean="0"/>
              <a:t>Click of file-&gt; new -&gt;project select visual c# -&gt; select class library </a:t>
            </a:r>
            <a:r>
              <a:rPr lang="en-US" dirty="0" err="1" smtClean="0"/>
              <a:t>templete</a:t>
            </a:r>
            <a:r>
              <a:rPr lang="en-US" dirty="0" smtClean="0"/>
              <a:t>-&gt; type the class library or assembly name(</a:t>
            </a:r>
            <a:r>
              <a:rPr lang="en-US" dirty="0" err="1" smtClean="0"/>
              <a:t>CLibMaths</a:t>
            </a:r>
            <a:r>
              <a:rPr lang="en-US" dirty="0" smtClean="0"/>
              <a:t>)-&gt;click on ok.</a:t>
            </a:r>
          </a:p>
          <a:p>
            <a:pPr>
              <a:buNone/>
            </a:pPr>
            <a:r>
              <a:rPr lang="en-US" dirty="0" smtClean="0"/>
              <a:t>Change the class name to </a:t>
            </a:r>
            <a:r>
              <a:rPr lang="en-US" dirty="0" err="1" smtClean="0"/>
              <a:t>ClsArithmetic</a:t>
            </a:r>
            <a:r>
              <a:rPr lang="en-US" dirty="0" smtClean="0"/>
              <a:t>-&gt; write the code following </a:t>
            </a:r>
            <a:r>
              <a:rPr lang="en-US" dirty="0" smtClean="0">
                <a:hlinkClick r:id="rId2" action="ppaction://hlinkfile"/>
              </a:rPr>
              <a:t>example</a:t>
            </a:r>
            <a:r>
              <a:rPr lang="en-US" dirty="0" smtClean="0"/>
              <a:t> .</a:t>
            </a:r>
          </a:p>
          <a:p>
            <a:pPr>
              <a:buNone/>
            </a:pPr>
            <a:r>
              <a:rPr lang="en-US" dirty="0" smtClean="0"/>
              <a:t>Add a new class with name </a:t>
            </a:r>
            <a:r>
              <a:rPr lang="en-US" dirty="0" err="1" smtClean="0"/>
              <a:t>ClsMathNumbers</a:t>
            </a:r>
            <a:endParaRPr lang="en-US" dirty="0" smtClean="0"/>
          </a:p>
          <a:p>
            <a:pPr>
              <a:buNone/>
            </a:pPr>
            <a:r>
              <a:rPr lang="en-US" dirty="0" smtClean="0"/>
              <a:t>Change the accessibility of the class to public and write following </a:t>
            </a:r>
            <a:r>
              <a:rPr lang="en-US" dirty="0" smtClean="0">
                <a:hlinkClick r:id="rId2" action="ppaction://hlinkfile"/>
              </a:rPr>
              <a:t>code</a:t>
            </a:r>
            <a:r>
              <a:rPr lang="en-US" dirty="0" smtClean="0"/>
              <a:t>.</a:t>
            </a:r>
            <a:endParaRPr lang="en-US" dirty="0"/>
          </a:p>
        </p:txBody>
      </p:sp>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487362"/>
          </a:xfrm>
        </p:spPr>
        <p:txBody>
          <a:bodyPr>
            <a:normAutofit fontScale="90000"/>
          </a:bodyPr>
          <a:lstStyle/>
          <a:p>
            <a:r>
              <a:rPr lang="en-US" dirty="0" smtClean="0"/>
              <a:t>Steps to create assembly(cont..)</a:t>
            </a:r>
            <a:endParaRPr lang="en-US" dirty="0"/>
          </a:p>
        </p:txBody>
      </p:sp>
      <p:sp>
        <p:nvSpPr>
          <p:cNvPr id="3" name="Content Placeholder 2"/>
          <p:cNvSpPr>
            <a:spLocks noGrp="1"/>
          </p:cNvSpPr>
          <p:nvPr>
            <p:ph idx="1"/>
          </p:nvPr>
        </p:nvSpPr>
        <p:spPr>
          <a:xfrm>
            <a:off x="457200" y="838200"/>
            <a:ext cx="8229600" cy="5287963"/>
          </a:xfrm>
        </p:spPr>
        <p:txBody>
          <a:bodyPr/>
          <a:lstStyle/>
          <a:p>
            <a:r>
              <a:rPr lang="en-US" dirty="0" smtClean="0"/>
              <a:t>Build the </a:t>
            </a:r>
            <a:r>
              <a:rPr lang="en-US" dirty="0" err="1" smtClean="0"/>
              <a:t>solution,this</a:t>
            </a:r>
            <a:r>
              <a:rPr lang="en-US" dirty="0" smtClean="0"/>
              <a:t> will create a </a:t>
            </a:r>
            <a:r>
              <a:rPr lang="en-US" dirty="0" err="1" smtClean="0"/>
              <a:t>dll.this</a:t>
            </a:r>
            <a:r>
              <a:rPr lang="en-US" dirty="0" smtClean="0"/>
              <a:t> </a:t>
            </a:r>
            <a:r>
              <a:rPr lang="en-US" dirty="0" err="1" smtClean="0"/>
              <a:t>dll</a:t>
            </a:r>
            <a:r>
              <a:rPr lang="en-US" dirty="0" smtClean="0"/>
              <a:t> is known as </a:t>
            </a:r>
            <a:r>
              <a:rPr lang="en-US" dirty="0" err="1" smtClean="0"/>
              <a:t>.net</a:t>
            </a:r>
            <a:r>
              <a:rPr lang="en-US" dirty="0" smtClean="0"/>
              <a:t> component.</a:t>
            </a:r>
          </a:p>
          <a:p>
            <a:r>
              <a:rPr lang="en-US" dirty="0" smtClean="0"/>
              <a:t>To see the </a:t>
            </a:r>
            <a:r>
              <a:rPr lang="en-US" dirty="0" err="1" smtClean="0"/>
              <a:t>dll</a:t>
            </a:r>
            <a:r>
              <a:rPr lang="en-US" dirty="0" smtClean="0"/>
              <a:t> go to the location where u save you application folder\bin\debug folder of the application . You will find the CLinMaths.dll</a:t>
            </a:r>
            <a:endParaRPr lang="en-US" dirty="0"/>
          </a:p>
        </p:txBody>
      </p:sp>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Consuming the component/Assembly as private</a:t>
            </a:r>
            <a:endParaRPr lang="en-US" dirty="0"/>
          </a:p>
        </p:txBody>
      </p:sp>
      <p:sp>
        <p:nvSpPr>
          <p:cNvPr id="3" name="Content Placeholder 2"/>
          <p:cNvSpPr>
            <a:spLocks noGrp="1"/>
          </p:cNvSpPr>
          <p:nvPr>
            <p:ph idx="1"/>
          </p:nvPr>
        </p:nvSpPr>
        <p:spPr/>
        <p:txBody>
          <a:bodyPr/>
          <a:lstStyle/>
          <a:p>
            <a:r>
              <a:rPr lang="en-US" dirty="0" smtClean="0"/>
              <a:t>Create a console application with the name </a:t>
            </a:r>
            <a:r>
              <a:rPr lang="en-US" dirty="0" err="1" smtClean="0"/>
              <a:t>CACheckCLibMathPrivate</a:t>
            </a:r>
            <a:r>
              <a:rPr lang="en-US" dirty="0" smtClean="0"/>
              <a:t>.</a:t>
            </a:r>
          </a:p>
          <a:p>
            <a:r>
              <a:rPr lang="en-US" dirty="0" smtClean="0"/>
              <a:t>Change class name to </a:t>
            </a:r>
            <a:r>
              <a:rPr lang="en-US" dirty="0" err="1" smtClean="0"/>
              <a:t>ClsSample</a:t>
            </a:r>
            <a:r>
              <a:rPr lang="en-US" dirty="0" smtClean="0"/>
              <a:t>.</a:t>
            </a:r>
          </a:p>
          <a:p>
            <a:r>
              <a:rPr lang="en-US" dirty="0" smtClean="0"/>
              <a:t>To consume any DLL/Component first we need to add reference to the DLL.</a:t>
            </a:r>
            <a:endParaRPr lang="en-US" dirty="0"/>
          </a:p>
        </p:txBody>
      </p:sp>
    </p:spTree>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639762"/>
          </a:xfrm>
        </p:spPr>
        <p:txBody>
          <a:bodyPr>
            <a:normAutofit fontScale="90000"/>
          </a:bodyPr>
          <a:lstStyle/>
          <a:p>
            <a:r>
              <a:rPr lang="en-US" dirty="0" smtClean="0"/>
              <a:t>Steps to add the reference.</a:t>
            </a:r>
            <a:endParaRPr lang="en-US" dirty="0"/>
          </a:p>
        </p:txBody>
      </p:sp>
      <p:sp>
        <p:nvSpPr>
          <p:cNvPr id="3" name="Content Placeholder 2"/>
          <p:cNvSpPr>
            <a:spLocks noGrp="1"/>
          </p:cNvSpPr>
          <p:nvPr>
            <p:ph idx="1"/>
          </p:nvPr>
        </p:nvSpPr>
        <p:spPr>
          <a:xfrm>
            <a:off x="457200" y="990600"/>
            <a:ext cx="8229600" cy="5135563"/>
          </a:xfrm>
        </p:spPr>
        <p:txBody>
          <a:bodyPr>
            <a:normAutofit lnSpcReduction="10000"/>
          </a:bodyPr>
          <a:lstStyle/>
          <a:p>
            <a:r>
              <a:rPr lang="en-US" dirty="0" smtClean="0"/>
              <a:t>Go to solution explorer.</a:t>
            </a:r>
          </a:p>
          <a:p>
            <a:r>
              <a:rPr lang="en-US" dirty="0" smtClean="0"/>
              <a:t>Select the solution</a:t>
            </a:r>
          </a:p>
          <a:p>
            <a:r>
              <a:rPr lang="en-US" dirty="0" smtClean="0"/>
              <a:t>Click with right mouse button.</a:t>
            </a:r>
          </a:p>
          <a:p>
            <a:r>
              <a:rPr lang="en-US" dirty="0" smtClean="0"/>
              <a:t>Click on add reference.</a:t>
            </a:r>
          </a:p>
          <a:p>
            <a:r>
              <a:rPr lang="en-US" dirty="0" smtClean="0"/>
              <a:t>Click on browse.</a:t>
            </a:r>
          </a:p>
          <a:p>
            <a:r>
              <a:rPr lang="en-US" dirty="0" smtClean="0"/>
              <a:t>Go to the location, where </a:t>
            </a:r>
            <a:r>
              <a:rPr lang="en-US" dirty="0" err="1" smtClean="0"/>
              <a:t>dll</a:t>
            </a:r>
            <a:r>
              <a:rPr lang="en-US" dirty="0" smtClean="0"/>
              <a:t> is saved</a:t>
            </a:r>
          </a:p>
          <a:p>
            <a:r>
              <a:rPr lang="en-US" dirty="0" smtClean="0"/>
              <a:t>Select the CLibMaths.dll and click on ok</a:t>
            </a:r>
          </a:p>
          <a:p>
            <a:r>
              <a:rPr lang="en-US" dirty="0" smtClean="0"/>
              <a:t>Write the following</a:t>
            </a:r>
            <a:r>
              <a:rPr lang="en-US" dirty="0" smtClean="0">
                <a:hlinkClick r:id="rId2" action="ppaction://hlinkfile"/>
              </a:rPr>
              <a:t> code</a:t>
            </a:r>
            <a:r>
              <a:rPr lang="en-US" dirty="0" smtClean="0"/>
              <a:t>.</a:t>
            </a:r>
          </a:p>
          <a:p>
            <a:r>
              <a:rPr lang="en-US" dirty="0" smtClean="0"/>
              <a:t>Run the application </a:t>
            </a:r>
            <a:r>
              <a:rPr lang="en-US" dirty="0" err="1" smtClean="0"/>
              <a:t>CACheckCLibMathPrivate</a:t>
            </a:r>
            <a:endParaRPr lang="en-US" dirty="0" smtClean="0"/>
          </a:p>
          <a:p>
            <a:endParaRPr lang="en-US" dirty="0"/>
          </a:p>
        </p:txBody>
      </p:sp>
    </p:spTree>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563562"/>
          </a:xfrm>
        </p:spPr>
        <p:txBody>
          <a:bodyPr>
            <a:normAutofit fontScale="90000"/>
          </a:bodyPr>
          <a:lstStyle/>
          <a:p>
            <a:r>
              <a:rPr lang="en-US" dirty="0" smtClean="0"/>
              <a:t>Making assembly as public</a:t>
            </a:r>
            <a:endParaRPr lang="en-US" dirty="0"/>
          </a:p>
        </p:txBody>
      </p:sp>
      <p:sp>
        <p:nvSpPr>
          <p:cNvPr id="3" name="Content Placeholder 2"/>
          <p:cNvSpPr>
            <a:spLocks noGrp="1"/>
          </p:cNvSpPr>
          <p:nvPr>
            <p:ph idx="1"/>
          </p:nvPr>
        </p:nvSpPr>
        <p:spPr>
          <a:xfrm>
            <a:off x="457200" y="838200"/>
            <a:ext cx="8229600" cy="5287963"/>
          </a:xfrm>
        </p:spPr>
        <p:txBody>
          <a:bodyPr/>
          <a:lstStyle/>
          <a:p>
            <a:pPr>
              <a:buNone/>
            </a:pPr>
            <a:r>
              <a:rPr lang="en-US" dirty="0" smtClean="0"/>
              <a:t>To make any assembly as public, use following steps</a:t>
            </a:r>
          </a:p>
          <a:p>
            <a:r>
              <a:rPr lang="en-US" dirty="0" smtClean="0"/>
              <a:t>Build the strong name.</a:t>
            </a:r>
          </a:p>
          <a:p>
            <a:r>
              <a:rPr lang="en-US" dirty="0" smtClean="0"/>
              <a:t>Signing of Assembly</a:t>
            </a:r>
          </a:p>
          <a:p>
            <a:r>
              <a:rPr lang="en-US" dirty="0" smtClean="0"/>
              <a:t>Copy the assembly into GAC.</a:t>
            </a:r>
          </a:p>
          <a:p>
            <a:endParaRPr lang="en-US" dirty="0"/>
          </a:p>
        </p:txBody>
      </p:sp>
    </p:spTree>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52400"/>
            <a:ext cx="8229600" cy="563562"/>
          </a:xfrm>
        </p:spPr>
        <p:txBody>
          <a:bodyPr>
            <a:normAutofit fontScale="90000"/>
          </a:bodyPr>
          <a:lstStyle/>
          <a:p>
            <a:r>
              <a:rPr lang="en-US" dirty="0" smtClean="0"/>
              <a:t>Strong name assembly?</a:t>
            </a:r>
            <a:endParaRPr lang="en-US" dirty="0"/>
          </a:p>
        </p:txBody>
      </p:sp>
      <p:sp>
        <p:nvSpPr>
          <p:cNvPr id="3" name="Content Placeholder 2"/>
          <p:cNvSpPr>
            <a:spLocks noGrp="1"/>
          </p:cNvSpPr>
          <p:nvPr>
            <p:ph idx="1"/>
          </p:nvPr>
        </p:nvSpPr>
        <p:spPr>
          <a:xfrm>
            <a:off x="457200" y="685800"/>
            <a:ext cx="8229600" cy="5440363"/>
          </a:xfrm>
        </p:spPr>
        <p:txBody>
          <a:bodyPr>
            <a:normAutofit fontScale="92500" lnSpcReduction="20000"/>
          </a:bodyPr>
          <a:lstStyle/>
          <a:p>
            <a:pPr>
              <a:buNone/>
            </a:pPr>
            <a:r>
              <a:rPr lang="en-US" dirty="0" smtClean="0"/>
              <a:t>An assembly which has 3 attributes like </a:t>
            </a:r>
            <a:r>
              <a:rPr lang="en-US" dirty="0" err="1" smtClean="0"/>
              <a:t>Name,Version</a:t>
            </a:r>
            <a:r>
              <a:rPr lang="en-US" dirty="0" smtClean="0"/>
              <a:t> &amp; </a:t>
            </a:r>
            <a:r>
              <a:rPr lang="en-US" dirty="0" err="1" smtClean="0"/>
              <a:t>PublicKeyToken</a:t>
            </a:r>
            <a:r>
              <a:rPr lang="en-US" dirty="0" smtClean="0"/>
              <a:t> value was known as strong named Assemblies.</a:t>
            </a:r>
          </a:p>
          <a:p>
            <a:pPr marL="514350" indent="-514350">
              <a:buFont typeface="+mj-lt"/>
              <a:buAutoNum type="arabicPeriod"/>
            </a:pPr>
            <a:r>
              <a:rPr lang="en-US" dirty="0" smtClean="0"/>
              <a:t>Name:- it was name of assembly used for identification. Every assembly by default has name </a:t>
            </a:r>
            <a:r>
              <a:rPr lang="en-US" dirty="0" err="1" smtClean="0"/>
              <a:t>eg:Passembly</a:t>
            </a:r>
            <a:r>
              <a:rPr lang="en-US" dirty="0" smtClean="0"/>
              <a:t>.</a:t>
            </a:r>
          </a:p>
          <a:p>
            <a:pPr marL="514350" indent="-514350">
              <a:buFont typeface="+mj-lt"/>
              <a:buAutoNum type="arabicPeriod"/>
            </a:pPr>
            <a:r>
              <a:rPr lang="en-US" dirty="0" smtClean="0"/>
              <a:t>Version:-every software has versions to it. For discriminating changes that has been made from time to time. As an assembly is also a software component it will maintain version, whenever the assembly is created it has a default version for it </a:t>
            </a:r>
            <a:r>
              <a:rPr lang="en-US" dirty="0" err="1" smtClean="0"/>
              <a:t>i.e</a:t>
            </a:r>
            <a:r>
              <a:rPr lang="en-US" dirty="0" smtClean="0"/>
              <a:t> 1.0.0.0, which can be changed when required.</a:t>
            </a:r>
            <a:endParaRPr lang="en-US" dirty="0"/>
          </a:p>
        </p:txBody>
      </p:sp>
    </p:spTree>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pPr>
              <a:buNone/>
            </a:pPr>
            <a:r>
              <a:rPr lang="en-US" dirty="0" smtClean="0"/>
              <a:t>3. Public key token:- as GAC contains multiple assemblies in it, to identify assemblies it will maintain a key value for each assembly know as public key token which should be generated by us &amp; associate with as assembly to make it strong named.</a:t>
            </a:r>
            <a:endParaRPr lang="en-US"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563562"/>
          </a:xfrm>
        </p:spPr>
        <p:txBody>
          <a:bodyPr>
            <a:normAutofit fontScale="90000"/>
          </a:bodyPr>
          <a:lstStyle/>
          <a:p>
            <a:r>
              <a:rPr lang="en-US" dirty="0" smtClean="0"/>
              <a:t>Building Strong Name</a:t>
            </a:r>
            <a:endParaRPr lang="en-US" dirty="0"/>
          </a:p>
        </p:txBody>
      </p:sp>
      <p:sp>
        <p:nvSpPr>
          <p:cNvPr id="3" name="Content Placeholder 2"/>
          <p:cNvSpPr>
            <a:spLocks noGrp="1"/>
          </p:cNvSpPr>
          <p:nvPr>
            <p:ph idx="1"/>
          </p:nvPr>
        </p:nvSpPr>
        <p:spPr>
          <a:xfrm>
            <a:off x="457200" y="838200"/>
            <a:ext cx="8229600" cy="5287963"/>
          </a:xfrm>
        </p:spPr>
        <p:txBody>
          <a:bodyPr>
            <a:normAutofit fontScale="92500" lnSpcReduction="10000"/>
          </a:bodyPr>
          <a:lstStyle/>
          <a:p>
            <a:r>
              <a:rPr lang="en-US" dirty="0" smtClean="0"/>
              <a:t>To build the strong name, we use a toll sn.exe.</a:t>
            </a:r>
          </a:p>
          <a:p>
            <a:r>
              <a:rPr lang="en-US" dirty="0" smtClean="0"/>
              <a:t>To build strong name use following steps</a:t>
            </a:r>
          </a:p>
          <a:p>
            <a:r>
              <a:rPr lang="en-US" dirty="0" smtClean="0"/>
              <a:t>Click on start -&gt; program-&gt; click on Microsoft visual studio 2008/2010-&gt; click  on visual studio tools-&gt; click on visual studio 2008 command prompt.</a:t>
            </a:r>
          </a:p>
          <a:p>
            <a:r>
              <a:rPr lang="en-US" dirty="0" smtClean="0"/>
              <a:t>Change the disk location to the CLibMath.dll location.</a:t>
            </a:r>
          </a:p>
          <a:p>
            <a:r>
              <a:rPr lang="en-US" dirty="0" smtClean="0"/>
              <a:t>Type </a:t>
            </a:r>
            <a:r>
              <a:rPr lang="en-US" dirty="0" err="1" smtClean="0"/>
              <a:t>sn.exe</a:t>
            </a:r>
            <a:r>
              <a:rPr lang="en-US" dirty="0" smtClean="0"/>
              <a:t>-k CLibKey.snk (enter)</a:t>
            </a:r>
          </a:p>
          <a:p>
            <a:r>
              <a:rPr lang="en-US" dirty="0" smtClean="0"/>
              <a:t>This will generate the key pair and will write into CLibKey.snk file.</a:t>
            </a:r>
            <a:endParaRPr lang="en-US"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563562"/>
          </a:xfrm>
        </p:spPr>
        <p:txBody>
          <a:bodyPr>
            <a:normAutofit fontScale="90000"/>
          </a:bodyPr>
          <a:lstStyle/>
          <a:p>
            <a:r>
              <a:rPr lang="en-US" dirty="0" smtClean="0"/>
              <a:t>Signing of Assembly</a:t>
            </a:r>
            <a:endParaRPr lang="en-US" dirty="0"/>
          </a:p>
        </p:txBody>
      </p:sp>
      <p:sp>
        <p:nvSpPr>
          <p:cNvPr id="3" name="Content Placeholder 2"/>
          <p:cNvSpPr>
            <a:spLocks noGrp="1"/>
          </p:cNvSpPr>
          <p:nvPr>
            <p:ph idx="1"/>
          </p:nvPr>
        </p:nvSpPr>
        <p:spPr>
          <a:xfrm>
            <a:off x="457200" y="838200"/>
            <a:ext cx="8229600" cy="5287963"/>
          </a:xfrm>
        </p:spPr>
        <p:txBody>
          <a:bodyPr/>
          <a:lstStyle/>
          <a:p>
            <a:r>
              <a:rPr lang="en-US" dirty="0" smtClean="0"/>
              <a:t>Signing of assembly means writing key file path into the assembly. To perform this use the following steps:</a:t>
            </a:r>
          </a:p>
          <a:p>
            <a:r>
              <a:rPr lang="en-US" dirty="0" smtClean="0"/>
              <a:t>Open </a:t>
            </a:r>
            <a:r>
              <a:rPr lang="en-US" dirty="0" err="1" smtClean="0"/>
              <a:t>ClibMaths</a:t>
            </a:r>
            <a:r>
              <a:rPr lang="en-US" dirty="0" smtClean="0"/>
              <a:t> application in VS.NET</a:t>
            </a:r>
          </a:p>
          <a:p>
            <a:r>
              <a:rPr lang="en-US" dirty="0" smtClean="0"/>
              <a:t>Go to Solution Explorer-&gt;click on ‘+’ symbol of properties.</a:t>
            </a:r>
          </a:p>
          <a:p>
            <a:r>
              <a:rPr lang="en-US" dirty="0" smtClean="0"/>
              <a:t>Double click on </a:t>
            </a:r>
            <a:r>
              <a:rPr lang="en-US" dirty="0" err="1" smtClean="0"/>
              <a:t>AssemblyInfo.cs</a:t>
            </a:r>
            <a:r>
              <a:rPr lang="en-US" dirty="0" smtClean="0"/>
              <a:t> file and add the following attribute to mention the key </a:t>
            </a:r>
            <a:r>
              <a:rPr lang="en-US" dirty="0" err="1" smtClean="0"/>
              <a:t>path.i.e</a:t>
            </a:r>
            <a:endParaRPr lang="en-US"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563562"/>
          </a:xfrm>
        </p:spPr>
        <p:txBody>
          <a:bodyPr>
            <a:normAutofit fontScale="90000"/>
          </a:bodyPr>
          <a:lstStyle/>
          <a:p>
            <a:r>
              <a:rPr lang="en-US" dirty="0" smtClean="0"/>
              <a:t>Signing of Assembly(cont..)</a:t>
            </a:r>
            <a:endParaRPr lang="en-US" dirty="0"/>
          </a:p>
        </p:txBody>
      </p:sp>
      <p:sp>
        <p:nvSpPr>
          <p:cNvPr id="3" name="Content Placeholder 2"/>
          <p:cNvSpPr>
            <a:spLocks noGrp="1"/>
          </p:cNvSpPr>
          <p:nvPr>
            <p:ph idx="1"/>
          </p:nvPr>
        </p:nvSpPr>
        <p:spPr>
          <a:xfrm>
            <a:off x="457200" y="990600"/>
            <a:ext cx="8229600" cy="5135563"/>
          </a:xfrm>
        </p:spPr>
        <p:txBody>
          <a:bodyPr/>
          <a:lstStyle/>
          <a:p>
            <a:r>
              <a:rPr lang="en-US" dirty="0" smtClean="0"/>
              <a:t>[</a:t>
            </a:r>
            <a:r>
              <a:rPr lang="en-US" dirty="0" err="1" smtClean="0"/>
              <a:t>assembly:AssemblyKeyFile</a:t>
            </a:r>
            <a:r>
              <a:rPr lang="en-US" dirty="0" smtClean="0"/>
              <a:t>(“D:\\</a:t>
            </a:r>
            <a:r>
              <a:rPr lang="en-US" dirty="0" err="1" smtClean="0"/>
              <a:t>CLibMaths</a:t>
            </a:r>
            <a:r>
              <a:rPr lang="en-US" dirty="0" smtClean="0"/>
              <a:t>\\bin\\Debug\\CLibKey.snk”)] //assuming that application is saved in D:\</a:t>
            </a:r>
          </a:p>
          <a:p>
            <a:r>
              <a:rPr lang="en-US" dirty="0" smtClean="0"/>
              <a:t>Build the application.</a:t>
            </a:r>
            <a:endParaRPr lang="en-US"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639762"/>
          </a:xfrm>
        </p:spPr>
        <p:txBody>
          <a:bodyPr>
            <a:normAutofit fontScale="90000"/>
          </a:bodyPr>
          <a:lstStyle/>
          <a:p>
            <a:r>
              <a:rPr lang="en-US" dirty="0" smtClean="0"/>
              <a:t>Copying the Assembly into GAC.</a:t>
            </a:r>
            <a:endParaRPr lang="en-US" dirty="0"/>
          </a:p>
        </p:txBody>
      </p:sp>
      <p:sp>
        <p:nvSpPr>
          <p:cNvPr id="3" name="Content Placeholder 2"/>
          <p:cNvSpPr>
            <a:spLocks noGrp="1"/>
          </p:cNvSpPr>
          <p:nvPr>
            <p:ph idx="1"/>
          </p:nvPr>
        </p:nvSpPr>
        <p:spPr>
          <a:xfrm>
            <a:off x="457200" y="990600"/>
            <a:ext cx="8229600" cy="5135563"/>
          </a:xfrm>
        </p:spPr>
        <p:txBody>
          <a:bodyPr/>
          <a:lstStyle/>
          <a:p>
            <a:pPr>
              <a:buNone/>
            </a:pPr>
            <a:r>
              <a:rPr lang="en-US" dirty="0" smtClean="0"/>
              <a:t>To copy the assembly into GAC use the following steps.</a:t>
            </a:r>
          </a:p>
          <a:p>
            <a:r>
              <a:rPr lang="en-US" dirty="0" smtClean="0"/>
              <a:t>Go to Visual </a:t>
            </a:r>
            <a:r>
              <a:rPr lang="en-US" dirty="0" err="1" smtClean="0"/>
              <a:t>Studio.Net</a:t>
            </a:r>
            <a:r>
              <a:rPr lang="en-US" dirty="0" smtClean="0"/>
              <a:t> command prompt.</a:t>
            </a:r>
          </a:p>
          <a:p>
            <a:r>
              <a:rPr lang="en-US" dirty="0" smtClean="0"/>
              <a:t>Change the disk location to CLibMaths.dll location</a:t>
            </a:r>
          </a:p>
          <a:p>
            <a:r>
              <a:rPr lang="en-US" dirty="0" smtClean="0"/>
              <a:t>Type the following code.</a:t>
            </a:r>
          </a:p>
          <a:p>
            <a:r>
              <a:rPr lang="en-US" dirty="0" err="1" smtClean="0"/>
              <a:t>GACUTIL.exe</a:t>
            </a:r>
            <a:r>
              <a:rPr lang="en-US" dirty="0" smtClean="0"/>
              <a:t>-I CLibMaths.dll(enter)</a:t>
            </a:r>
          </a:p>
          <a:p>
            <a:r>
              <a:rPr lang="en-US" dirty="0" smtClean="0"/>
              <a:t>Message appears that “assembly successfully added to the cache”.</a:t>
            </a:r>
            <a:endParaRPr lang="en-US"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563562"/>
          </a:xfrm>
        </p:spPr>
        <p:txBody>
          <a:bodyPr>
            <a:normAutofit fontScale="90000"/>
          </a:bodyPr>
          <a:lstStyle/>
          <a:p>
            <a:r>
              <a:rPr lang="en-US" dirty="0" smtClean="0"/>
              <a:t>Consuming public assembly</a:t>
            </a:r>
            <a:endParaRPr lang="en-US" dirty="0"/>
          </a:p>
        </p:txBody>
      </p:sp>
      <p:sp>
        <p:nvSpPr>
          <p:cNvPr id="3" name="Content Placeholder 2"/>
          <p:cNvSpPr>
            <a:spLocks noGrp="1"/>
          </p:cNvSpPr>
          <p:nvPr>
            <p:ph idx="1"/>
          </p:nvPr>
        </p:nvSpPr>
        <p:spPr>
          <a:xfrm>
            <a:off x="457200" y="914400"/>
            <a:ext cx="8229600" cy="5211763"/>
          </a:xfrm>
        </p:spPr>
        <p:txBody>
          <a:bodyPr/>
          <a:lstStyle/>
          <a:p>
            <a:r>
              <a:rPr lang="en-US" dirty="0" smtClean="0"/>
              <a:t>Create a console application with a name </a:t>
            </a:r>
            <a:r>
              <a:rPr lang="en-US" dirty="0" err="1" smtClean="0"/>
              <a:t>CACheckCLibPublic</a:t>
            </a:r>
            <a:r>
              <a:rPr lang="en-US" dirty="0" smtClean="0"/>
              <a:t>.</a:t>
            </a:r>
          </a:p>
          <a:p>
            <a:r>
              <a:rPr lang="en-US" dirty="0" smtClean="0"/>
              <a:t>Change the class name to </a:t>
            </a:r>
            <a:r>
              <a:rPr lang="en-US" dirty="0" err="1" smtClean="0"/>
              <a:t>ClsSample</a:t>
            </a:r>
            <a:r>
              <a:rPr lang="en-US" dirty="0" smtClean="0"/>
              <a:t>.</a:t>
            </a:r>
          </a:p>
          <a:p>
            <a:r>
              <a:rPr lang="en-US" dirty="0" smtClean="0"/>
              <a:t>Add Reference to CLibMaths.dll (Note: Don’t add the reference from GAC, rather add the reference from the original disk location of the </a:t>
            </a:r>
            <a:r>
              <a:rPr lang="en-US" dirty="0" err="1" smtClean="0"/>
              <a:t>dll</a:t>
            </a:r>
            <a:r>
              <a:rPr lang="en-US" dirty="0" smtClean="0"/>
              <a:t>).</a:t>
            </a:r>
          </a:p>
          <a:p>
            <a:r>
              <a:rPr lang="en-US" dirty="0" smtClean="0"/>
              <a:t>Write the following code</a:t>
            </a:r>
            <a:endParaRPr lang="en-US"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457200"/>
            <a:ext cx="8229600" cy="5668963"/>
          </a:xfrm>
        </p:spPr>
        <p:txBody>
          <a:bodyPr>
            <a:normAutofit lnSpcReduction="10000"/>
          </a:bodyPr>
          <a:lstStyle/>
          <a:p>
            <a:r>
              <a:rPr lang="en-US" dirty="0" smtClean="0"/>
              <a:t>There is no difference in writing code in private and public assemblies.</a:t>
            </a:r>
          </a:p>
          <a:p>
            <a:r>
              <a:rPr lang="en-US" dirty="0" smtClean="0"/>
              <a:t>In case of private assemblies the </a:t>
            </a:r>
            <a:r>
              <a:rPr lang="en-US" dirty="0" err="1" smtClean="0"/>
              <a:t>dll</a:t>
            </a:r>
            <a:r>
              <a:rPr lang="en-US" dirty="0" smtClean="0"/>
              <a:t> will be copied in to the application bin\Debug folder and also where ever the application exe is copied the assembly </a:t>
            </a:r>
            <a:r>
              <a:rPr lang="en-US" dirty="0" err="1" smtClean="0"/>
              <a:t>dll</a:t>
            </a:r>
            <a:r>
              <a:rPr lang="en-US" dirty="0" smtClean="0"/>
              <a:t> also should be copied.</a:t>
            </a:r>
          </a:p>
          <a:p>
            <a:r>
              <a:rPr lang="en-US" dirty="0" smtClean="0"/>
              <a:t>In case of public assemblies the </a:t>
            </a:r>
            <a:r>
              <a:rPr lang="en-US" dirty="0" err="1" smtClean="0"/>
              <a:t>dll</a:t>
            </a:r>
            <a:r>
              <a:rPr lang="en-US" dirty="0" smtClean="0"/>
              <a:t> will not be copied in to the application bin\Debug folder and also where ever the application exe is copied the assembly </a:t>
            </a:r>
            <a:r>
              <a:rPr lang="en-US" dirty="0" err="1" smtClean="0"/>
              <a:t>dll</a:t>
            </a:r>
            <a:r>
              <a:rPr lang="en-US" smtClean="0"/>
              <a:t> is </a:t>
            </a:r>
            <a:r>
              <a:rPr lang="en-US" dirty="0" smtClean="0"/>
              <a:t>not required be copied rather reference will be taken from the GAC.</a:t>
            </a:r>
            <a:endParaRPr lang="en-US"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253</TotalTime>
  <Words>1223</Words>
  <Application>Microsoft Office PowerPoint</Application>
  <PresentationFormat>On-screen Show (4:3)</PresentationFormat>
  <Paragraphs>111</Paragraphs>
  <Slides>25</Slides>
  <Notes>0</Notes>
  <HiddenSlides>0</HiddenSlides>
  <MMClips>0</MMClips>
  <ScaleCrop>false</ScaleCrop>
  <HeadingPairs>
    <vt:vector size="4" baseType="variant">
      <vt:variant>
        <vt:lpstr>Theme</vt:lpstr>
      </vt:variant>
      <vt:variant>
        <vt:i4>1</vt:i4>
      </vt:variant>
      <vt:variant>
        <vt:lpstr>Slide Titles</vt:lpstr>
      </vt:variant>
      <vt:variant>
        <vt:i4>25</vt:i4>
      </vt:variant>
    </vt:vector>
  </HeadingPairs>
  <TitlesOfParts>
    <vt:vector size="26" baseType="lpstr">
      <vt:lpstr>Office Theme</vt:lpstr>
      <vt:lpstr>Assemblies</vt:lpstr>
      <vt:lpstr>Assemblies </vt:lpstr>
      <vt:lpstr>Exe assemblies </vt:lpstr>
      <vt:lpstr>DLL Assembly</vt:lpstr>
      <vt:lpstr>What is components</vt:lpstr>
      <vt:lpstr>Component (cont..)</vt:lpstr>
      <vt:lpstr>Component (cont..)</vt:lpstr>
      <vt:lpstr>Assemblies are two types</vt:lpstr>
      <vt:lpstr>Private assembly</vt:lpstr>
      <vt:lpstr>Slide 10</vt:lpstr>
      <vt:lpstr>Share Assembly</vt:lpstr>
      <vt:lpstr>Class diagram</vt:lpstr>
      <vt:lpstr>Steps to create assembly</vt:lpstr>
      <vt:lpstr>Steps to create assembly(cont..)</vt:lpstr>
      <vt:lpstr>Consuming the component/Assembly as private</vt:lpstr>
      <vt:lpstr>Steps to add the reference.</vt:lpstr>
      <vt:lpstr>Making assembly as public</vt:lpstr>
      <vt:lpstr>Strong name assembly?</vt:lpstr>
      <vt:lpstr>Slide 19</vt:lpstr>
      <vt:lpstr>Building Strong Name</vt:lpstr>
      <vt:lpstr>Signing of Assembly</vt:lpstr>
      <vt:lpstr>Signing of Assembly(cont..)</vt:lpstr>
      <vt:lpstr>Copying the Assembly into GAC.</vt:lpstr>
      <vt:lpstr>Consuming public assembly</vt:lpstr>
      <vt:lpstr>Slide 25</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Assemblies</dc:title>
  <dc:creator>krishna</dc:creator>
  <cp:lastModifiedBy>krishna</cp:lastModifiedBy>
  <cp:revision>34</cp:revision>
  <dcterms:created xsi:type="dcterms:W3CDTF">2011-11-23T11:09:56Z</dcterms:created>
  <dcterms:modified xsi:type="dcterms:W3CDTF">2011-11-28T01:31:59Z</dcterms:modified>
</cp:coreProperties>
</file>