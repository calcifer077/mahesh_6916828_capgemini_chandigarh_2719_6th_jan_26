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59" r:id="rId4"/>
    <p:sldId id="260" r:id="rId5"/>
    <p:sldId id="263" r:id="rId6"/>
    <p:sldId id="264" r:id="rId7"/>
    <p:sldId id="265" r:id="rId8"/>
    <p:sldId id="266" r:id="rId9"/>
    <p:sldId id="267" r:id="rId10"/>
    <p:sldId id="268" r:id="rId11"/>
    <p:sldId id="270" r:id="rId12"/>
    <p:sldId id="271" r:id="rId13"/>
    <p:sldId id="276" r:id="rId14"/>
    <p:sldId id="272" r:id="rId15"/>
    <p:sldId id="274" r:id="rId16"/>
    <p:sldId id="277" r:id="rId17"/>
    <p:sldId id="278" r:id="rId18"/>
    <p:sldId id="279" r:id="rId19"/>
    <p:sldId id="280" r:id="rId20"/>
    <p:sldId id="281" r:id="rId21"/>
    <p:sldId id="282" r:id="rId22"/>
    <p:sldId id="283" r:id="rId23"/>
    <p:sldId id="284" r:id="rId24"/>
    <p:sldId id="257"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p:cViewPr varScale="1">
        <p:scale>
          <a:sx n="69" d="100"/>
          <a:sy n="69" d="100"/>
        </p:scale>
        <p:origin x="-141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10790A-D8C5-4ED3-9E37-C76103B3AB1D}" type="datetimeFigureOut">
              <a:rPr lang="en-US" smtClean="0"/>
              <a:t>8/5/2011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C47F7E-EEED-45A3-A3FF-56DCE482A14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8/5/2011</a:t>
            </a:r>
            <a:endParaRPr lang="en-US"/>
          </a:p>
        </p:txBody>
      </p:sp>
      <p:sp>
        <p:nvSpPr>
          <p:cNvPr id="5" name="Footer Placeholder 4"/>
          <p:cNvSpPr>
            <a:spLocks noGrp="1"/>
          </p:cNvSpPr>
          <p:nvPr>
            <p:ph type="ftr" sz="quarter" idx="11"/>
          </p:nvPr>
        </p:nvSpPr>
        <p:spPr/>
        <p:txBody>
          <a:bodyPr/>
          <a:lstStyle/>
          <a:p>
            <a:r>
              <a:rPr lang="en-US" smtClean="0"/>
              <a:t>krishna</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8/5/2011</a:t>
            </a:r>
            <a:endParaRPr lang="en-US"/>
          </a:p>
        </p:txBody>
      </p:sp>
      <p:sp>
        <p:nvSpPr>
          <p:cNvPr id="5" name="Footer Placeholder 4"/>
          <p:cNvSpPr>
            <a:spLocks noGrp="1"/>
          </p:cNvSpPr>
          <p:nvPr>
            <p:ph type="ftr" sz="quarter" idx="11"/>
          </p:nvPr>
        </p:nvSpPr>
        <p:spPr/>
        <p:txBody>
          <a:bodyPr/>
          <a:lstStyle/>
          <a:p>
            <a:r>
              <a:rPr lang="en-US" smtClean="0"/>
              <a:t>krishna</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8/5/2011</a:t>
            </a:r>
            <a:endParaRPr lang="en-US"/>
          </a:p>
        </p:txBody>
      </p:sp>
      <p:sp>
        <p:nvSpPr>
          <p:cNvPr id="5" name="Footer Placeholder 4"/>
          <p:cNvSpPr>
            <a:spLocks noGrp="1"/>
          </p:cNvSpPr>
          <p:nvPr>
            <p:ph type="ftr" sz="quarter" idx="11"/>
          </p:nvPr>
        </p:nvSpPr>
        <p:spPr/>
        <p:txBody>
          <a:bodyPr/>
          <a:lstStyle/>
          <a:p>
            <a:r>
              <a:rPr lang="en-US" smtClean="0"/>
              <a:t>krishna</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8/5/2011</a:t>
            </a:r>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
        <p:nvSpPr>
          <p:cNvPr id="7" name="Slide Number Placeholder 6"/>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8/5/2011</a:t>
            </a:r>
            <a:endParaRPr lang="en-US"/>
          </a:p>
        </p:txBody>
      </p:sp>
      <p:sp>
        <p:nvSpPr>
          <p:cNvPr id="8" name="Footer Placeholder 7"/>
          <p:cNvSpPr>
            <a:spLocks noGrp="1"/>
          </p:cNvSpPr>
          <p:nvPr>
            <p:ph type="ftr" sz="quarter" idx="11"/>
          </p:nvPr>
        </p:nvSpPr>
        <p:spPr/>
        <p:txBody>
          <a:bodyPr/>
          <a:lstStyle/>
          <a:p>
            <a:r>
              <a:rPr lang="en-US" smtClean="0"/>
              <a:t>krishna</a:t>
            </a:r>
            <a:endParaRPr lang="en-US"/>
          </a:p>
        </p:txBody>
      </p:sp>
      <p:sp>
        <p:nvSpPr>
          <p:cNvPr id="9" name="Slide Number Placeholder 8"/>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8/5/2011</a:t>
            </a:r>
            <a:endParaRPr lang="en-US"/>
          </a:p>
        </p:txBody>
      </p:sp>
      <p:sp>
        <p:nvSpPr>
          <p:cNvPr id="4" name="Footer Placeholder 3"/>
          <p:cNvSpPr>
            <a:spLocks noGrp="1"/>
          </p:cNvSpPr>
          <p:nvPr>
            <p:ph type="ftr" sz="quarter" idx="11"/>
          </p:nvPr>
        </p:nvSpPr>
        <p:spPr/>
        <p:txBody>
          <a:bodyPr/>
          <a:lstStyle/>
          <a:p>
            <a:r>
              <a:rPr lang="en-US" smtClean="0"/>
              <a:t>krishna</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8/5/2011</a:t>
            </a:r>
            <a:endParaRPr lang="en-US"/>
          </a:p>
        </p:txBody>
      </p:sp>
      <p:sp>
        <p:nvSpPr>
          <p:cNvPr id="3" name="Footer Placeholder 2"/>
          <p:cNvSpPr>
            <a:spLocks noGrp="1"/>
          </p:cNvSpPr>
          <p:nvPr>
            <p:ph type="ftr" sz="quarter" idx="11"/>
          </p:nvPr>
        </p:nvSpPr>
        <p:spPr/>
        <p:txBody>
          <a:bodyPr/>
          <a:lstStyle/>
          <a:p>
            <a:r>
              <a:rPr lang="en-US" smtClean="0"/>
              <a:t>krishna</a:t>
            </a:r>
            <a:endParaRPr lang="en-US"/>
          </a:p>
        </p:txBody>
      </p:sp>
      <p:sp>
        <p:nvSpPr>
          <p:cNvPr id="4" name="Slide Number Placeholder 3"/>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8/5/2011</a:t>
            </a:r>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
        <p:nvSpPr>
          <p:cNvPr id="7" name="Slide Number Placeholder 6"/>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8/5/2011</a:t>
            </a:r>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
        <p:nvSpPr>
          <p:cNvPr id="7" name="Slide Number Placeholder 6"/>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8/5/2011</a:t>
            </a:r>
            <a:endParaRPr lang="en-US"/>
          </a:p>
        </p:txBody>
      </p:sp>
      <p:sp>
        <p:nvSpPr>
          <p:cNvPr id="5" name="Footer Placeholder 4"/>
          <p:cNvSpPr>
            <a:spLocks noGrp="1"/>
          </p:cNvSpPr>
          <p:nvPr>
            <p:ph type="ftr" sz="quarter" idx="11"/>
          </p:nvPr>
        </p:nvSpPr>
        <p:spPr/>
        <p:txBody>
          <a:bodyPr/>
          <a:lstStyle/>
          <a:p>
            <a:r>
              <a:rPr lang="en-US" smtClean="0"/>
              <a:t>krishna</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8/5/2011</a:t>
            </a:r>
            <a:endParaRPr lang="en-US"/>
          </a:p>
        </p:txBody>
      </p:sp>
      <p:sp>
        <p:nvSpPr>
          <p:cNvPr id="5" name="Footer Placeholder 4"/>
          <p:cNvSpPr>
            <a:spLocks noGrp="1"/>
          </p:cNvSpPr>
          <p:nvPr>
            <p:ph type="ftr" sz="quarter" idx="11"/>
          </p:nvPr>
        </p:nvSpPr>
        <p:spPr/>
        <p:txBody>
          <a:bodyPr/>
          <a:lstStyle/>
          <a:p>
            <a:r>
              <a:rPr lang="en-US" smtClean="0"/>
              <a:t>krishna</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8/5/2011</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krishna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E633D0-5D12-4889-9E07-20E0B716E1C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Delegates</a:t>
            </a:r>
            <a:endParaRPr lang="en-US" dirty="0"/>
          </a:p>
        </p:txBody>
      </p:sp>
      <p:sp>
        <p:nvSpPr>
          <p:cNvPr id="5" name="Subtitle 4"/>
          <p:cNvSpPr>
            <a:spLocks noGrp="1"/>
          </p:cNvSpPr>
          <p:nvPr>
            <p:ph type="subTitle" idx="1"/>
          </p:nvPr>
        </p:nvSpPr>
        <p:spPr/>
        <p:txBody>
          <a:bodyPr/>
          <a:lstStyle/>
          <a:p>
            <a:r>
              <a:rPr lang="en-US" dirty="0" smtClean="0"/>
              <a:t>Events</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1</a:t>
            </a:fld>
            <a:endParaRPr lang="en-US"/>
          </a:p>
        </p:txBody>
      </p:sp>
      <p:sp>
        <p:nvSpPr>
          <p:cNvPr id="7" name="Footer Placeholder 6"/>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Delegates</a:t>
            </a:r>
            <a:endParaRPr lang="en-US" dirty="0"/>
          </a:p>
        </p:txBody>
      </p:sp>
      <p:sp>
        <p:nvSpPr>
          <p:cNvPr id="3" name="Content Placeholder 2"/>
          <p:cNvSpPr>
            <a:spLocks noGrp="1"/>
          </p:cNvSpPr>
          <p:nvPr>
            <p:ph idx="1"/>
          </p:nvPr>
        </p:nvSpPr>
        <p:spPr/>
        <p:txBody>
          <a:bodyPr/>
          <a:lstStyle/>
          <a:p>
            <a:r>
              <a:rPr lang="en-US" dirty="0" smtClean="0"/>
              <a:t>What is delegate?</a:t>
            </a:r>
          </a:p>
          <a:p>
            <a:r>
              <a:rPr lang="en-US" dirty="0" smtClean="0"/>
              <a:t>Who to create delegates?</a:t>
            </a:r>
          </a:p>
          <a:p>
            <a:r>
              <a:rPr lang="en-US" dirty="0" smtClean="0"/>
              <a:t>Why we are using delegate?</a:t>
            </a:r>
          </a:p>
          <a:p>
            <a:r>
              <a:rPr lang="en-US" dirty="0" smtClean="0"/>
              <a:t>Types of delegates?</a:t>
            </a:r>
          </a:p>
          <a:p>
            <a:r>
              <a:rPr lang="en-US" dirty="0" smtClean="0"/>
              <a:t>Examples .</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delegate?</a:t>
            </a:r>
            <a:endParaRPr lang="en-US" dirty="0"/>
          </a:p>
        </p:txBody>
      </p:sp>
      <p:sp>
        <p:nvSpPr>
          <p:cNvPr id="3" name="Content Placeholder 2"/>
          <p:cNvSpPr>
            <a:spLocks noGrp="1"/>
          </p:cNvSpPr>
          <p:nvPr>
            <p:ph idx="1"/>
          </p:nvPr>
        </p:nvSpPr>
        <p:spPr/>
        <p:txBody>
          <a:bodyPr/>
          <a:lstStyle/>
          <a:p>
            <a:r>
              <a:rPr lang="en-US" dirty="0" smtClean="0"/>
              <a:t>Delegate is a object which contain the reference of the method. so that we can invoke the method dynamically by using reference of the method.</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we are using delegate?</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A method can be called in 2 ways of execution.</a:t>
            </a:r>
          </a:p>
          <a:p>
            <a:r>
              <a:rPr lang="en-US" dirty="0" smtClean="0"/>
              <a:t>Directly call the method using class object.</a:t>
            </a:r>
          </a:p>
          <a:p>
            <a:r>
              <a:rPr lang="en-US" dirty="0" smtClean="0"/>
              <a:t>Calling a method using a delegate.</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Delegate (Cont..)</a:t>
            </a:r>
            <a:endParaRPr lang="en-US" dirty="0"/>
          </a:p>
        </p:txBody>
      </p:sp>
      <p:sp>
        <p:nvSpPr>
          <p:cNvPr id="3" name="Content Placeholder 2"/>
          <p:cNvSpPr>
            <a:spLocks noGrp="1"/>
          </p:cNvSpPr>
          <p:nvPr>
            <p:ph idx="1"/>
          </p:nvPr>
        </p:nvSpPr>
        <p:spPr/>
        <p:txBody>
          <a:bodyPr/>
          <a:lstStyle/>
          <a:p>
            <a:r>
              <a:rPr lang="en-US" b="1" dirty="0" smtClean="0"/>
              <a:t>first :-</a:t>
            </a:r>
            <a:r>
              <a:rPr lang="en-US" dirty="0" smtClean="0"/>
              <a:t> To execute a method each time a stack get created and destroyed </a:t>
            </a:r>
          </a:p>
          <a:p>
            <a:r>
              <a:rPr lang="en-US" dirty="0" smtClean="0"/>
              <a:t>Where as</a:t>
            </a:r>
          </a:p>
          <a:p>
            <a:r>
              <a:rPr lang="en-US" dirty="0" smtClean="0"/>
              <a:t>Using delegates ,under a single stack  a method get executed single time .</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Who to create delegate?</a:t>
            </a:r>
            <a:endParaRPr lang="en-US" dirty="0"/>
          </a:p>
        </p:txBody>
      </p:sp>
      <p:sp>
        <p:nvSpPr>
          <p:cNvPr id="3" name="Content Placeholder 2"/>
          <p:cNvSpPr>
            <a:spLocks noGrp="1"/>
          </p:cNvSpPr>
          <p:nvPr>
            <p:ph idx="1"/>
          </p:nvPr>
        </p:nvSpPr>
        <p:spPr>
          <a:xfrm>
            <a:off x="457200" y="990600"/>
            <a:ext cx="8229600" cy="5135563"/>
          </a:xfrm>
        </p:spPr>
        <p:txBody>
          <a:bodyPr/>
          <a:lstStyle/>
          <a:p>
            <a:pPr>
              <a:buNone/>
            </a:pPr>
            <a:r>
              <a:rPr lang="en-US" dirty="0" smtClean="0"/>
              <a:t>1)Declaring a delegate:-</a:t>
            </a:r>
          </a:p>
          <a:p>
            <a:r>
              <a:rPr lang="en-US" dirty="0" smtClean="0"/>
              <a:t>While declaring a delegate to invoke a method make sure the i.e. parameter of delegate will be exactly same as the i.e. parameter of method it has to call. </a:t>
            </a:r>
          </a:p>
          <a:p>
            <a:pPr>
              <a:buNone/>
            </a:pPr>
            <a:r>
              <a:rPr lang="en-US" sz="1800" dirty="0" smtClean="0"/>
              <a:t>Public void Add(</a:t>
            </a:r>
            <a:r>
              <a:rPr lang="en-US" sz="1800" dirty="0" err="1" smtClean="0"/>
              <a:t>int</a:t>
            </a:r>
            <a:r>
              <a:rPr lang="en-US" sz="1800" dirty="0" smtClean="0"/>
              <a:t> </a:t>
            </a:r>
            <a:r>
              <a:rPr lang="en-US" sz="1800" dirty="0" err="1" smtClean="0"/>
              <a:t>x,int</a:t>
            </a:r>
            <a:r>
              <a:rPr lang="en-US" sz="1800" dirty="0" smtClean="0"/>
              <a:t> y)</a:t>
            </a:r>
          </a:p>
          <a:p>
            <a:pPr>
              <a:buNone/>
            </a:pPr>
            <a:r>
              <a:rPr lang="en-US" sz="1800" dirty="0" smtClean="0"/>
              <a:t>{</a:t>
            </a:r>
          </a:p>
          <a:p>
            <a:pPr>
              <a:buNone/>
            </a:pPr>
            <a:r>
              <a:rPr lang="en-US" sz="1800" dirty="0" smtClean="0"/>
              <a:t>	return(</a:t>
            </a:r>
            <a:r>
              <a:rPr lang="en-US" sz="1800" dirty="0" err="1" smtClean="0"/>
              <a:t>x+y</a:t>
            </a:r>
            <a:r>
              <a:rPr lang="en-US" sz="1800" dirty="0" smtClean="0"/>
              <a:t>)</a:t>
            </a:r>
          </a:p>
          <a:p>
            <a:pPr>
              <a:buNone/>
            </a:pPr>
            <a:r>
              <a:rPr lang="en-US" sz="1800" dirty="0" smtClean="0"/>
              <a:t>}</a:t>
            </a:r>
          </a:p>
          <a:p>
            <a:pPr>
              <a:buNone/>
            </a:pPr>
            <a:r>
              <a:rPr lang="en-US" sz="1800" dirty="0" smtClean="0"/>
              <a:t>Public delegate void </a:t>
            </a:r>
            <a:r>
              <a:rPr lang="en-US" sz="1800" dirty="0" err="1" smtClean="0"/>
              <a:t>AddDel</a:t>
            </a:r>
            <a:r>
              <a:rPr lang="en-US" sz="1800" dirty="0" smtClean="0"/>
              <a:t>(</a:t>
            </a:r>
            <a:r>
              <a:rPr lang="en-US" sz="1800" dirty="0" err="1" smtClean="0"/>
              <a:t>int</a:t>
            </a:r>
            <a:r>
              <a:rPr lang="en-US" sz="1800" dirty="0" smtClean="0"/>
              <a:t> </a:t>
            </a:r>
            <a:r>
              <a:rPr lang="en-US" sz="1800" dirty="0" err="1" smtClean="0"/>
              <a:t>x,int</a:t>
            </a:r>
            <a:r>
              <a:rPr lang="en-US" sz="1800" dirty="0" smtClean="0"/>
              <a:t> y)</a:t>
            </a:r>
            <a:endParaRPr lang="en-US" sz="1800" dirty="0"/>
          </a:p>
        </p:txBody>
      </p:sp>
      <p:sp>
        <p:nvSpPr>
          <p:cNvPr id="4" name="Rectangle 3"/>
          <p:cNvSpPr/>
          <p:nvPr/>
        </p:nvSpPr>
        <p:spPr>
          <a:xfrm>
            <a:off x="4572000" y="3657600"/>
            <a:ext cx="4038600" cy="2057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Public string  </a:t>
            </a:r>
            <a:r>
              <a:rPr lang="en-US" dirty="0" err="1" smtClean="0"/>
              <a:t>SayHello</a:t>
            </a:r>
            <a:r>
              <a:rPr lang="en-US" dirty="0" smtClean="0"/>
              <a:t> (string name)</a:t>
            </a:r>
          </a:p>
          <a:p>
            <a:r>
              <a:rPr lang="en-US" dirty="0" smtClean="0"/>
              <a:t>{</a:t>
            </a:r>
          </a:p>
          <a:p>
            <a:r>
              <a:rPr lang="en-US" dirty="0" smtClean="0"/>
              <a:t>     return “Hello”+ name</a:t>
            </a:r>
          </a:p>
          <a:p>
            <a:r>
              <a:rPr lang="en-US" dirty="0" smtClean="0"/>
              <a:t>}</a:t>
            </a:r>
          </a:p>
          <a:p>
            <a:r>
              <a:rPr lang="en-US" dirty="0" smtClean="0"/>
              <a:t>Public  </a:t>
            </a:r>
            <a:r>
              <a:rPr lang="en-US" dirty="0" err="1" smtClean="0"/>
              <a:t>delegatre</a:t>
            </a:r>
            <a:r>
              <a:rPr lang="en-US" dirty="0" smtClean="0"/>
              <a:t> string </a:t>
            </a:r>
            <a:r>
              <a:rPr lang="en-US" dirty="0" err="1" smtClean="0"/>
              <a:t>SayDel</a:t>
            </a:r>
            <a:r>
              <a:rPr lang="en-US" dirty="0" smtClean="0"/>
              <a:t>(string  name)</a:t>
            </a:r>
          </a:p>
          <a:p>
            <a:endParaRPr lang="en-US" dirty="0" smtClean="0"/>
          </a:p>
        </p:txBody>
      </p:sp>
      <p:sp>
        <p:nvSpPr>
          <p:cNvPr id="5" name="Date Placeholder 4"/>
          <p:cNvSpPr>
            <a:spLocks noGrp="1"/>
          </p:cNvSpPr>
          <p:nvPr>
            <p:ph type="dt" sz="half" idx="10"/>
          </p:nvPr>
        </p:nvSpPr>
        <p:spPr/>
        <p:txBody>
          <a:bodyPr/>
          <a:lstStyle/>
          <a:p>
            <a:r>
              <a:rPr lang="en-US" smtClean="0"/>
              <a:t>8/5/2011</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6</a:t>
            </a:fld>
            <a:endParaRPr lang="en-US"/>
          </a:p>
        </p:txBody>
      </p:sp>
      <p:sp>
        <p:nvSpPr>
          <p:cNvPr id="7" name="Footer Placeholder 6"/>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to create delegate?(cont..)</a:t>
            </a:r>
            <a:endParaRPr lang="en-US" dirty="0"/>
          </a:p>
        </p:txBody>
      </p:sp>
      <p:sp>
        <p:nvSpPr>
          <p:cNvPr id="3" name="Content Placeholder 2"/>
          <p:cNvSpPr>
            <a:spLocks noGrp="1"/>
          </p:cNvSpPr>
          <p:nvPr>
            <p:ph idx="1"/>
          </p:nvPr>
        </p:nvSpPr>
        <p:spPr/>
        <p:txBody>
          <a:bodyPr/>
          <a:lstStyle/>
          <a:p>
            <a:pPr>
              <a:buNone/>
            </a:pPr>
            <a:r>
              <a:rPr lang="en-US" dirty="0" smtClean="0"/>
              <a:t>2) Delegate is also a type so to consume it we require to create an  object in it. While creating an object we need to pass the method as a parameter its constructor which we want to call using the delegate.</a:t>
            </a:r>
          </a:p>
          <a:p>
            <a:pPr>
              <a:buNone/>
            </a:pPr>
            <a:r>
              <a:rPr lang="en-US" dirty="0" smtClean="0"/>
              <a:t>Ex:- </a:t>
            </a:r>
            <a:r>
              <a:rPr lang="en-US" dirty="0" err="1" smtClean="0"/>
              <a:t>AddDel</a:t>
            </a:r>
            <a:r>
              <a:rPr lang="en-US" dirty="0" smtClean="0"/>
              <a:t> ad=new </a:t>
            </a:r>
            <a:r>
              <a:rPr lang="en-US" dirty="0" err="1" smtClean="0"/>
              <a:t>AddDel</a:t>
            </a:r>
            <a:r>
              <a:rPr lang="en-US" dirty="0" smtClean="0"/>
              <a:t>(Add)</a:t>
            </a:r>
          </a:p>
          <a:p>
            <a:pPr>
              <a:buNone/>
            </a:pPr>
            <a:r>
              <a:rPr lang="en-US" dirty="0" err="1" smtClean="0"/>
              <a:t>SayDel</a:t>
            </a:r>
            <a:r>
              <a:rPr lang="en-US" dirty="0" smtClean="0"/>
              <a:t> </a:t>
            </a:r>
            <a:r>
              <a:rPr lang="en-US" dirty="0" err="1" smtClean="0"/>
              <a:t>sd</a:t>
            </a:r>
            <a:r>
              <a:rPr lang="en-US" dirty="0" smtClean="0"/>
              <a:t>=new </a:t>
            </a:r>
            <a:r>
              <a:rPr lang="en-US" dirty="0" err="1" smtClean="0"/>
              <a:t>SayDel</a:t>
            </a:r>
            <a:r>
              <a:rPr lang="en-US" dirty="0" smtClean="0"/>
              <a:t>(</a:t>
            </a:r>
            <a:r>
              <a:rPr lang="en-US" dirty="0" err="1" smtClean="0"/>
              <a:t>SayHello</a:t>
            </a:r>
            <a:r>
              <a:rPr lang="en-US" dirty="0" smtClean="0"/>
              <a:t>)</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to create delegate?(cont..)</a:t>
            </a:r>
            <a:endParaRPr lang="en-US" dirty="0"/>
          </a:p>
        </p:txBody>
      </p:sp>
      <p:sp>
        <p:nvSpPr>
          <p:cNvPr id="3" name="Content Placeholder 2"/>
          <p:cNvSpPr>
            <a:spLocks noGrp="1"/>
          </p:cNvSpPr>
          <p:nvPr>
            <p:ph idx="1"/>
          </p:nvPr>
        </p:nvSpPr>
        <p:spPr/>
        <p:txBody>
          <a:bodyPr/>
          <a:lstStyle/>
          <a:p>
            <a:pPr>
              <a:buNone/>
            </a:pPr>
            <a:r>
              <a:rPr lang="en-US" dirty="0" smtClean="0"/>
              <a:t>3) Invoke the delegate the method get execute</a:t>
            </a:r>
          </a:p>
          <a:p>
            <a:pPr>
              <a:buNone/>
            </a:pPr>
            <a:r>
              <a:rPr lang="en-US" dirty="0" smtClean="0"/>
              <a:t>Ex:-ad(100,55) ; ad(35,78);</a:t>
            </a:r>
          </a:p>
          <a:p>
            <a:pPr>
              <a:buNone/>
            </a:pPr>
            <a:r>
              <a:rPr lang="en-US" dirty="0" err="1" smtClean="0"/>
              <a:t>Sd</a:t>
            </a:r>
            <a:r>
              <a:rPr lang="en-US" dirty="0" smtClean="0"/>
              <a:t>(“</a:t>
            </a:r>
            <a:r>
              <a:rPr lang="en-US" dirty="0" err="1" smtClean="0"/>
              <a:t>kirty</a:t>
            </a:r>
            <a:r>
              <a:rPr lang="en-US" dirty="0" smtClean="0"/>
              <a:t>”) ; </a:t>
            </a:r>
            <a:r>
              <a:rPr lang="en-US" dirty="0" err="1" smtClean="0"/>
              <a:t>sd</a:t>
            </a:r>
            <a:r>
              <a:rPr lang="en-US" dirty="0" smtClean="0"/>
              <a:t> (</a:t>
            </a:r>
            <a:r>
              <a:rPr lang="en-US" dirty="0" err="1" smtClean="0"/>
              <a:t>kumari</a:t>
            </a:r>
            <a:r>
              <a:rPr lang="en-US" dirty="0" smtClean="0"/>
              <a:t>);</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457200"/>
            <a:ext cx="3733800" cy="601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Class </a:t>
            </a:r>
            <a:r>
              <a:rPr lang="en-US" dirty="0" err="1" smtClean="0"/>
              <a:t>DelClass</a:t>
            </a:r>
            <a:endParaRPr lang="en-US" dirty="0" smtClean="0"/>
          </a:p>
          <a:p>
            <a:r>
              <a:rPr lang="en-US" dirty="0" smtClean="0"/>
              <a:t>{</a:t>
            </a:r>
          </a:p>
          <a:p>
            <a:r>
              <a:rPr lang="en-US" dirty="0" smtClean="0"/>
              <a:t>    public  string </a:t>
            </a:r>
            <a:r>
              <a:rPr lang="en-US" dirty="0" err="1" smtClean="0"/>
              <a:t>SayHello</a:t>
            </a:r>
            <a:r>
              <a:rPr lang="en-US" dirty="0" smtClean="0"/>
              <a:t>(string name)</a:t>
            </a:r>
          </a:p>
          <a:p>
            <a:r>
              <a:rPr lang="en-US" dirty="0" smtClean="0"/>
              <a:t>     {</a:t>
            </a:r>
          </a:p>
          <a:p>
            <a:r>
              <a:rPr lang="en-US" dirty="0" smtClean="0"/>
              <a:t>        return “Hello”+ name;</a:t>
            </a:r>
          </a:p>
          <a:p>
            <a:r>
              <a:rPr lang="en-US" dirty="0" smtClean="0"/>
              <a:t>     }</a:t>
            </a:r>
          </a:p>
          <a:p>
            <a:r>
              <a:rPr lang="en-US" dirty="0" smtClean="0"/>
              <a:t>Public delegate string </a:t>
            </a:r>
            <a:r>
              <a:rPr lang="en-US" dirty="0" err="1" smtClean="0"/>
              <a:t>SayDel</a:t>
            </a:r>
            <a:r>
              <a:rPr lang="en-US" dirty="0" smtClean="0"/>
              <a:t>(string name)</a:t>
            </a:r>
          </a:p>
          <a:p>
            <a:r>
              <a:rPr lang="en-US" dirty="0" smtClean="0"/>
              <a:t>Static void main()</a:t>
            </a:r>
          </a:p>
          <a:p>
            <a:r>
              <a:rPr lang="en-US" dirty="0" smtClean="0"/>
              <a:t>    {</a:t>
            </a:r>
          </a:p>
          <a:p>
            <a:r>
              <a:rPr lang="en-US" dirty="0" smtClean="0"/>
              <a:t>       </a:t>
            </a:r>
            <a:r>
              <a:rPr lang="en-US" dirty="0" err="1" smtClean="0"/>
              <a:t>DelClass</a:t>
            </a:r>
            <a:r>
              <a:rPr lang="en-US" dirty="0" smtClean="0"/>
              <a:t> </a:t>
            </a:r>
            <a:r>
              <a:rPr lang="en-US" dirty="0" err="1" smtClean="0"/>
              <a:t>obj</a:t>
            </a:r>
            <a:r>
              <a:rPr lang="en-US" dirty="0" smtClean="0"/>
              <a:t>=new </a:t>
            </a:r>
            <a:r>
              <a:rPr lang="en-US" dirty="0" err="1" smtClean="0"/>
              <a:t>DelClass</a:t>
            </a:r>
            <a:r>
              <a:rPr lang="en-US" dirty="0" smtClean="0"/>
              <a:t>();</a:t>
            </a:r>
          </a:p>
          <a:p>
            <a:r>
              <a:rPr lang="en-US" dirty="0" smtClean="0"/>
              <a:t>       </a:t>
            </a:r>
            <a:r>
              <a:rPr lang="en-US" dirty="0" err="1" smtClean="0"/>
              <a:t>SayDel</a:t>
            </a:r>
            <a:r>
              <a:rPr lang="en-US" dirty="0" smtClean="0"/>
              <a:t> </a:t>
            </a:r>
            <a:r>
              <a:rPr lang="en-US" dirty="0" err="1" smtClean="0"/>
              <a:t>sd</a:t>
            </a:r>
            <a:r>
              <a:rPr lang="en-US" dirty="0" smtClean="0"/>
              <a:t>=new 	</a:t>
            </a:r>
            <a:r>
              <a:rPr lang="en-US" dirty="0" err="1" smtClean="0"/>
              <a:t>SayDel</a:t>
            </a:r>
            <a:r>
              <a:rPr lang="en-US" dirty="0" smtClean="0"/>
              <a:t>(</a:t>
            </a:r>
            <a:r>
              <a:rPr lang="en-US" dirty="0" err="1" smtClean="0"/>
              <a:t>obj.SayHello</a:t>
            </a:r>
            <a:r>
              <a:rPr lang="en-US" dirty="0" smtClean="0"/>
              <a:t>);</a:t>
            </a:r>
          </a:p>
          <a:p>
            <a:r>
              <a:rPr lang="en-US" dirty="0" smtClean="0"/>
              <a:t>      </a:t>
            </a:r>
            <a:r>
              <a:rPr lang="en-US" dirty="0" err="1" smtClean="0"/>
              <a:t>console.writeline</a:t>
            </a:r>
            <a:r>
              <a:rPr lang="en-US" dirty="0" smtClean="0"/>
              <a:t>(</a:t>
            </a:r>
            <a:r>
              <a:rPr lang="en-US" dirty="0" err="1" smtClean="0"/>
              <a:t>sd</a:t>
            </a:r>
            <a:r>
              <a:rPr lang="en-US" dirty="0" smtClean="0"/>
              <a:t>(“xxx”));</a:t>
            </a:r>
          </a:p>
          <a:p>
            <a:r>
              <a:rPr lang="en-US" dirty="0" smtClean="0"/>
              <a:t>      </a:t>
            </a:r>
            <a:r>
              <a:rPr lang="en-US" dirty="0" err="1" smtClean="0"/>
              <a:t>console.readline</a:t>
            </a:r>
            <a:r>
              <a:rPr lang="en-US" dirty="0" smtClean="0"/>
              <a:t>();</a:t>
            </a:r>
          </a:p>
          <a:p>
            <a:r>
              <a:rPr lang="en-US" dirty="0" smtClean="0"/>
              <a:t>     }</a:t>
            </a:r>
          </a:p>
          <a:p>
            <a:r>
              <a:rPr lang="en-US" dirty="0" smtClean="0"/>
              <a:t>}</a:t>
            </a:r>
            <a:endParaRPr lang="en-US" dirty="0"/>
          </a:p>
        </p:txBody>
      </p:sp>
      <p:sp>
        <p:nvSpPr>
          <p:cNvPr id="4" name="Rectangle 3"/>
          <p:cNvSpPr/>
          <p:nvPr/>
        </p:nvSpPr>
        <p:spPr>
          <a:xfrm>
            <a:off x="4800600" y="533400"/>
            <a:ext cx="3733800" cy="601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r>
              <a:rPr lang="en-US" smtClean="0"/>
              <a:t>8/5/2011</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Types of delegates?</a:t>
            </a:r>
            <a:br>
              <a:rPr lang="en-US" dirty="0" smtClean="0"/>
            </a:br>
            <a:endParaRPr lang="en-US" dirty="0"/>
          </a:p>
        </p:txBody>
      </p:sp>
      <p:sp>
        <p:nvSpPr>
          <p:cNvPr id="3" name="Content Placeholder 2"/>
          <p:cNvSpPr>
            <a:spLocks noGrp="1"/>
          </p:cNvSpPr>
          <p:nvPr>
            <p:ph idx="1"/>
          </p:nvPr>
        </p:nvSpPr>
        <p:spPr>
          <a:xfrm>
            <a:off x="457200" y="914400"/>
            <a:ext cx="8229600" cy="5211763"/>
          </a:xfrm>
        </p:spPr>
        <p:txBody>
          <a:bodyPr/>
          <a:lstStyle/>
          <a:p>
            <a:pPr>
              <a:buNone/>
            </a:pPr>
            <a:r>
              <a:rPr lang="en-US" dirty="0" smtClean="0"/>
              <a:t>There are 2 type of delegates</a:t>
            </a:r>
          </a:p>
          <a:p>
            <a:r>
              <a:rPr lang="en-US" dirty="0" smtClean="0"/>
              <a:t>Single task delegate </a:t>
            </a:r>
          </a:p>
          <a:p>
            <a:r>
              <a:rPr lang="en-US" dirty="0" smtClean="0"/>
              <a:t>Multiple task delegate </a:t>
            </a:r>
          </a:p>
          <a:p>
            <a:pPr>
              <a:buNone/>
            </a:pPr>
            <a:r>
              <a:rPr lang="en-US" dirty="0" smtClean="0"/>
              <a:t>If at all a delegate is used for invoking single method it is called as single task delegate. where as if a delegate is used for invoking multiple methods it is referred as a multi task delegate.</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457200"/>
            <a:ext cx="3733800" cy="601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Public delegate void Math(</a:t>
            </a:r>
            <a:r>
              <a:rPr lang="en-US" dirty="0" err="1" smtClean="0"/>
              <a:t>int</a:t>
            </a:r>
            <a:r>
              <a:rPr lang="en-US" dirty="0" smtClean="0"/>
              <a:t> </a:t>
            </a:r>
            <a:r>
              <a:rPr lang="en-US" dirty="0" err="1" smtClean="0"/>
              <a:t>x,int</a:t>
            </a:r>
            <a:r>
              <a:rPr lang="en-US" dirty="0" smtClean="0"/>
              <a:t> y)</a:t>
            </a:r>
          </a:p>
          <a:p>
            <a:r>
              <a:rPr lang="en-US" dirty="0" smtClean="0"/>
              <a:t>Class </a:t>
            </a:r>
            <a:r>
              <a:rPr lang="en-US" dirty="0" err="1" smtClean="0"/>
              <a:t>MultiClass</a:t>
            </a:r>
            <a:endParaRPr lang="en-US" dirty="0" smtClean="0"/>
          </a:p>
          <a:p>
            <a:r>
              <a:rPr lang="en-US" dirty="0" smtClean="0"/>
              <a:t>{</a:t>
            </a:r>
          </a:p>
          <a:p>
            <a:r>
              <a:rPr lang="en-US" dirty="0" smtClean="0"/>
              <a:t>   public void add (</a:t>
            </a:r>
            <a:r>
              <a:rPr lang="en-US" dirty="0" err="1" smtClean="0"/>
              <a:t>int</a:t>
            </a:r>
            <a:r>
              <a:rPr lang="en-US" dirty="0" smtClean="0"/>
              <a:t> </a:t>
            </a:r>
            <a:r>
              <a:rPr lang="en-US" dirty="0" err="1" smtClean="0"/>
              <a:t>x,int</a:t>
            </a:r>
            <a:r>
              <a:rPr lang="en-US" dirty="0" smtClean="0"/>
              <a:t> y)</a:t>
            </a:r>
          </a:p>
          <a:p>
            <a:r>
              <a:rPr lang="en-US" dirty="0" smtClean="0"/>
              <a:t>  {</a:t>
            </a:r>
          </a:p>
          <a:p>
            <a:r>
              <a:rPr lang="en-US" dirty="0" smtClean="0"/>
              <a:t>      </a:t>
            </a:r>
            <a:r>
              <a:rPr lang="en-US" dirty="0" err="1" smtClean="0"/>
              <a:t>console.writeline</a:t>
            </a:r>
            <a:r>
              <a:rPr lang="en-US" dirty="0" smtClean="0"/>
              <a:t>(“add:”+(</a:t>
            </a:r>
            <a:r>
              <a:rPr lang="en-US" dirty="0" err="1" smtClean="0"/>
              <a:t>x+y</a:t>
            </a:r>
            <a:r>
              <a:rPr lang="en-US" dirty="0" smtClean="0"/>
              <a:t>));</a:t>
            </a:r>
          </a:p>
          <a:p>
            <a:r>
              <a:rPr lang="en-US" dirty="0" smtClean="0"/>
              <a:t>   }</a:t>
            </a:r>
          </a:p>
          <a:p>
            <a:r>
              <a:rPr lang="en-US" dirty="0" smtClean="0"/>
              <a:t>Public void sub(</a:t>
            </a:r>
            <a:r>
              <a:rPr lang="en-US" dirty="0" err="1" smtClean="0"/>
              <a:t>int</a:t>
            </a:r>
            <a:r>
              <a:rPr lang="en-US" dirty="0" smtClean="0"/>
              <a:t> </a:t>
            </a:r>
            <a:r>
              <a:rPr lang="en-US" dirty="0" err="1" smtClean="0"/>
              <a:t>x,int</a:t>
            </a:r>
            <a:r>
              <a:rPr lang="en-US" dirty="0" smtClean="0"/>
              <a:t> y)</a:t>
            </a:r>
          </a:p>
          <a:p>
            <a:r>
              <a:rPr lang="en-US" dirty="0" smtClean="0"/>
              <a:t>  {</a:t>
            </a:r>
          </a:p>
          <a:p>
            <a:r>
              <a:rPr lang="en-US" dirty="0" smtClean="0"/>
              <a:t>      </a:t>
            </a:r>
            <a:r>
              <a:rPr lang="en-US" dirty="0" err="1" smtClean="0"/>
              <a:t>console.writeline</a:t>
            </a:r>
            <a:r>
              <a:rPr lang="en-US" dirty="0" smtClean="0"/>
              <a:t>(“sub:”(x-y));</a:t>
            </a:r>
          </a:p>
          <a:p>
            <a:r>
              <a:rPr lang="en-US" dirty="0" smtClean="0"/>
              <a:t>  }</a:t>
            </a:r>
          </a:p>
          <a:p>
            <a:r>
              <a:rPr lang="en-US" dirty="0" smtClean="0"/>
              <a:t>Public void </a:t>
            </a:r>
            <a:r>
              <a:rPr lang="en-US" dirty="0" err="1" smtClean="0"/>
              <a:t>mul</a:t>
            </a:r>
            <a:r>
              <a:rPr lang="en-US" dirty="0" smtClean="0"/>
              <a:t>(</a:t>
            </a:r>
            <a:r>
              <a:rPr lang="en-US" dirty="0" err="1" smtClean="0"/>
              <a:t>int</a:t>
            </a:r>
            <a:r>
              <a:rPr lang="en-US" dirty="0" smtClean="0"/>
              <a:t> </a:t>
            </a:r>
            <a:r>
              <a:rPr lang="en-US" dirty="0" err="1" smtClean="0"/>
              <a:t>x,int</a:t>
            </a:r>
            <a:r>
              <a:rPr lang="en-US" dirty="0" smtClean="0"/>
              <a:t> y)</a:t>
            </a:r>
          </a:p>
          <a:p>
            <a:r>
              <a:rPr lang="en-US" dirty="0" smtClean="0"/>
              <a:t>  {</a:t>
            </a:r>
          </a:p>
          <a:p>
            <a:r>
              <a:rPr lang="en-US" dirty="0" smtClean="0"/>
              <a:t>     </a:t>
            </a:r>
            <a:r>
              <a:rPr lang="en-US" dirty="0" err="1" smtClean="0"/>
              <a:t>console.writeline</a:t>
            </a:r>
            <a:r>
              <a:rPr lang="en-US" dirty="0" smtClean="0"/>
              <a:t>(“</a:t>
            </a:r>
            <a:r>
              <a:rPr lang="en-US" dirty="0" err="1" smtClean="0"/>
              <a:t>mul</a:t>
            </a:r>
            <a:r>
              <a:rPr lang="en-US" dirty="0" smtClean="0"/>
              <a:t>:”(x*y));</a:t>
            </a:r>
          </a:p>
          <a:p>
            <a:r>
              <a:rPr lang="en-US" dirty="0" smtClean="0"/>
              <a:t>   }</a:t>
            </a:r>
          </a:p>
          <a:p>
            <a:r>
              <a:rPr lang="en-US" dirty="0" smtClean="0"/>
              <a:t>Public void div(</a:t>
            </a:r>
            <a:r>
              <a:rPr lang="en-US" dirty="0" err="1" smtClean="0"/>
              <a:t>int</a:t>
            </a:r>
            <a:r>
              <a:rPr lang="en-US" dirty="0" smtClean="0"/>
              <a:t> </a:t>
            </a:r>
            <a:r>
              <a:rPr lang="en-US" dirty="0" err="1" smtClean="0"/>
              <a:t>x,int</a:t>
            </a:r>
            <a:r>
              <a:rPr lang="en-US" dirty="0" smtClean="0"/>
              <a:t> y)</a:t>
            </a:r>
          </a:p>
          <a:p>
            <a:r>
              <a:rPr lang="en-US" dirty="0" smtClean="0"/>
              <a:t>   {</a:t>
            </a:r>
          </a:p>
          <a:p>
            <a:r>
              <a:rPr lang="en-US" dirty="0" smtClean="0"/>
              <a:t>       </a:t>
            </a:r>
            <a:r>
              <a:rPr lang="en-US" dirty="0" err="1" smtClean="0"/>
              <a:t>console.writeline</a:t>
            </a:r>
            <a:r>
              <a:rPr lang="en-US" dirty="0" smtClean="0"/>
              <a:t>(“div:”(x/y));</a:t>
            </a:r>
          </a:p>
          <a:p>
            <a:r>
              <a:rPr lang="en-US" dirty="0" smtClean="0"/>
              <a:t>   }</a:t>
            </a:r>
          </a:p>
          <a:p>
            <a:endParaRPr lang="en-US" dirty="0"/>
          </a:p>
        </p:txBody>
      </p:sp>
      <p:sp>
        <p:nvSpPr>
          <p:cNvPr id="4" name="Rectangle 3"/>
          <p:cNvSpPr/>
          <p:nvPr/>
        </p:nvSpPr>
        <p:spPr>
          <a:xfrm>
            <a:off x="4800600" y="533400"/>
            <a:ext cx="3733800" cy="601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Static  void main()</a:t>
            </a:r>
          </a:p>
          <a:p>
            <a:r>
              <a:rPr lang="en-US" dirty="0" smtClean="0"/>
              <a:t>{</a:t>
            </a:r>
          </a:p>
          <a:p>
            <a:r>
              <a:rPr lang="en-US" dirty="0" smtClean="0"/>
              <a:t>    </a:t>
            </a:r>
            <a:r>
              <a:rPr lang="en-US" dirty="0" err="1" smtClean="0"/>
              <a:t>MultiClass</a:t>
            </a:r>
            <a:r>
              <a:rPr lang="en-US" dirty="0" smtClean="0"/>
              <a:t> </a:t>
            </a:r>
            <a:r>
              <a:rPr lang="en-US" dirty="0" err="1" smtClean="0"/>
              <a:t>obj</a:t>
            </a:r>
            <a:r>
              <a:rPr lang="en-US" dirty="0" smtClean="0"/>
              <a:t>=new </a:t>
            </a:r>
            <a:r>
              <a:rPr lang="en-US" dirty="0" err="1" smtClean="0"/>
              <a:t>MultiClass</a:t>
            </a:r>
            <a:r>
              <a:rPr lang="en-US" dirty="0" smtClean="0"/>
              <a:t>();</a:t>
            </a:r>
          </a:p>
          <a:p>
            <a:r>
              <a:rPr lang="en-US" dirty="0" smtClean="0"/>
              <a:t>    math m=new math(</a:t>
            </a:r>
            <a:r>
              <a:rPr lang="en-US" dirty="0" err="1" smtClean="0"/>
              <a:t>obj.add</a:t>
            </a:r>
            <a:r>
              <a:rPr lang="en-US" dirty="0" smtClean="0"/>
              <a:t>);</a:t>
            </a:r>
          </a:p>
          <a:p>
            <a:r>
              <a:rPr lang="en-US" dirty="0" smtClean="0"/>
              <a:t>    m+=obj.sub; m+=obj.mul;          m+=obj.div;</a:t>
            </a:r>
          </a:p>
          <a:p>
            <a:r>
              <a:rPr lang="en-US" dirty="0" smtClean="0"/>
              <a:t> m(100,50);</a:t>
            </a:r>
          </a:p>
          <a:p>
            <a:r>
              <a:rPr lang="en-US" dirty="0" smtClean="0"/>
              <a:t> </a:t>
            </a:r>
            <a:r>
              <a:rPr lang="en-US" dirty="0" err="1" smtClean="0"/>
              <a:t>console.writeline</a:t>
            </a:r>
            <a:r>
              <a:rPr lang="en-US" dirty="0" smtClean="0"/>
              <a:t>();</a:t>
            </a:r>
          </a:p>
          <a:p>
            <a:r>
              <a:rPr lang="en-US" dirty="0" smtClean="0"/>
              <a:t> m.(450,70);</a:t>
            </a:r>
          </a:p>
          <a:p>
            <a:r>
              <a:rPr lang="en-US" dirty="0" smtClean="0"/>
              <a:t> </a:t>
            </a:r>
            <a:r>
              <a:rPr lang="en-US" dirty="0" err="1" smtClean="0"/>
              <a:t>console.writeline</a:t>
            </a:r>
            <a:r>
              <a:rPr lang="en-US" dirty="0" smtClean="0"/>
              <a:t>();</a:t>
            </a:r>
          </a:p>
          <a:p>
            <a:r>
              <a:rPr lang="en-US" dirty="0" smtClean="0"/>
              <a:t> m-=obj.div;</a:t>
            </a:r>
          </a:p>
          <a:p>
            <a:r>
              <a:rPr lang="en-US" dirty="0" smtClean="0"/>
              <a:t> m(625,25);</a:t>
            </a:r>
          </a:p>
          <a:p>
            <a:r>
              <a:rPr lang="en-US" dirty="0" smtClean="0"/>
              <a:t> </a:t>
            </a:r>
            <a:r>
              <a:rPr lang="en-US" dirty="0" err="1" smtClean="0"/>
              <a:t>console.readline</a:t>
            </a:r>
            <a:r>
              <a:rPr lang="en-US" dirty="0" smtClean="0"/>
              <a:t>();</a:t>
            </a:r>
          </a:p>
          <a:p>
            <a:r>
              <a:rPr lang="en-US" dirty="0" smtClean="0"/>
              <a:t>}</a:t>
            </a:r>
          </a:p>
          <a:p>
            <a:r>
              <a:rPr lang="en-US" dirty="0" smtClean="0"/>
              <a:t>}</a:t>
            </a:r>
            <a:endParaRPr lang="en-US" dirty="0"/>
          </a:p>
        </p:txBody>
      </p:sp>
      <p:sp>
        <p:nvSpPr>
          <p:cNvPr id="5" name="Date Placeholder 4"/>
          <p:cNvSpPr>
            <a:spLocks noGrp="1"/>
          </p:cNvSpPr>
          <p:nvPr>
            <p:ph type="dt" sz="half" idx="10"/>
          </p:nvPr>
        </p:nvSpPr>
        <p:spPr/>
        <p:txBody>
          <a:bodyPr/>
          <a:lstStyle/>
          <a:p>
            <a:r>
              <a:rPr lang="en-US" smtClean="0"/>
              <a:t>8/5/2011</a:t>
            </a:r>
            <a:endParaRPr lang="en-US"/>
          </a:p>
        </p:txBody>
      </p:sp>
      <p:sp>
        <p:nvSpPr>
          <p:cNvPr id="6" name="Slide Number Placeholder 5"/>
          <p:cNvSpPr>
            <a:spLocks noGrp="1"/>
          </p:cNvSpPr>
          <p:nvPr>
            <p:ph type="sldNum" sz="quarter" idx="12"/>
          </p:nvPr>
        </p:nvSpPr>
        <p:spPr/>
        <p:txBody>
          <a:bodyPr/>
          <a:lstStyle/>
          <a:p>
            <a:fld id="{A1E633D0-5D12-4889-9E07-20E0B716E1C3}" type="slidenum">
              <a:rPr lang="en-US" smtClean="0"/>
              <a:pPr/>
              <a:t>11</a:t>
            </a:fld>
            <a:endParaRPr lang="en-US"/>
          </a:p>
        </p:txBody>
      </p:sp>
      <p:sp>
        <p:nvSpPr>
          <p:cNvPr id="7" name="Footer Placeholder 6"/>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a:t>
            </a:r>
            <a:endParaRPr lang="en-US" dirty="0"/>
          </a:p>
        </p:txBody>
      </p:sp>
      <p:sp>
        <p:nvSpPr>
          <p:cNvPr id="3" name="Content Placeholder 2"/>
          <p:cNvSpPr>
            <a:spLocks noGrp="1"/>
          </p:cNvSpPr>
          <p:nvPr>
            <p:ph idx="1"/>
          </p:nvPr>
        </p:nvSpPr>
        <p:spPr>
          <a:xfrm>
            <a:off x="457200" y="1219200"/>
            <a:ext cx="8229600" cy="4906963"/>
          </a:xfrm>
        </p:spPr>
        <p:txBody>
          <a:bodyPr>
            <a:normAutofit lnSpcReduction="10000"/>
          </a:bodyPr>
          <a:lstStyle/>
          <a:p>
            <a:r>
              <a:rPr lang="en-US" dirty="0" smtClean="0"/>
              <a:t>These are time period </a:t>
            </a:r>
            <a:r>
              <a:rPr lang="en-US" smtClean="0"/>
              <a:t>which </a:t>
            </a:r>
            <a:r>
              <a:rPr lang="en-US" smtClean="0"/>
              <a:t>takes </a:t>
            </a:r>
            <a:r>
              <a:rPr lang="en-US" dirty="0" smtClean="0"/>
              <a:t>when an action has to be perform, if we want to execute  any </a:t>
            </a:r>
            <a:r>
              <a:rPr lang="en-US" dirty="0" smtClean="0"/>
              <a:t>thing </a:t>
            </a:r>
            <a:r>
              <a:rPr lang="en-US" dirty="0" smtClean="0"/>
              <a:t>at specific time period choose the appropriate </a:t>
            </a:r>
            <a:r>
              <a:rPr lang="en-US" b="1" dirty="0" smtClean="0"/>
              <a:t>event</a:t>
            </a:r>
            <a:r>
              <a:rPr lang="en-US" dirty="0" smtClean="0"/>
              <a:t> which get raised at the time in the </a:t>
            </a:r>
            <a:r>
              <a:rPr lang="en-US" b="1" dirty="0" smtClean="0"/>
              <a:t>property</a:t>
            </a:r>
            <a:r>
              <a:rPr lang="en-US" dirty="0" smtClean="0"/>
              <a:t> window double click on it that will take as to the code view and provide a </a:t>
            </a:r>
            <a:r>
              <a:rPr lang="en-US" b="1" dirty="0" smtClean="0"/>
              <a:t>method</a:t>
            </a:r>
            <a:r>
              <a:rPr lang="en-US" dirty="0" smtClean="0"/>
              <a:t> under which we want to write a code.</a:t>
            </a:r>
          </a:p>
          <a:p>
            <a:r>
              <a:rPr lang="en-US" dirty="0" smtClean="0"/>
              <a:t>Event is an action done by the user that can be identify by the either OS or App</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t>What is method .Under which we write the code corresponding to an event?</a:t>
            </a:r>
            <a:br>
              <a:rPr lang="en-US" sz="3200" dirty="0" smtClean="0"/>
            </a:br>
            <a:endParaRPr lang="en-US" sz="3200" dirty="0"/>
          </a:p>
        </p:txBody>
      </p:sp>
      <p:sp>
        <p:nvSpPr>
          <p:cNvPr id="3" name="Content Placeholder 2"/>
          <p:cNvSpPr>
            <a:spLocks noGrp="1"/>
          </p:cNvSpPr>
          <p:nvPr>
            <p:ph idx="1"/>
          </p:nvPr>
        </p:nvSpPr>
        <p:spPr/>
        <p:txBody>
          <a:bodyPr/>
          <a:lstStyle/>
          <a:p>
            <a:pPr>
              <a:buNone/>
            </a:pPr>
            <a:endParaRPr lang="en-US" dirty="0"/>
          </a:p>
        </p:txBody>
      </p:sp>
      <p:sp>
        <p:nvSpPr>
          <p:cNvPr id="4" name="Rectangle 3"/>
          <p:cNvSpPr/>
          <p:nvPr/>
        </p:nvSpPr>
        <p:spPr>
          <a:xfrm>
            <a:off x="838200" y="1752600"/>
            <a:ext cx="2057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control</a:t>
            </a:r>
            <a:endParaRPr lang="en-US" dirty="0"/>
          </a:p>
        </p:txBody>
      </p:sp>
      <p:cxnSp>
        <p:nvCxnSpPr>
          <p:cNvPr id="6" name="Straight Connector 5"/>
          <p:cNvCxnSpPr/>
          <p:nvPr/>
        </p:nvCxnSpPr>
        <p:spPr>
          <a:xfrm rot="5400000">
            <a:off x="1524000" y="2743200"/>
            <a:ext cx="609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438400" y="2971800"/>
            <a:ext cx="1143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Event</a:t>
            </a:r>
            <a:endParaRPr lang="en-US" dirty="0"/>
          </a:p>
        </p:txBody>
      </p:sp>
      <p:cxnSp>
        <p:nvCxnSpPr>
          <p:cNvPr id="13" name="Straight Arrow Connector 12"/>
          <p:cNvCxnSpPr/>
          <p:nvPr/>
        </p:nvCxnSpPr>
        <p:spPr>
          <a:xfrm rot="10800000">
            <a:off x="3657600" y="3200400"/>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4953000" y="2819400"/>
            <a:ext cx="2743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Event  procedure</a:t>
            </a:r>
            <a:endParaRPr lang="en-US" dirty="0"/>
          </a:p>
        </p:txBody>
      </p:sp>
      <p:sp>
        <p:nvSpPr>
          <p:cNvPr id="15" name="Rectangle 14"/>
          <p:cNvSpPr/>
          <p:nvPr/>
        </p:nvSpPr>
        <p:spPr>
          <a:xfrm>
            <a:off x="2438400" y="4267200"/>
            <a:ext cx="1295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Delegate</a:t>
            </a:r>
            <a:endParaRPr lang="en-US" dirty="0"/>
          </a:p>
        </p:txBody>
      </p:sp>
      <p:cxnSp>
        <p:nvCxnSpPr>
          <p:cNvPr id="19" name="Straight Connector 18"/>
          <p:cNvCxnSpPr/>
          <p:nvPr/>
        </p:nvCxnSpPr>
        <p:spPr>
          <a:xfrm>
            <a:off x="3733800" y="4572000"/>
            <a:ext cx="2362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5524500" y="4000500"/>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828800" y="3048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9" idx="2"/>
          </p:cNvCxnSpPr>
          <p:nvPr/>
        </p:nvCxnSpPr>
        <p:spPr>
          <a:xfrm rot="5400000">
            <a:off x="2571750" y="3752850"/>
            <a:ext cx="8382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3810000" y="2667000"/>
            <a:ext cx="9906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bound</a:t>
            </a:r>
            <a:endParaRPr lang="en-US" dirty="0">
              <a:solidFill>
                <a:schemeClr val="tx1"/>
              </a:solidFill>
            </a:endParaRPr>
          </a:p>
        </p:txBody>
      </p:sp>
      <p:sp>
        <p:nvSpPr>
          <p:cNvPr id="29" name="Rectangle 28"/>
          <p:cNvSpPr/>
          <p:nvPr/>
        </p:nvSpPr>
        <p:spPr>
          <a:xfrm>
            <a:off x="2133600" y="3581400"/>
            <a:ext cx="8382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call</a:t>
            </a:r>
            <a:endParaRPr lang="en-US" dirty="0">
              <a:solidFill>
                <a:schemeClr val="tx1"/>
              </a:solidFill>
            </a:endParaRPr>
          </a:p>
        </p:txBody>
      </p:sp>
      <p:sp>
        <p:nvSpPr>
          <p:cNvPr id="16" name="Date Placeholder 15"/>
          <p:cNvSpPr>
            <a:spLocks noGrp="1"/>
          </p:cNvSpPr>
          <p:nvPr>
            <p:ph type="dt" sz="half" idx="10"/>
          </p:nvPr>
        </p:nvSpPr>
        <p:spPr/>
        <p:txBody>
          <a:bodyPr/>
          <a:lstStyle/>
          <a:p>
            <a:r>
              <a:rPr lang="en-US" smtClean="0"/>
              <a:t>8/5/2011</a:t>
            </a:r>
            <a:endParaRPr lang="en-US"/>
          </a:p>
        </p:txBody>
      </p:sp>
      <p:sp>
        <p:nvSpPr>
          <p:cNvPr id="17" name="Slide Number Placeholder 16"/>
          <p:cNvSpPr>
            <a:spLocks noGrp="1"/>
          </p:cNvSpPr>
          <p:nvPr>
            <p:ph type="sldNum" sz="quarter" idx="12"/>
          </p:nvPr>
        </p:nvSpPr>
        <p:spPr/>
        <p:txBody>
          <a:bodyPr/>
          <a:lstStyle/>
          <a:p>
            <a:fld id="{A1E633D0-5D12-4889-9E07-20E0B716E1C3}" type="slidenum">
              <a:rPr lang="en-US" smtClean="0"/>
              <a:pPr/>
              <a:t>13</a:t>
            </a:fld>
            <a:endParaRPr lang="en-US"/>
          </a:p>
        </p:txBody>
      </p:sp>
      <p:sp>
        <p:nvSpPr>
          <p:cNvPr id="18" name="Footer Placeholder 17"/>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(Cont..)</a:t>
            </a:r>
            <a:endParaRPr lang="en-US" dirty="0"/>
          </a:p>
        </p:txBody>
      </p:sp>
      <p:sp>
        <p:nvSpPr>
          <p:cNvPr id="3" name="Content Placeholder 2"/>
          <p:cNvSpPr>
            <a:spLocks noGrp="1"/>
          </p:cNvSpPr>
          <p:nvPr>
            <p:ph idx="1"/>
          </p:nvPr>
        </p:nvSpPr>
        <p:spPr/>
        <p:txBody>
          <a:bodyPr>
            <a:normAutofit/>
          </a:bodyPr>
          <a:lstStyle/>
          <a:p>
            <a:r>
              <a:rPr lang="en-US" dirty="0" smtClean="0"/>
              <a:t>The method under which we write the code has a special name “</a:t>
            </a:r>
            <a:r>
              <a:rPr lang="en-US" b="1" dirty="0" smtClean="0"/>
              <a:t>Event Procedure</a:t>
            </a:r>
            <a:r>
              <a:rPr lang="en-US" dirty="0" smtClean="0"/>
              <a:t>” which is a block of code that is bound with an event of control and get executed wherever an event occurs or raised the code written under the event procedure will be internally executed by an event with the </a:t>
            </a:r>
            <a:r>
              <a:rPr lang="en-US" b="1" dirty="0" smtClean="0"/>
              <a:t>Help of</a:t>
            </a:r>
            <a:r>
              <a:rPr lang="en-US" dirty="0" smtClean="0"/>
              <a:t> </a:t>
            </a:r>
            <a:r>
              <a:rPr lang="en-US" b="1" dirty="0" smtClean="0"/>
              <a:t>delegate .</a:t>
            </a:r>
          </a:p>
          <a:p>
            <a:endParaRPr lang="en-US" dirty="0" smtClean="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14</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19200"/>
          </a:xfrm>
        </p:spPr>
        <p:txBody>
          <a:bodyPr>
            <a:normAutofit/>
          </a:bodyPr>
          <a:lstStyle/>
          <a:p>
            <a:r>
              <a:rPr lang="en-US" sz="3200" dirty="0" smtClean="0"/>
              <a:t>who does the even ,delegate  &amp; event procedure gets linked with each others?</a:t>
            </a:r>
            <a:endParaRPr lang="en-US" sz="3200" dirty="0"/>
          </a:p>
        </p:txBody>
      </p:sp>
      <p:sp>
        <p:nvSpPr>
          <p:cNvPr id="3" name="Content Placeholder 2"/>
          <p:cNvSpPr>
            <a:spLocks noGrp="1"/>
          </p:cNvSpPr>
          <p:nvPr>
            <p:ph idx="1"/>
          </p:nvPr>
        </p:nvSpPr>
        <p:spPr>
          <a:xfrm>
            <a:off x="457200" y="1143000"/>
            <a:ext cx="8229600" cy="5410200"/>
          </a:xfrm>
        </p:spPr>
        <p:txBody>
          <a:bodyPr>
            <a:normAutofit lnSpcReduction="10000"/>
          </a:bodyPr>
          <a:lstStyle/>
          <a:p>
            <a:r>
              <a:rPr lang="en-US" dirty="0" smtClean="0"/>
              <a:t>Event and Delegate are</a:t>
            </a:r>
            <a:r>
              <a:rPr lang="en-US" b="1" dirty="0" smtClean="0"/>
              <a:t> pre-defined in base class library </a:t>
            </a:r>
            <a:r>
              <a:rPr lang="en-US" dirty="0" smtClean="0"/>
              <a:t>what we defined here is only on event procedure after defining an event procedure under from to link the event , delegate, and event procedure </a:t>
            </a:r>
          </a:p>
          <a:p>
            <a:r>
              <a:rPr lang="en-US" sz="1800" dirty="0" smtClean="0"/>
              <a:t>VS writes a mapping statement as follows</a:t>
            </a:r>
          </a:p>
          <a:p>
            <a:pPr>
              <a:buNone/>
            </a:pPr>
            <a:r>
              <a:rPr lang="en-US" sz="2400" dirty="0" smtClean="0"/>
              <a:t>&lt;control&gt;.&lt;event&gt;+=new &lt;delegate&gt;(&lt;event procedure&gt;)</a:t>
            </a:r>
          </a:p>
          <a:p>
            <a:pPr>
              <a:buNone/>
            </a:pPr>
            <a:r>
              <a:rPr lang="en-US" dirty="0" err="1" smtClean="0"/>
              <a:t>This.load</a:t>
            </a:r>
            <a:r>
              <a:rPr lang="en-US" dirty="0" smtClean="0"/>
              <a:t>+=new </a:t>
            </a:r>
            <a:r>
              <a:rPr lang="en-US" dirty="0" err="1" smtClean="0"/>
              <a:t>EventHandler</a:t>
            </a:r>
            <a:r>
              <a:rPr lang="en-US" dirty="0" smtClean="0"/>
              <a:t>(</a:t>
            </a:r>
            <a:r>
              <a:rPr lang="en-US" dirty="0" err="1" smtClean="0"/>
              <a:t>Form_load</a:t>
            </a:r>
            <a:r>
              <a:rPr lang="en-US" dirty="0" smtClean="0"/>
              <a:t>)</a:t>
            </a:r>
          </a:p>
          <a:p>
            <a:pPr>
              <a:buNone/>
            </a:pPr>
            <a:r>
              <a:rPr lang="en-US" dirty="0" err="1" smtClean="0"/>
              <a:t>Button.click</a:t>
            </a:r>
            <a:r>
              <a:rPr lang="en-US" dirty="0" smtClean="0"/>
              <a:t>+=new </a:t>
            </a:r>
            <a:r>
              <a:rPr lang="en-US" dirty="0" err="1" smtClean="0"/>
              <a:t>EventHandler</a:t>
            </a:r>
            <a:r>
              <a:rPr lang="en-US" dirty="0" smtClean="0"/>
              <a:t>(</a:t>
            </a:r>
            <a:r>
              <a:rPr lang="en-US" dirty="0" err="1" smtClean="0"/>
              <a:t>button_click</a:t>
            </a:r>
            <a:r>
              <a:rPr lang="en-US" dirty="0" smtClean="0"/>
              <a:t>)</a:t>
            </a:r>
          </a:p>
          <a:p>
            <a:pPr>
              <a:buNone/>
            </a:pPr>
            <a:r>
              <a:rPr lang="en-US" dirty="0" smtClean="0"/>
              <a:t>Textbox1.keypress+=new </a:t>
            </a:r>
            <a:r>
              <a:rPr lang="en-US" dirty="0" err="1" smtClean="0"/>
              <a:t>keypressEventHandler</a:t>
            </a:r>
            <a:r>
              <a:rPr lang="en-US" dirty="0" smtClean="0"/>
              <a:t>(textbox1.keypress)</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Can we define an Event procedure manually?(yes)</a:t>
            </a:r>
            <a:endParaRPr lang="en-US" dirty="0"/>
          </a:p>
        </p:txBody>
      </p:sp>
      <p:sp>
        <p:nvSpPr>
          <p:cNvPr id="3" name="Content Placeholder 2"/>
          <p:cNvSpPr>
            <a:spLocks noGrp="1"/>
          </p:cNvSpPr>
          <p:nvPr>
            <p:ph idx="1"/>
          </p:nvPr>
        </p:nvSpPr>
        <p:spPr/>
        <p:txBody>
          <a:bodyPr/>
          <a:lstStyle/>
          <a:p>
            <a:pPr>
              <a:buNone/>
            </a:pPr>
            <a:r>
              <a:rPr lang="en-US" dirty="0" smtClean="0"/>
              <a:t>[&lt;Modifiers&gt;] void &lt;name&gt; (Object sender, EventArgs e)</a:t>
            </a:r>
          </a:p>
          <a:p>
            <a:pPr>
              <a:buNone/>
            </a:pPr>
            <a:r>
              <a:rPr lang="en-US" dirty="0" smtClean="0"/>
              <a:t>{</a:t>
            </a:r>
          </a:p>
          <a:p>
            <a:pPr>
              <a:buNone/>
            </a:pPr>
            <a:r>
              <a:rPr lang="en-US" dirty="0" smtClean="0"/>
              <a:t>	&lt;statement&gt;</a:t>
            </a:r>
          </a:p>
          <a:p>
            <a:pPr>
              <a:buNone/>
            </a:pPr>
            <a:r>
              <a:rPr lang="en-US" dirty="0" smtClean="0"/>
              <a:t>}</a:t>
            </a:r>
          </a:p>
          <a:p>
            <a:r>
              <a:rPr lang="en-US" sz="1800" dirty="0" smtClean="0"/>
              <a:t>Event procedure are non-value returning methods.</a:t>
            </a:r>
          </a:p>
          <a:p>
            <a:r>
              <a:rPr lang="en-US" sz="1800" dirty="0" smtClean="0"/>
              <a:t>Every event procedure should take 2 mandatory parameters.</a:t>
            </a:r>
          </a:p>
          <a:p>
            <a:pPr>
              <a:buFont typeface="+mj-lt"/>
              <a:buAutoNum type="arabicPeriod"/>
            </a:pPr>
            <a:r>
              <a:rPr lang="en-US" sz="1800" dirty="0" smtClean="0"/>
              <a:t>Object Sender</a:t>
            </a:r>
          </a:p>
          <a:p>
            <a:pPr>
              <a:buFont typeface="+mj-lt"/>
              <a:buAutoNum type="arabicPeriod"/>
            </a:pPr>
            <a:r>
              <a:rPr lang="en-US" sz="1800" dirty="0" err="1" smtClean="0"/>
              <a:t>EventArg</a:t>
            </a:r>
            <a:r>
              <a:rPr lang="en-US" sz="1800" dirty="0" smtClean="0"/>
              <a:t> e</a:t>
            </a:r>
          </a:p>
          <a:p>
            <a:endParaRPr lang="en-US" dirty="0" smtClean="0"/>
          </a:p>
          <a:p>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4038600" cy="5821363"/>
          </a:xfrm>
        </p:spPr>
        <p:txBody>
          <a:bodyPr>
            <a:normAutofit/>
          </a:bodyPr>
          <a:lstStyle/>
          <a:p>
            <a:pPr>
              <a:buNone/>
            </a:pPr>
            <a:r>
              <a:rPr lang="en-US" sz="1800" dirty="0" smtClean="0"/>
              <a:t>Using system;</a:t>
            </a:r>
          </a:p>
          <a:p>
            <a:pPr>
              <a:buNone/>
            </a:pPr>
            <a:r>
              <a:rPr lang="en-US" sz="1800" dirty="0" smtClean="0"/>
              <a:t>Using system. Drawing;</a:t>
            </a:r>
          </a:p>
          <a:p>
            <a:pPr>
              <a:buNone/>
            </a:pPr>
            <a:r>
              <a:rPr lang="en-US" sz="1800" dirty="0" smtClean="0"/>
              <a:t>Using system.window.forms;</a:t>
            </a:r>
          </a:p>
          <a:p>
            <a:pPr>
              <a:buNone/>
            </a:pPr>
            <a:r>
              <a:rPr lang="en-US" sz="1800" dirty="0" smtClean="0"/>
              <a:t>Public class Myform2:form</a:t>
            </a:r>
          </a:p>
          <a:p>
            <a:pPr>
              <a:buNone/>
            </a:pPr>
            <a:r>
              <a:rPr lang="en-US" sz="1800" dirty="0" smtClean="0"/>
              <a:t>{</a:t>
            </a:r>
          </a:p>
          <a:p>
            <a:pPr>
              <a:buNone/>
            </a:pPr>
            <a:r>
              <a:rPr lang="en-US" sz="1800" dirty="0" smtClean="0"/>
              <a:t>	public Myfrom2()</a:t>
            </a:r>
          </a:p>
          <a:p>
            <a:pPr>
              <a:buNone/>
            </a:pPr>
            <a:r>
              <a:rPr lang="en-US" sz="1800" dirty="0" smtClean="0"/>
              <a:t>	{</a:t>
            </a:r>
          </a:p>
          <a:p>
            <a:pPr>
              <a:buNone/>
            </a:pPr>
            <a:r>
              <a:rPr lang="en-US" sz="1800" dirty="0" smtClean="0"/>
              <a:t>		Initialize component();</a:t>
            </a:r>
            <a:br>
              <a:rPr lang="en-US" sz="1800" dirty="0" smtClean="0"/>
            </a:br>
            <a:r>
              <a:rPr lang="en-US" sz="1800" dirty="0" smtClean="0"/>
              <a:t>}</a:t>
            </a:r>
          </a:p>
          <a:p>
            <a:pPr>
              <a:buNone/>
            </a:pPr>
            <a:r>
              <a:rPr lang="en-US" sz="1800" dirty="0" smtClean="0"/>
              <a:t>Private void Initialize component()</a:t>
            </a:r>
          </a:p>
          <a:p>
            <a:pPr>
              <a:buNone/>
            </a:pPr>
            <a:r>
              <a:rPr lang="en-US" sz="1800" dirty="0" smtClean="0"/>
              <a:t>{</a:t>
            </a:r>
          </a:p>
          <a:p>
            <a:pPr>
              <a:buNone/>
            </a:pPr>
            <a:r>
              <a:rPr lang="en-US" sz="1800" dirty="0" smtClean="0"/>
              <a:t>	This. text=“My Form”;</a:t>
            </a:r>
          </a:p>
          <a:p>
            <a:pPr>
              <a:buNone/>
            </a:pPr>
            <a:r>
              <a:rPr lang="en-US" sz="1800" dirty="0" smtClean="0"/>
              <a:t>	this.backcolor=</a:t>
            </a:r>
            <a:r>
              <a:rPr lang="en-US" sz="1800" dirty="0" err="1" smtClean="0"/>
              <a:t>color.blue</a:t>
            </a:r>
            <a:r>
              <a:rPr lang="en-US" sz="1800" dirty="0" smtClean="0"/>
              <a:t>;</a:t>
            </a:r>
          </a:p>
          <a:p>
            <a:pPr>
              <a:buNone/>
            </a:pPr>
            <a:r>
              <a:rPr lang="en-US" sz="1800" dirty="0" smtClean="0"/>
              <a:t>	this .size=</a:t>
            </a:r>
            <a:r>
              <a:rPr lang="en-US" sz="1800" dirty="0" err="1" smtClean="0"/>
              <a:t>newsize</a:t>
            </a:r>
            <a:r>
              <a:rPr lang="en-US" sz="1800" dirty="0" smtClean="0"/>
              <a:t> (350,356);</a:t>
            </a:r>
          </a:p>
          <a:p>
            <a:pPr>
              <a:buNone/>
            </a:pPr>
            <a:r>
              <a:rPr lang="en-US" sz="1800" dirty="0" smtClean="0"/>
              <a:t>	</a:t>
            </a:r>
            <a:r>
              <a:rPr lang="en-US" sz="1800" dirty="0" err="1" smtClean="0"/>
              <a:t>this.load</a:t>
            </a:r>
            <a:r>
              <a:rPr lang="en-US" sz="1800" dirty="0" smtClean="0"/>
              <a:t>+=new EventHandler(test);</a:t>
            </a:r>
          </a:p>
          <a:p>
            <a:pPr>
              <a:buNone/>
            </a:pPr>
            <a:r>
              <a:rPr lang="en-US" sz="1800" dirty="0" smtClean="0"/>
              <a:t>	</a:t>
            </a:r>
            <a:r>
              <a:rPr lang="en-US" sz="1800" dirty="0" err="1" smtClean="0"/>
              <a:t>this.click</a:t>
            </a:r>
            <a:r>
              <a:rPr lang="en-US" sz="1800" dirty="0" smtClean="0"/>
              <a:t>+= new </a:t>
            </a:r>
            <a:r>
              <a:rPr lang="en-US" sz="1800" dirty="0" err="1" smtClean="0"/>
              <a:t>EventHandler</a:t>
            </a:r>
            <a:r>
              <a:rPr lang="en-US" sz="1800" dirty="0" smtClean="0"/>
              <a:t>(test);</a:t>
            </a:r>
          </a:p>
          <a:p>
            <a:pPr>
              <a:buNone/>
            </a:pPr>
            <a:r>
              <a:rPr lang="en-US" sz="1800" dirty="0" smtClean="0"/>
              <a:t>}</a:t>
            </a:r>
            <a:endParaRPr lang="en-US" sz="1800" dirty="0"/>
          </a:p>
        </p:txBody>
      </p:sp>
      <p:sp>
        <p:nvSpPr>
          <p:cNvPr id="4" name="Content Placeholder 2"/>
          <p:cNvSpPr txBox="1">
            <a:spLocks/>
          </p:cNvSpPr>
          <p:nvPr/>
        </p:nvSpPr>
        <p:spPr>
          <a:xfrm>
            <a:off x="4724400" y="457200"/>
            <a:ext cx="4038600" cy="58213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b="0" i="0" u="none" strike="noStrike" kern="1200" cap="none" spc="0" normalizeH="0" baseline="0" noProof="0" dirty="0" smtClean="0">
                <a:ln>
                  <a:noFill/>
                </a:ln>
                <a:solidFill>
                  <a:schemeClr val="tx1"/>
                </a:solidFill>
                <a:effectLst/>
                <a:uLnTx/>
                <a:uFillTx/>
                <a:latin typeface="+mn-lt"/>
                <a:ea typeface="+mn-ea"/>
                <a:cs typeface="+mn-cs"/>
              </a:rPr>
              <a:t>Private</a:t>
            </a:r>
            <a:r>
              <a:rPr kumimoji="0" lang="en-US" sz="1800" b="0" i="0" u="none" strike="noStrike" kern="1200" cap="none" spc="0" normalizeH="0" noProof="0" dirty="0" smtClean="0">
                <a:ln>
                  <a:noFill/>
                </a:ln>
                <a:solidFill>
                  <a:schemeClr val="tx1"/>
                </a:solidFill>
                <a:effectLst/>
                <a:uLnTx/>
                <a:uFillTx/>
                <a:latin typeface="+mn-lt"/>
                <a:ea typeface="+mn-ea"/>
                <a:cs typeface="+mn-cs"/>
              </a:rPr>
              <a:t> void test(Object sender, </a:t>
            </a:r>
            <a:r>
              <a:rPr kumimoji="0" lang="en-US" sz="1800" b="0" i="0" u="none" strike="noStrike" kern="1200" cap="none" spc="0" normalizeH="0" noProof="0" dirty="0" err="1" smtClean="0">
                <a:ln>
                  <a:noFill/>
                </a:ln>
                <a:solidFill>
                  <a:schemeClr val="tx1"/>
                </a:solidFill>
                <a:effectLst/>
                <a:uLnTx/>
                <a:uFillTx/>
                <a:latin typeface="+mn-lt"/>
                <a:ea typeface="+mn-ea"/>
                <a:cs typeface="+mn-cs"/>
              </a:rPr>
              <a:t>EventArg</a:t>
            </a:r>
            <a:r>
              <a:rPr kumimoji="0" lang="en-US" sz="1800" b="0" i="0" u="none" strike="noStrike" kern="1200" cap="none" spc="0" normalizeH="0" noProof="0" dirty="0" smtClean="0">
                <a:ln>
                  <a:noFill/>
                </a:ln>
                <a:solidFill>
                  <a:schemeClr val="tx1"/>
                </a:solidFill>
                <a:effectLst/>
                <a:uLnTx/>
                <a:uFillTx/>
                <a:latin typeface="+mn-lt"/>
                <a:ea typeface="+mn-ea"/>
                <a:cs typeface="+mn-cs"/>
              </a:rPr>
              <a:t> 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baseline="0" dirty="0" smtClean="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	</a:t>
            </a:r>
            <a:r>
              <a:rPr lang="en-US" dirty="0" err="1" smtClean="0"/>
              <a:t>messageBox.show</a:t>
            </a:r>
            <a:r>
              <a:rPr lang="en-US" dirty="0" smtClean="0"/>
              <a:t>(“Event raised”);</a:t>
            </a:r>
            <a:endParaRPr lang="en-US" baseline="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b="0" i="0" u="none" strike="noStrike" kern="1200" cap="none" spc="0" normalizeH="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baseline="0" dirty="0" smtClean="0"/>
              <a:t>Static void Main()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b="0" i="0" u="none" strike="noStrike" kern="1200" cap="none" spc="0" normalizeH="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dirty="0" smtClean="0"/>
              <a:t>	</a:t>
            </a:r>
            <a:r>
              <a:rPr lang="en-US" dirty="0" err="1" smtClean="0"/>
              <a:t>Application.run</a:t>
            </a:r>
            <a:r>
              <a:rPr lang="en-US" dirty="0" smtClean="0"/>
              <a:t>(new myform2());</a:t>
            </a:r>
            <a:endParaRPr kumimoji="0" lang="en-US" sz="18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baseline="0" dirty="0" smtClean="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b="0" i="0" u="none" strike="noStrike" kern="1200" cap="none" spc="0" normalizeH="0" noProof="0" dirty="0" smtClean="0">
                <a:ln>
                  <a:noFill/>
                </a:ln>
                <a:solidFill>
                  <a:schemeClr val="tx1"/>
                </a:solidFill>
                <a:effectLst/>
                <a:uLnTx/>
                <a:uFillTx/>
                <a:latin typeface="+mn-lt"/>
                <a:ea typeface="+mn-ea"/>
                <a:cs typeface="+mn-cs"/>
              </a:rPr>
              <a:t>}</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
          <p:cNvSpPr/>
          <p:nvPr/>
        </p:nvSpPr>
        <p:spPr>
          <a:xfrm>
            <a:off x="5029200" y="4114800"/>
            <a:ext cx="35052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t>In </a:t>
            </a:r>
            <a:r>
              <a:rPr lang="en-US" dirty="0" err="1" smtClean="0"/>
              <a:t>.net</a:t>
            </a:r>
            <a:r>
              <a:rPr lang="en-US" dirty="0" smtClean="0"/>
              <a:t> we can bound with multiple event with single control as well as  multiple controls also.</a:t>
            </a:r>
            <a:endParaRPr lang="en-US" dirty="0"/>
          </a:p>
        </p:txBody>
      </p:sp>
      <p:sp>
        <p:nvSpPr>
          <p:cNvPr id="6" name="Date Placeholder 5"/>
          <p:cNvSpPr>
            <a:spLocks noGrp="1"/>
          </p:cNvSpPr>
          <p:nvPr>
            <p:ph type="dt" sz="half" idx="10"/>
          </p:nvPr>
        </p:nvSpPr>
        <p:spPr/>
        <p:txBody>
          <a:bodyPr/>
          <a:lstStyle/>
          <a:p>
            <a:r>
              <a:rPr lang="en-US" smtClean="0"/>
              <a:t>8/5/2011</a:t>
            </a:r>
            <a:endParaRPr lang="en-US"/>
          </a:p>
        </p:txBody>
      </p:sp>
      <p:sp>
        <p:nvSpPr>
          <p:cNvPr id="7" name="Slide Number Placeholder 6"/>
          <p:cNvSpPr>
            <a:spLocks noGrp="1"/>
          </p:cNvSpPr>
          <p:nvPr>
            <p:ph type="sldNum" sz="quarter" idx="12"/>
          </p:nvPr>
        </p:nvSpPr>
        <p:spPr/>
        <p:txBody>
          <a:bodyPr/>
          <a:lstStyle/>
          <a:p>
            <a:fld id="{A1E633D0-5D12-4889-9E07-20E0B716E1C3}" type="slidenum">
              <a:rPr lang="en-US" smtClean="0"/>
              <a:pPr/>
              <a:t>17</a:t>
            </a:fld>
            <a:endParaRPr lang="en-US"/>
          </a:p>
        </p:txBody>
      </p:sp>
      <p:sp>
        <p:nvSpPr>
          <p:cNvPr id="8" name="Footer Placeholder 7"/>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Binding an event proc. With multiple controls</a:t>
            </a:r>
            <a:endParaRPr lang="en-US" dirty="0"/>
          </a:p>
        </p:txBody>
      </p:sp>
      <p:sp>
        <p:nvSpPr>
          <p:cNvPr id="3" name="Content Placeholder 2"/>
          <p:cNvSpPr>
            <a:spLocks noGrp="1"/>
          </p:cNvSpPr>
          <p:nvPr>
            <p:ph idx="1"/>
          </p:nvPr>
        </p:nvSpPr>
        <p:spPr>
          <a:xfrm>
            <a:off x="457200" y="1600200"/>
            <a:ext cx="5105400" cy="4525963"/>
          </a:xfrm>
        </p:spPr>
        <p:txBody>
          <a:bodyPr>
            <a:normAutofit fontScale="70000" lnSpcReduction="20000"/>
          </a:bodyPr>
          <a:lstStyle/>
          <a:p>
            <a:pPr>
              <a:buNone/>
            </a:pPr>
            <a:r>
              <a:rPr lang="en-US" dirty="0" smtClean="0"/>
              <a:t>If(</a:t>
            </a:r>
            <a:r>
              <a:rPr lang="en-US" dirty="0" err="1" smtClean="0"/>
              <a:t>sender.GetType</a:t>
            </a:r>
            <a:r>
              <a:rPr lang="en-US" dirty="0" smtClean="0"/>
              <a:t>().Name==button)</a:t>
            </a:r>
          </a:p>
          <a:p>
            <a:pPr>
              <a:buNone/>
            </a:pPr>
            <a:r>
              <a:rPr lang="en-US" dirty="0" smtClean="0"/>
              <a:t>{</a:t>
            </a:r>
          </a:p>
          <a:p>
            <a:pPr>
              <a:buNone/>
            </a:pPr>
            <a:r>
              <a:rPr lang="en-US" dirty="0" smtClean="0"/>
              <a:t>	button b=(button)Sender;</a:t>
            </a:r>
          </a:p>
          <a:p>
            <a:pPr>
              <a:buNone/>
            </a:pPr>
            <a:r>
              <a:rPr lang="en-US" dirty="0" smtClean="0"/>
              <a:t>	if(</a:t>
            </a:r>
            <a:r>
              <a:rPr lang="en-US" dirty="0" err="1" smtClean="0"/>
              <a:t>b.Name</a:t>
            </a:r>
            <a:r>
              <a:rPr lang="en-US" dirty="0" smtClean="0"/>
              <a:t>==“button1”)</a:t>
            </a:r>
          </a:p>
          <a:p>
            <a:pPr>
              <a:buNone/>
            </a:pPr>
            <a:r>
              <a:rPr lang="en-US" dirty="0" smtClean="0"/>
              <a:t>	</a:t>
            </a:r>
            <a:r>
              <a:rPr lang="en-US" dirty="0" err="1" smtClean="0"/>
              <a:t>MessageBox.Show</a:t>
            </a:r>
            <a:r>
              <a:rPr lang="en-US" dirty="0" smtClean="0"/>
              <a:t>(“Button1 is clicked”);</a:t>
            </a:r>
          </a:p>
          <a:p>
            <a:pPr>
              <a:buNone/>
            </a:pPr>
            <a:r>
              <a:rPr lang="en-US" dirty="0" smtClean="0"/>
              <a:t>Else if(</a:t>
            </a:r>
            <a:r>
              <a:rPr lang="en-US" dirty="0" err="1" smtClean="0"/>
              <a:t>b.Name</a:t>
            </a:r>
            <a:r>
              <a:rPr lang="en-US" dirty="0" smtClean="0"/>
              <a:t>==“button2”)</a:t>
            </a:r>
          </a:p>
          <a:p>
            <a:pPr>
              <a:buNone/>
            </a:pPr>
            <a:r>
              <a:rPr lang="en-US" dirty="0" smtClean="0"/>
              <a:t>	</a:t>
            </a:r>
            <a:r>
              <a:rPr lang="en-US" dirty="0" err="1" smtClean="0"/>
              <a:t>MessageBox.Show</a:t>
            </a:r>
            <a:r>
              <a:rPr lang="en-US" dirty="0" smtClean="0"/>
              <a:t>(“button2 is clicked”);</a:t>
            </a:r>
          </a:p>
          <a:p>
            <a:pPr>
              <a:buNone/>
            </a:pPr>
            <a:r>
              <a:rPr lang="en-US" dirty="0" smtClean="0"/>
              <a:t>Else if(</a:t>
            </a:r>
            <a:r>
              <a:rPr lang="en-US" dirty="0" err="1" smtClean="0"/>
              <a:t>b.Name</a:t>
            </a:r>
            <a:r>
              <a:rPr lang="en-US" dirty="0" smtClean="0"/>
              <a:t>==“button3”)</a:t>
            </a:r>
          </a:p>
          <a:p>
            <a:pPr>
              <a:buNone/>
            </a:pPr>
            <a:r>
              <a:rPr lang="en-US" dirty="0" smtClean="0"/>
              <a:t>	</a:t>
            </a:r>
            <a:r>
              <a:rPr lang="en-US" dirty="0" err="1" smtClean="0"/>
              <a:t>MessageBox.Show</a:t>
            </a:r>
            <a:r>
              <a:rPr lang="en-US" dirty="0" smtClean="0"/>
              <a:t>(“button3 is clicked”);</a:t>
            </a:r>
          </a:p>
          <a:p>
            <a:pPr>
              <a:buNone/>
            </a:pPr>
            <a:r>
              <a:rPr lang="en-US" dirty="0" smtClean="0"/>
              <a:t>Else </a:t>
            </a:r>
          </a:p>
          <a:p>
            <a:pPr>
              <a:buNone/>
            </a:pPr>
            <a:r>
              <a:rPr lang="en-US" dirty="0" smtClean="0"/>
              <a:t>	</a:t>
            </a:r>
            <a:r>
              <a:rPr lang="en-US" dirty="0" err="1" smtClean="0"/>
              <a:t>MessageBox.Show</a:t>
            </a:r>
            <a:r>
              <a:rPr lang="en-US" dirty="0" smtClean="0"/>
              <a:t>(“failed”);</a:t>
            </a:r>
          </a:p>
          <a:p>
            <a:pPr>
              <a:buNone/>
            </a:pPr>
            <a:r>
              <a:rPr lang="en-US" dirty="0" smtClean="0"/>
              <a:t>}</a:t>
            </a:r>
            <a:endParaRPr lang="en-US" dirty="0"/>
          </a:p>
        </p:txBody>
      </p:sp>
      <p:sp>
        <p:nvSpPr>
          <p:cNvPr id="4" name="Content Placeholder 2"/>
          <p:cNvSpPr txBox="1">
            <a:spLocks/>
          </p:cNvSpPr>
          <p:nvPr/>
        </p:nvSpPr>
        <p:spPr>
          <a:xfrm>
            <a:off x="5486400" y="1295400"/>
            <a:ext cx="3276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
          <p:cNvSpPr/>
          <p:nvPr/>
        </p:nvSpPr>
        <p:spPr>
          <a:xfrm>
            <a:off x="5867400" y="1676400"/>
            <a:ext cx="2514600" cy="3352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248400" y="2133600"/>
            <a:ext cx="11430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button1</a:t>
            </a:r>
            <a:endParaRPr lang="en-US" dirty="0">
              <a:solidFill>
                <a:schemeClr val="tx1"/>
              </a:solidFill>
            </a:endParaRPr>
          </a:p>
        </p:txBody>
      </p:sp>
      <p:sp>
        <p:nvSpPr>
          <p:cNvPr id="7" name="Rectangle 6"/>
          <p:cNvSpPr/>
          <p:nvPr/>
        </p:nvSpPr>
        <p:spPr>
          <a:xfrm>
            <a:off x="6248400" y="2895600"/>
            <a:ext cx="11430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button2</a:t>
            </a:r>
            <a:endParaRPr lang="en-US" dirty="0">
              <a:solidFill>
                <a:schemeClr val="tx1"/>
              </a:solidFill>
            </a:endParaRPr>
          </a:p>
        </p:txBody>
      </p:sp>
      <p:sp>
        <p:nvSpPr>
          <p:cNvPr id="8" name="Rectangle 7"/>
          <p:cNvSpPr/>
          <p:nvPr/>
        </p:nvSpPr>
        <p:spPr>
          <a:xfrm>
            <a:off x="6248400" y="3581400"/>
            <a:ext cx="11430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button3</a:t>
            </a:r>
            <a:endParaRPr lang="en-US" dirty="0">
              <a:solidFill>
                <a:schemeClr val="tx1"/>
              </a:solidFill>
            </a:endParaRPr>
          </a:p>
        </p:txBody>
      </p:sp>
      <p:sp>
        <p:nvSpPr>
          <p:cNvPr id="9" name="Rectangle 8"/>
          <p:cNvSpPr/>
          <p:nvPr/>
        </p:nvSpPr>
        <p:spPr>
          <a:xfrm>
            <a:off x="5867400" y="1371600"/>
            <a:ext cx="12954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form</a:t>
            </a:r>
            <a:endParaRPr lang="en-US" dirty="0">
              <a:solidFill>
                <a:schemeClr val="tx1"/>
              </a:solidFill>
            </a:endParaRPr>
          </a:p>
        </p:txBody>
      </p:sp>
      <p:sp>
        <p:nvSpPr>
          <p:cNvPr id="10" name="Date Placeholder 9"/>
          <p:cNvSpPr>
            <a:spLocks noGrp="1"/>
          </p:cNvSpPr>
          <p:nvPr>
            <p:ph type="dt" sz="half" idx="10"/>
          </p:nvPr>
        </p:nvSpPr>
        <p:spPr/>
        <p:txBody>
          <a:bodyPr/>
          <a:lstStyle/>
          <a:p>
            <a:r>
              <a:rPr lang="en-US" smtClean="0"/>
              <a:t>8/5/2011</a:t>
            </a:r>
            <a:endParaRPr lang="en-US"/>
          </a:p>
        </p:txBody>
      </p:sp>
      <p:sp>
        <p:nvSpPr>
          <p:cNvPr id="11" name="Slide Number Placeholder 10"/>
          <p:cNvSpPr>
            <a:spLocks noGrp="1"/>
          </p:cNvSpPr>
          <p:nvPr>
            <p:ph type="sldNum" sz="quarter" idx="12"/>
          </p:nvPr>
        </p:nvSpPr>
        <p:spPr/>
        <p:txBody>
          <a:bodyPr/>
          <a:lstStyle/>
          <a:p>
            <a:fld id="{A1E633D0-5D12-4889-9E07-20E0B716E1C3}" type="slidenum">
              <a:rPr lang="en-US" smtClean="0"/>
              <a:pPr/>
              <a:t>18</a:t>
            </a:fld>
            <a:endParaRPr lang="en-US"/>
          </a:p>
        </p:txBody>
      </p:sp>
      <p:sp>
        <p:nvSpPr>
          <p:cNvPr id="12" name="Footer Placeholder 11"/>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smtClean="0"/>
              <a:t>When a event proc. Is bound with multiple control we can recognized the control that has  raised the event using sender parameters of  event procedure. As a “</a:t>
            </a:r>
            <a:r>
              <a:rPr lang="en-US" b="1" dirty="0" smtClean="0"/>
              <a:t>sender</a:t>
            </a:r>
            <a:r>
              <a:rPr lang="en-US" dirty="0" smtClean="0"/>
              <a:t>” is a type of object it can hold the instance of any control that will be sent to event proc. In runtime as follow</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19</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endParaRPr lang="en-US" dirty="0"/>
          </a:p>
        </p:txBody>
      </p:sp>
      <p:sp>
        <p:nvSpPr>
          <p:cNvPr id="4" name="Rectangle 3"/>
          <p:cNvSpPr/>
          <p:nvPr/>
        </p:nvSpPr>
        <p:spPr>
          <a:xfrm>
            <a:off x="762000" y="19050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button1</a:t>
            </a:r>
            <a:endParaRPr lang="en-US" dirty="0"/>
          </a:p>
        </p:txBody>
      </p:sp>
      <p:sp>
        <p:nvSpPr>
          <p:cNvPr id="5" name="Rectangle 4"/>
          <p:cNvSpPr/>
          <p:nvPr/>
        </p:nvSpPr>
        <p:spPr>
          <a:xfrm>
            <a:off x="762000" y="27432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button1</a:t>
            </a:r>
            <a:endParaRPr lang="en-US" dirty="0"/>
          </a:p>
        </p:txBody>
      </p:sp>
      <p:sp>
        <p:nvSpPr>
          <p:cNvPr id="6" name="Rectangle 5"/>
          <p:cNvSpPr/>
          <p:nvPr/>
        </p:nvSpPr>
        <p:spPr>
          <a:xfrm>
            <a:off x="838200" y="35814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button1</a:t>
            </a:r>
            <a:endParaRPr lang="en-US" dirty="0"/>
          </a:p>
        </p:txBody>
      </p:sp>
      <p:sp>
        <p:nvSpPr>
          <p:cNvPr id="8" name="Rectangle 7"/>
          <p:cNvSpPr/>
          <p:nvPr/>
        </p:nvSpPr>
        <p:spPr>
          <a:xfrm>
            <a:off x="838200" y="4495800"/>
            <a:ext cx="1447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form</a:t>
            </a:r>
            <a:endParaRPr lang="en-US" dirty="0"/>
          </a:p>
        </p:txBody>
      </p:sp>
      <p:sp>
        <p:nvSpPr>
          <p:cNvPr id="9" name="Rectangle 8"/>
          <p:cNvSpPr/>
          <p:nvPr/>
        </p:nvSpPr>
        <p:spPr>
          <a:xfrm>
            <a:off x="3276600" y="2819400"/>
            <a:ext cx="28956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505200" y="3276600"/>
            <a:ext cx="1371600" cy="457200"/>
          </a:xfrm>
          <a:prstGeom prst="rect">
            <a:avLst/>
          </a:prstGeom>
          <a:solidFill>
            <a:schemeClr val="bg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sender</a:t>
            </a:r>
            <a:endParaRPr lang="en-US" dirty="0">
              <a:solidFill>
                <a:schemeClr val="tx1"/>
              </a:solidFill>
            </a:endParaRPr>
          </a:p>
        </p:txBody>
      </p:sp>
      <p:sp>
        <p:nvSpPr>
          <p:cNvPr id="11" name="Rectangle 10"/>
          <p:cNvSpPr/>
          <p:nvPr/>
        </p:nvSpPr>
        <p:spPr>
          <a:xfrm>
            <a:off x="5181600" y="3276600"/>
            <a:ext cx="609600" cy="457200"/>
          </a:xfrm>
          <a:prstGeom prst="rect">
            <a:avLst/>
          </a:prstGeom>
          <a:solidFill>
            <a:schemeClr val="bg1"/>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a:t>
            </a:r>
            <a:endParaRPr lang="en-US" dirty="0">
              <a:solidFill>
                <a:schemeClr val="tx1"/>
              </a:solidFill>
            </a:endParaRPr>
          </a:p>
        </p:txBody>
      </p:sp>
      <p:cxnSp>
        <p:nvCxnSpPr>
          <p:cNvPr id="13" name="Straight Arrow Connector 12"/>
          <p:cNvCxnSpPr>
            <a:stCxn id="4" idx="3"/>
          </p:cNvCxnSpPr>
          <p:nvPr/>
        </p:nvCxnSpPr>
        <p:spPr>
          <a:xfrm>
            <a:off x="2209800" y="2171700"/>
            <a:ext cx="1371600" cy="11811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5" idx="3"/>
            <a:endCxn id="10" idx="1"/>
          </p:cNvCxnSpPr>
          <p:nvPr/>
        </p:nvCxnSpPr>
        <p:spPr>
          <a:xfrm>
            <a:off x="2209800" y="3009900"/>
            <a:ext cx="1295400" cy="4953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6" idx="3"/>
            <a:endCxn id="10" idx="1"/>
          </p:cNvCxnSpPr>
          <p:nvPr/>
        </p:nvCxnSpPr>
        <p:spPr>
          <a:xfrm flipV="1">
            <a:off x="2286000" y="3505200"/>
            <a:ext cx="1219200" cy="3429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3"/>
          </p:cNvCxnSpPr>
          <p:nvPr/>
        </p:nvCxnSpPr>
        <p:spPr>
          <a:xfrm flipV="1">
            <a:off x="2286000" y="3657600"/>
            <a:ext cx="1371600" cy="11049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6781800" y="1905000"/>
            <a:ext cx="1600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object</a:t>
            </a:r>
            <a:endParaRPr lang="en-US" dirty="0"/>
          </a:p>
        </p:txBody>
      </p:sp>
      <p:sp>
        <p:nvSpPr>
          <p:cNvPr id="22" name="Rectangle 21"/>
          <p:cNvSpPr/>
          <p:nvPr/>
        </p:nvSpPr>
        <p:spPr>
          <a:xfrm>
            <a:off x="6858000" y="3200400"/>
            <a:ext cx="1600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button</a:t>
            </a:r>
            <a:endParaRPr lang="en-US" dirty="0"/>
          </a:p>
        </p:txBody>
      </p:sp>
      <p:cxnSp>
        <p:nvCxnSpPr>
          <p:cNvPr id="24" name="Straight Arrow Connector 23"/>
          <p:cNvCxnSpPr>
            <a:stCxn id="20" idx="2"/>
            <a:endCxn id="22" idx="0"/>
          </p:cNvCxnSpPr>
          <p:nvPr/>
        </p:nvCxnSpPr>
        <p:spPr>
          <a:xfrm rot="16200000" flipH="1">
            <a:off x="7315200" y="2857500"/>
            <a:ext cx="609600" cy="76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10"/>
          </p:nvPr>
        </p:nvSpPr>
        <p:spPr/>
        <p:txBody>
          <a:bodyPr/>
          <a:lstStyle/>
          <a:p>
            <a:r>
              <a:rPr lang="en-US" smtClean="0"/>
              <a:t>8/5/2011</a:t>
            </a:r>
            <a:endParaRPr lang="en-US"/>
          </a:p>
        </p:txBody>
      </p:sp>
      <p:sp>
        <p:nvSpPr>
          <p:cNvPr id="21" name="Slide Number Placeholder 20"/>
          <p:cNvSpPr>
            <a:spLocks noGrp="1"/>
          </p:cNvSpPr>
          <p:nvPr>
            <p:ph type="sldNum" sz="quarter" idx="12"/>
          </p:nvPr>
        </p:nvSpPr>
        <p:spPr/>
        <p:txBody>
          <a:bodyPr/>
          <a:lstStyle/>
          <a:p>
            <a:fld id="{A1E633D0-5D12-4889-9E07-20E0B716E1C3}" type="slidenum">
              <a:rPr lang="en-US" smtClean="0"/>
              <a:pPr/>
              <a:t>20</a:t>
            </a:fld>
            <a:endParaRPr lang="en-US"/>
          </a:p>
        </p:txBody>
      </p:sp>
      <p:sp>
        <p:nvSpPr>
          <p:cNvPr id="23" name="Footer Placeholder 22"/>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our example we have bound the event proc. With different type of control (button, form) first we Get type() to recognized which type of control (button, from) raised the event.</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21</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After recognized the type of control it was ,if there are multiple control of same type then we need to convert sender into the appropriate control type and identify the name of control because, sender can't refer to member of its child class.</a:t>
            </a:r>
          </a:p>
          <a:p>
            <a:r>
              <a:rPr lang="en-US" sz="1800" dirty="0" smtClean="0"/>
              <a:t>Converting sender into the appropriate control type can be done in 2 way</a:t>
            </a:r>
          </a:p>
          <a:p>
            <a:r>
              <a:rPr lang="en-US" sz="1800" dirty="0" smtClean="0"/>
              <a:t>Button b=(button)sender; or</a:t>
            </a:r>
          </a:p>
          <a:p>
            <a:r>
              <a:rPr lang="en-US" sz="1800" dirty="0" smtClean="0"/>
              <a:t>Button b=sender as button;</a:t>
            </a:r>
            <a:endParaRPr lang="en-US" sz="1800"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22</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Not all event but few events have properties under them </a:t>
            </a:r>
            <a:r>
              <a:rPr lang="en-US" dirty="0" err="1" smtClean="0"/>
              <a:t>eg</a:t>
            </a:r>
            <a:r>
              <a:rPr lang="en-US" dirty="0" smtClean="0"/>
              <a:t>:- validating ,</a:t>
            </a:r>
            <a:r>
              <a:rPr lang="en-US" dirty="0" err="1" smtClean="0"/>
              <a:t>Keypress</a:t>
            </a:r>
            <a:r>
              <a:rPr lang="en-US" dirty="0" smtClean="0"/>
              <a:t> etc. if we want to consume the properties of an event under its </a:t>
            </a:r>
            <a:r>
              <a:rPr lang="en-US" smtClean="0"/>
              <a:t>events proc. </a:t>
            </a:r>
            <a:r>
              <a:rPr lang="en-US" dirty="0" smtClean="0"/>
              <a:t>we can make use of the parameters “</a:t>
            </a:r>
            <a:r>
              <a:rPr lang="en-US" b="1" dirty="0" smtClean="0"/>
              <a:t>e</a:t>
            </a:r>
            <a:r>
              <a:rPr lang="en-US" dirty="0" smtClean="0"/>
              <a:t>” which refers to properties of current executing event.</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23</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a:t>
            </a:r>
            <a:endParaRPr lang="en-US" dirty="0"/>
          </a:p>
        </p:txBody>
      </p:sp>
      <p:sp>
        <p:nvSpPr>
          <p:cNvPr id="3" name="Content Placeholder 2"/>
          <p:cNvSpPr>
            <a:spLocks noGrp="1"/>
          </p:cNvSpPr>
          <p:nvPr>
            <p:ph idx="1"/>
          </p:nvPr>
        </p:nvSpPr>
        <p:spPr/>
        <p:txBody>
          <a:bodyPr>
            <a:normAutofit lnSpcReduction="10000"/>
          </a:bodyPr>
          <a:lstStyle/>
          <a:p>
            <a:r>
              <a:rPr lang="en-US" dirty="0" smtClean="0"/>
              <a:t>What is exception?</a:t>
            </a:r>
          </a:p>
          <a:p>
            <a:r>
              <a:rPr lang="en-US" dirty="0" smtClean="0"/>
              <a:t>Who are exception implement?</a:t>
            </a:r>
          </a:p>
          <a:p>
            <a:r>
              <a:rPr lang="en-US" dirty="0" smtClean="0"/>
              <a:t>How to handle exception?</a:t>
            </a:r>
          </a:p>
          <a:p>
            <a:r>
              <a:rPr lang="en-US" dirty="0" smtClean="0"/>
              <a:t>What are the combination of try, catch and finally ?</a:t>
            </a:r>
          </a:p>
          <a:p>
            <a:r>
              <a:rPr lang="en-US" dirty="0" smtClean="0"/>
              <a:t>Type </a:t>
            </a:r>
            <a:r>
              <a:rPr lang="en-US" smtClean="0"/>
              <a:t>of exception?</a:t>
            </a:r>
            <a:endParaRPr lang="en-US" dirty="0" smtClean="0"/>
          </a:p>
          <a:p>
            <a:r>
              <a:rPr lang="en-US" dirty="0" smtClean="0"/>
              <a:t>How to raise an exception?</a:t>
            </a:r>
          </a:p>
          <a:p>
            <a:r>
              <a:rPr lang="en-US" dirty="0" smtClean="0"/>
              <a:t>Who to create an exception class?</a:t>
            </a:r>
            <a:endParaRPr lang="en-US" dirty="0"/>
          </a:p>
        </p:txBody>
      </p:sp>
      <p:sp>
        <p:nvSpPr>
          <p:cNvPr id="4" name="Date Placeholder 3"/>
          <p:cNvSpPr>
            <a:spLocks noGrp="1"/>
          </p:cNvSpPr>
          <p:nvPr>
            <p:ph type="dt" sz="half" idx="10"/>
          </p:nvPr>
        </p:nvSpPr>
        <p:spPr/>
        <p:txBody>
          <a:bodyPr/>
          <a:lstStyle/>
          <a:p>
            <a:r>
              <a:rPr lang="en-US" smtClean="0"/>
              <a:t>8/5/2011</a:t>
            </a:r>
            <a:endParaRPr lang="en-US"/>
          </a:p>
        </p:txBody>
      </p:sp>
      <p:sp>
        <p:nvSpPr>
          <p:cNvPr id="5" name="Slide Number Placeholder 4"/>
          <p:cNvSpPr>
            <a:spLocks noGrp="1"/>
          </p:cNvSpPr>
          <p:nvPr>
            <p:ph type="sldNum" sz="quarter" idx="12"/>
          </p:nvPr>
        </p:nvSpPr>
        <p:spPr/>
        <p:txBody>
          <a:bodyPr/>
          <a:lstStyle/>
          <a:p>
            <a:fld id="{A1E633D0-5D12-4889-9E07-20E0B716E1C3}" type="slidenum">
              <a:rPr lang="en-US" smtClean="0"/>
              <a:pPr/>
              <a:t>24</a:t>
            </a:fld>
            <a:endParaRPr lang="en-US"/>
          </a:p>
        </p:txBody>
      </p:sp>
      <p:sp>
        <p:nvSpPr>
          <p:cNvPr id="6" name="Footer Placeholder 5"/>
          <p:cNvSpPr>
            <a:spLocks noGrp="1"/>
          </p:cNvSpPr>
          <p:nvPr>
            <p:ph type="ftr" sz="quarter" idx="11"/>
          </p:nvPr>
        </p:nvSpPr>
        <p:spPr/>
        <p:txBody>
          <a:bodyPr/>
          <a:lstStyle/>
          <a:p>
            <a:r>
              <a:rPr lang="en-US" smtClean="0"/>
              <a:t>krishna</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345</TotalTime>
  <Words>1196</Words>
  <Application>Microsoft Office PowerPoint</Application>
  <PresentationFormat>On-screen Show (4:3)</PresentationFormat>
  <Paragraphs>259</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Delegates</vt:lpstr>
      <vt:lpstr>Delegates</vt:lpstr>
      <vt:lpstr>What is delegate?</vt:lpstr>
      <vt:lpstr>Why we are using delegate? </vt:lpstr>
      <vt:lpstr>Delegate (Cont..)</vt:lpstr>
      <vt:lpstr>Who to create delegate?</vt:lpstr>
      <vt:lpstr>Who to create delegate?(cont..)</vt:lpstr>
      <vt:lpstr>Who to create delegate?(cont..)</vt:lpstr>
      <vt:lpstr>Slide 9</vt:lpstr>
      <vt:lpstr>Types of delegates? </vt:lpstr>
      <vt:lpstr>Slide 11</vt:lpstr>
      <vt:lpstr>Event</vt:lpstr>
      <vt:lpstr>What is method .Under which we write the code corresponding to an event? </vt:lpstr>
      <vt:lpstr>Event (Cont..)</vt:lpstr>
      <vt:lpstr>who does the even ,delegate  &amp; event procedure gets linked with each others?</vt:lpstr>
      <vt:lpstr>Can we define an Event procedure manually?(yes)</vt:lpstr>
      <vt:lpstr>Slide 17</vt:lpstr>
      <vt:lpstr>Binding an event proc. With multiple controls</vt:lpstr>
      <vt:lpstr>Cont..</vt:lpstr>
      <vt:lpstr>Slide 20</vt:lpstr>
      <vt:lpstr>Slide 21</vt:lpstr>
      <vt:lpstr>Slide 22</vt:lpstr>
      <vt:lpstr>Slide 23</vt:lpstr>
      <vt:lpstr>Exception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dc:title>
  <dc:creator>dell</dc:creator>
  <cp:lastModifiedBy>dell</cp:lastModifiedBy>
  <cp:revision>41</cp:revision>
  <dcterms:created xsi:type="dcterms:W3CDTF">2011-07-11T18:54:17Z</dcterms:created>
  <dcterms:modified xsi:type="dcterms:W3CDTF">2011-08-05T17:23:15Z</dcterms:modified>
</cp:coreProperties>
</file>